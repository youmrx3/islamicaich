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4" r:id="rId14"/>
    <p:sldId id="271" r:id="rId21"/>
    <p:sldId id="266" r:id="rId16"/>
    <p:sldId id="272" r:id="rId22"/>
    <p:sldId id="268" r:id="rId18"/>
    <p:sldId id="279" r:id="rId29"/>
    <p:sldId id="282" r:id="rId32"/>
    <p:sldId id="276" r:id="rId26"/>
    <p:sldId id="281" r:id="rId31"/>
    <p:sldId id="270" r:id="rId20"/>
    <p:sldId id="283" r:id="rId33"/>
    <p:sldId id="275" r:id="rId25"/>
    <p:sldId id="273" r:id="rId23"/>
    <p:sldId id="287" r:id="rId50"/>
    <p:sldId id="274" r:id="rId24"/>
    <p:sldId id="288" r:id="rId51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6" Type="http://schemas.openxmlformats.org/officeDocument/2006/relationships/slide" Target="slides/slide4.xml"/><Relationship Id="rId18" Type="http://schemas.openxmlformats.org/officeDocument/2006/relationships/slide" Target="slides/slide6.xml"/><Relationship Id="rId20" Type="http://schemas.openxmlformats.org/officeDocument/2006/relationships/slide" Target="slides/slide11.xml"/><Relationship Id="rId21" Type="http://schemas.openxmlformats.org/officeDocument/2006/relationships/slide" Target="slides/slide3.xml"/><Relationship Id="rId22" Type="http://schemas.openxmlformats.org/officeDocument/2006/relationships/slide" Target="slides/slide5.xml"/><Relationship Id="rId23" Type="http://schemas.openxmlformats.org/officeDocument/2006/relationships/slide" Target="slides/slide14.xml"/><Relationship Id="rId24" Type="http://schemas.openxmlformats.org/officeDocument/2006/relationships/slide" Target="slides/slide16.xml"/><Relationship Id="rId25" Type="http://schemas.openxmlformats.org/officeDocument/2006/relationships/slide" Target="slides/slide13.xml"/><Relationship Id="rId26" Type="http://schemas.openxmlformats.org/officeDocument/2006/relationships/slide" Target="slides/slide9.xml"/><Relationship Id="rId29" Type="http://schemas.openxmlformats.org/officeDocument/2006/relationships/slide" Target="slides/slide7.xml"/><Relationship Id="rId31" Type="http://schemas.openxmlformats.org/officeDocument/2006/relationships/slide" Target="slides/slide10.xml"/><Relationship Id="rId32" Type="http://schemas.openxmlformats.org/officeDocument/2006/relationships/slide" Target="slides/slide8.xml"/><Relationship Id="rId33" Type="http://schemas.openxmlformats.org/officeDocument/2006/relationships/slide" Target="slides/slide12.xml"/><Relationship Id="rId36" Type="http://schemas.openxmlformats.org/officeDocument/2006/relationships/slide" Target="slides/slide18.xml"/><Relationship Id="rId37" Type="http://schemas.openxmlformats.org/officeDocument/2006/relationships/font" Target="fonts/Urbanist-regular.fntdata"/><Relationship Id="rId38" Type="http://schemas.openxmlformats.org/officeDocument/2006/relationships/font" Target="fonts/Urbanist-bold.fntdata"/><Relationship Id="rId39" Type="http://schemas.openxmlformats.org/officeDocument/2006/relationships/font" Target="fonts/Urbanist-italic.fntdata"/><Relationship Id="rId40" Type="http://schemas.openxmlformats.org/officeDocument/2006/relationships/font" Target="fonts/Urbanist-boldItalic.fntdata"/><Relationship Id="rId41" Type="http://schemas.openxmlformats.org/officeDocument/2006/relationships/font" Target="fonts/ReadexProMedium-regular.fntdata"/><Relationship Id="rId42" Type="http://schemas.openxmlformats.org/officeDocument/2006/relationships/font" Target="fonts/ReadexProMedium-bold.fntdata"/><Relationship Id="rId43" Type="http://schemas.openxmlformats.org/officeDocument/2006/relationships/font" Target="fonts/ReadexProSemiBold-regular.fntdata"/><Relationship Id="rId44" Type="http://schemas.openxmlformats.org/officeDocument/2006/relationships/font" Target="fonts/ReadexProSemiBold-bold.fntdata"/><Relationship Id="rId45" Type="http://schemas.openxmlformats.org/officeDocument/2006/relationships/font" Target="fonts/ReadexPro-regular.fntdata"/><Relationship Id="rId46" Type="http://schemas.openxmlformats.org/officeDocument/2006/relationships/font" Target="fonts/ReadexPro-bold.fntdata"/><Relationship Id="rId47" Type="http://schemas.openxmlformats.org/officeDocument/2006/relationships/font" Target="fonts/ReadexProLight-regular.fntdata"/><Relationship Id="rId48" Type="http://schemas.openxmlformats.org/officeDocument/2006/relationships/font" Target="fonts/ReadexProLight-bold.fntdata"/><Relationship Id="rId49" Type="http://customschemas.google.com/relationships/presentationmetadata" Target="metadata"/><Relationship Id="rId50" Type="http://schemas.openxmlformats.org/officeDocument/2006/relationships/slide" Target="slides/slide15.xml"/><Relationship Id="rId51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ثَبَت: أداة تحقق من الأحاديث والآيات في الرسائل المتداولة قبل نشرها. المسار الرابع: أدوات المعرفة والتحقق.</a:t>
            </a:r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5" name="Google Shape;49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ستة أقسام: المشكلة، الحل، آلية العمل، الموثوقية، النتائج، الاستمرار.</a:t>
            </a:r>
          </a:p>
        </p:txBody>
      </p:sp>
      <p:sp>
        <p:nvSpPr>
          <p:cNvPr id="496" name="Google Shape;49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أربعة أوجه للمشكلة. الأمثلة كلها حقيقية ومتداولة، وموثقة في سجل العبارات المشتهرة داخل المستودع.</a:t>
            </a:r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الرسالة التي نريد أن يتذكرها الحضور.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7" name="Google Shape;567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هذه الصفحة الرئيسية للموقع. انتقل بعدها إلى العرض الحي: /app?ex=0</a:t>
            </a:r>
          </a:p>
        </p:txBody>
      </p:sp>
      <p:sp>
        <p:nvSpPr>
          <p:cNvPr id="568" name="Google Shape;568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الأرقام مقيسة محليًا، وتقديرات التكلفة مفصلة في docs/OPERATIONS.md.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كن دقيقًا: هذه نتائج مجموعة كتبها الفريق، والمعيار الحاسم مجموعة محجوبة يكتبها مختص الحديث في أيام التحدي.</a:t>
            </a:r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3" name="Google Shape;623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ابدأ بسؤال الحضور: من وصلته هذا الأسبوع رسالة فيها حديث مع «انشرها أمانة في رقبتك»؟</a:t>
            </a:r>
          </a:p>
        </p:txBody>
      </p:sp>
      <p:sp>
        <p:nvSpPr>
          <p:cNvPr id="624" name="Google Shape;624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لا نلغي دور المختص؛ نوفر وقته للحالات المشكلة فعلًا عبر الإحالة.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ما يُنجز في ٤–٦ أكتوبر هو ما يُحكم عليه؛ ونسخة البداية موثقة في docs/BASELINE.md.</a:t>
            </a:r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مشاركة فردية: Youcef Kouadria، طالب دكتوراه في الذكاء الاصطناعي ومعالجة اللغات الطبيعية، ومصمم جرافيك أول.</a:t>
            </a:r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أربع إضافات عملية، وكل واحدة لها اختبار في تقرير التقييم.</a:t>
            </a:r>
          </a:p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الالتزام بالمعيار العلمي الملزم: الإسناد، ومقاومة الهلوسة بالامتناع، وعدم الاستقلال بالفتوى، والشفافية، والخصوصية.</a:t>
            </a:r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المصادر هي التي تحكم. لا يكتب النموذج اللغوي أي دليل؛ دوره الاختياري استخراج الاقتباسات فقط.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ثلاث حالات من اختبارات الحزمة العلمية نفسها: آية محرّفة في سؤال، وطلب فتوى شخصية، وطلب دليل.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لماذا ليس روبوت محادثة؟ لأن التوليد يفتح باب اختراع المرجع. كل ما يراه المستخدم عن المصدر نص من المصدر أو صياغة ثابتة قابلة للمراجعة. التشغيل حتمي: النتيجة نفسها في كل مرة.</a:t>
            </a:r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القيمة المضافة المقيسة: الرسائل الحقيقية مكتوبة بأخطاء، والبحث الحرفي يفشل تمامًا معها.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شكرًا. الرابط المباشر للتجربة في شريحة الحل وفي المستودع.</a:t>
            </a:r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ثَبَت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تحقّق قبل أن تنشر: أداة تكشف مصدر الأحاديث والآيات المتداولة وحكم المحققين عليها، وتمتنع بصراحة حين لا تجد مصدرًا.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Youcef Kouadria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أكتوبر ٢٠٢٦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Google Shape;49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ثَبَت</a:t>
            </a:r>
            <a:endParaRPr/>
          </a:p>
        </p:txBody>
      </p:sp>
      <p:sp>
        <p:nvSpPr>
          <p:cNvPr id="501" name="Google Shape;501;p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محتويات العرض</a:t>
            </a:r>
            <a:endParaRPr/>
          </a:p>
        </p:txBody>
      </p:sp>
      <p:sp>
        <p:nvSpPr>
          <p:cNvPr id="502" name="Google Shape;502;p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03" name="Google Shape;503;p9"/>
          <p:cNvSpPr txBox="1"/>
          <p:nvPr>
            <p:ph idx="2" type="body"/>
          </p:nvPr>
        </p:nvSpPr>
        <p:spPr>
          <a:xfrm>
            <a:off x="12077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504" name="Google Shape;504;p9"/>
          <p:cNvSpPr txBox="1"/>
          <p:nvPr>
            <p:ph idx="3" type="body"/>
          </p:nvPr>
        </p:nvSpPr>
        <p:spPr>
          <a:xfrm>
            <a:off x="12077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05" name="Google Shape;505;p9"/>
          <p:cNvSpPr txBox="1"/>
          <p:nvPr>
            <p:ph idx="4" type="body"/>
          </p:nvPr>
        </p:nvSpPr>
        <p:spPr>
          <a:xfrm>
            <a:off x="12077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رسائل تنسب ما لا يثبت</a:t>
            </a:r>
            <a:endParaRPr/>
          </a:p>
        </p:txBody>
      </p:sp>
      <p:sp>
        <p:nvSpPr>
          <p:cNvPr id="506" name="Google Shape;506;p9"/>
          <p:cNvSpPr txBox="1"/>
          <p:nvPr>
            <p:ph idx="5" type="body"/>
          </p:nvPr>
        </p:nvSpPr>
        <p:spPr>
          <a:xfrm>
            <a:off x="6743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507" name="Google Shape;507;p9"/>
          <p:cNvSpPr txBox="1"/>
          <p:nvPr>
            <p:ph idx="6" type="body"/>
          </p:nvPr>
        </p:nvSpPr>
        <p:spPr>
          <a:xfrm>
            <a:off x="6743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508" name="Google Shape;508;p9"/>
          <p:cNvSpPr txBox="1"/>
          <p:nvPr>
            <p:ph idx="7" type="body"/>
          </p:nvPr>
        </p:nvSpPr>
        <p:spPr>
          <a:xfrm>
            <a:off x="6743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تحقق فوري موثّق بالمصدر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09" name="Google Shape;509;p9"/>
          <p:cNvSpPr txBox="1"/>
          <p:nvPr>
            <p:ph idx="8" type="body"/>
          </p:nvPr>
        </p:nvSpPr>
        <p:spPr>
          <a:xfrm>
            <a:off x="1409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510" name="Google Shape;510;p9"/>
          <p:cNvSpPr txBox="1"/>
          <p:nvPr>
            <p:ph idx="9" type="body"/>
          </p:nvPr>
        </p:nvSpPr>
        <p:spPr>
          <a:xfrm>
            <a:off x="1409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/>
          </a:p>
        </p:txBody>
      </p:sp>
      <p:sp>
        <p:nvSpPr>
          <p:cNvPr id="511" name="Google Shape;511;p9"/>
          <p:cNvSpPr txBox="1"/>
          <p:nvPr>
            <p:ph idx="13" type="body"/>
          </p:nvPr>
        </p:nvSpPr>
        <p:spPr>
          <a:xfrm>
            <a:off x="1409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من الرسالة إلى الرد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2" name="Google Shape;512;p9"/>
          <p:cNvSpPr txBox="1"/>
          <p:nvPr>
            <p:ph idx="14" type="body"/>
          </p:nvPr>
        </p:nvSpPr>
        <p:spPr>
          <a:xfrm>
            <a:off x="12077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513" name="Google Shape;513;p9"/>
          <p:cNvSpPr txBox="1"/>
          <p:nvPr>
            <p:ph idx="15" type="body"/>
          </p:nvPr>
        </p:nvSpPr>
        <p:spPr>
          <a:xfrm>
            <a:off x="12077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514" name="Google Shape;514;p9"/>
          <p:cNvSpPr txBox="1"/>
          <p:nvPr>
            <p:ph idx="16" type="body"/>
          </p:nvPr>
        </p:nvSpPr>
        <p:spPr>
          <a:xfrm>
            <a:off x="12077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مستويات المحتوى أ–د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5" name="Google Shape;515;p9"/>
          <p:cNvSpPr txBox="1"/>
          <p:nvPr>
            <p:ph idx="17" type="body"/>
          </p:nvPr>
        </p:nvSpPr>
        <p:spPr>
          <a:xfrm>
            <a:off x="6743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516" name="Google Shape;516;p9"/>
          <p:cNvSpPr txBox="1"/>
          <p:nvPr>
            <p:ph idx="18" type="body"/>
          </p:nvPr>
        </p:nvSpPr>
        <p:spPr>
          <a:xfrm>
            <a:off x="6743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517" name="Google Shape;517;p9"/>
          <p:cNvSpPr txBox="1"/>
          <p:nvPr>
            <p:ph idx="19" type="body"/>
          </p:nvPr>
        </p:nvSpPr>
        <p:spPr>
          <a:xfrm>
            <a:off x="6743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أرقام مقيسة ومقارنة مرجعية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8" name="Google Shape;518;p9"/>
          <p:cNvSpPr txBox="1"/>
          <p:nvPr>
            <p:ph idx="20" type="body"/>
          </p:nvPr>
        </p:nvSpPr>
        <p:spPr>
          <a:xfrm>
            <a:off x="1409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/>
          </a:p>
        </p:txBody>
      </p:sp>
      <p:sp>
        <p:nvSpPr>
          <p:cNvPr id="519" name="Google Shape;519;p9"/>
          <p:cNvSpPr txBox="1"/>
          <p:nvPr>
            <p:ph idx="21" type="body"/>
          </p:nvPr>
        </p:nvSpPr>
        <p:spPr>
          <a:xfrm>
            <a:off x="1409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الاستمرار</a:t>
            </a:r>
            <a:endParaRPr/>
          </a:p>
        </p:txBody>
      </p:sp>
      <p:sp>
        <p:nvSpPr>
          <p:cNvPr id="520" name="Google Shape;520;p9"/>
          <p:cNvSpPr txBox="1"/>
          <p:nvPr>
            <p:ph idx="22" type="body"/>
          </p:nvPr>
        </p:nvSpPr>
        <p:spPr>
          <a:xfrm>
            <a:off x="1409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التشغيل والتكلفة والفريق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F4FF"/>
        </a:solid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6" name="Google Shape;626;p16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1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28" name="Google Shape;628;p16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رسالة واحدة بحسن نية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قد تنسب إلى النبي ﷺ ما لم يقله</a:t>
            </a:r>
            <a:endParaRPr/>
          </a:p>
        </p:txBody>
      </p:sp>
      <p:sp>
        <p:nvSpPr>
          <p:cNvPr id="629" name="Google Shape;629;p16"/>
          <p:cNvSpPr txBox="1"/>
          <p:nvPr>
            <p:ph idx="1" type="body"/>
          </p:nvPr>
        </p:nvSpPr>
        <p:spPr>
          <a:xfrm>
            <a:off x="4202375" y="6905625"/>
            <a:ext cx="107520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«كفى بالمرء كذبًا أن يحدّث بكل ما سمع»</a:t>
            </a:r>
            <a:endParaRPr/>
          </a:p>
        </p:txBody>
      </p:sp>
      <p:sp>
        <p:nvSpPr>
          <p:cNvPr id="630" name="Google Shape;630;p16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b="0" lang="ar-SA" sz="19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سنن أبي داود ٤٩٩٢ · صححه الألباني</a:t>
            </a:r>
            <a:endParaRPr/>
          </a:p>
        </p:txBody>
      </p:sp>
      <p:pic>
        <p:nvPicPr>
          <p:cNvPr id="631" name="Google Shape;631;p16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نحتاج «ثَبَت»؟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تنتشر الرسائل الدينية بحسن نية، والتحقق منها اليوم بطيء أو غير متاح أو غير موثوق.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أحاديث لا تثبت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«اطلبوا العلم ولو بالصين» و«حب الوطن من الإيمان» تُنسب إلى النبي ﷺ دون مصدر.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تُنقل محرّفة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زيادة «إذا صبروا» بعد ﴿إن الله مع الصابرين﴾ تغيّر لفظ القرآن دون قصد.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ضغط لإعادة النشر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«انشرها… أمانة في رقبتك» تدفع إلى النشر قبل السؤال.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أدوات لا تكفي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البحث يحتاج اللفظ الدقيق ولا يقرأ الصور، والروبوت العام قد يخترع مصدرًا.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يتحقق الناس اليوم؟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الطرق المتاحة للتحقق من حديث وصل في رسالة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الزمن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القيد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تقدمه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الطريقة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ساعات أو أيام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يتاح للجميع ويستهلك وقت المختصين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حكم موثوق مع شرح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مختص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دقائق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تحتاج اللفظ الدقيق، ولا تقرأ الصور ولا الترجمات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الرواية وحكمها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المواقع الحديثية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ثوانٍ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قد يخترع مصدرًا أو حكمًا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إجابة سريعة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روبوت محادثة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أقل من ثانية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يغطي ٩ كتب حتى الآن، ويمتنع حين لا يجد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 وحكم المحققين وتصحيح اللفظ وردّ جاهز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ثَبَت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تجربة الفريق، وتقرير التقييم في المستودع (eval/results/REPORT.md)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«ثَبَت»: رسالة تُفحص قبل أن تُنشر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g_hero_c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t="1" b="1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نراه؟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رسالة متداولة خُتم كل نص فيها بحكمه: لا يثبت، آية محرّفة، حديث ثابت، مع ردّ مقترح.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يهم المستخدم؟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يعرف في ثوانٍ ما ثبت ومصدره، ويرسل تصحيحًا لطيفًا فيه بديل صحيح.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 الرسالة إلى الرد في أقل من ثانية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تسلسل العمل من المدخلات إلى الأثر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المدخلات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رسالة أو لقطة شاشة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تُقرأ الصورة على جهاز المستخدم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المعالجة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توحيد الكتابة وفصل الإسناد ثم البحث والمحاذاة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٣٦٬٠٦٤ رواية و٦٬٢٣٦ آية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المخرجات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 وحكم المحققين والمستوى والبديل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ردّ جاهز بخمس لغات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الأثر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تصحيح قبل النشر دون اختلاق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يُقاس بالدقة وصفر أخطاء حرجة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يُوظَّف الذكاء الاصطناعي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لكل مكوّن وظيفة محددة، والمصادر وحدها تحكم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معالجة العربية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توحيد الإملاء والتشكيل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وفصل المتن عن الإسناد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الاسترجاع والمحاذاة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فهرس TF-IDF ومحاذاة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حرفية تتحمل الأخطاء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كشف تحريف الآيات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مقارنة كلمةً كلمة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بنص المصحف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قراءة الصور ونموذج لغوي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قراءة الصور على الجهاز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ونموذج لغوي اختياري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مثال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سلوك ثَبَت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الطهور شطر الإيمان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إجابة مباشرة موثقة بالمصدر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آية مطابقة، حديث ثابت، تصحيح آية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معلومة أصلية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اطلبوا العلم ولو بالصين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ينسب الحكم لقائله ويقدم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ضعيف أو موضوع بحكم محققين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أنا مدينة العلم وعلي بابها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يعرض الخلاف أو يمتنع ويحيل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اختلاف المحققين أو عدم العثور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خلافي أو غير محسوم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زواج في المحكمة دون ولي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حكم؛ إحالة إلى جهة 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«هل يجوز لي…»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الأربعة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نتيجة تحمل مستواها من الحزمة العلمية، ويتصرف «ثَبَت» بحسبه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المرجع: المرجعية والحزمة العلمية والبيانات للتحدي (ص٢ وص٥)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الواجهات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ثلاث حالات من النموذج العامل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46" name="Google Shape;846;p26" descr="g_quran_c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l="2" r="2"/>
          <a:stretch>
            <a:fillRect/>
          </a:stretch>
        </p:blipFill>
        <p:spPr>
          <a:xfrm>
            <a:off x="12077700" y="3714750"/>
            <a:ext cx="4762500" cy="4286400"/>
          </a:xfrm>
        </p:spPr>
      </p:pic>
      <p:sp>
        <p:nvSpPr>
          <p:cNvPr id="847" name="Google Shape;847;p26"/>
          <p:cNvSpPr txBox="1"/>
          <p:nvPr>
            <p:ph idx="3" type="body"/>
          </p:nvPr>
        </p:nvSpPr>
        <p:spPr>
          <a:xfrm>
            <a:off x="121158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آية منقولة خطأ: الزيادة مشطوبة، مع السورة والآية</a:t>
            </a:r>
            <a:endParaRPr/>
          </a:p>
        </p:txBody>
      </p:sp>
      <p:sp>
        <p:nvSpPr>
          <p:cNvPr id="848" name="Google Shape;848;p26"/>
          <p:cNvSpPr txBox="1"/>
          <p:nvPr>
            <p:ph idx="5" type="body"/>
          </p:nvPr>
        </p:nvSpPr>
        <p:spPr>
          <a:xfrm>
            <a:off x="676275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طلب فتوى شخصية: لا حكم، وإحالة (مستوى د)</a:t>
            </a:r>
            <a:endParaRPr/>
          </a:p>
        </p:txBody>
      </p:sp>
      <p:sp>
        <p:nvSpPr>
          <p:cNvPr id="849" name="Google Shape;849;p26"/>
          <p:cNvSpPr txBox="1"/>
          <p:nvPr>
            <p:ph idx="7" type="body"/>
          </p:nvPr>
        </p:nvSpPr>
        <p:spPr>
          <a:xfrm>
            <a:off x="14097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البحث عن دليل: أحاديث ثابتة فقط مع مصدرها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1" name="Google Shape;851;p26" descr="g_fatwa_c.png"/>
          <p:cNvPicPr>
            <a:picLocks noGrp="1" noChangeAspect="1"/>
          </p:cNvPicPr>
          <p:nvPr>
            <p:ph idx="2" type="pic"/>
          </p:nvPr>
        </p:nvPicPr>
        <p:blipFill>
          <a:blip r:embed="rId6"/>
          <a:srcRect l="2" r="2"/>
          <a:stretch>
            <a:fillRect/>
          </a:stretch>
        </p:blipFill>
        <p:spPr>
          <a:xfrm>
            <a:off x="6743700" y="3714675"/>
            <a:ext cx="4762500" cy="4286400"/>
          </a:xfrm>
        </p:spPr>
      </p:pic>
      <p:pic>
        <p:nvPicPr>
          <p:cNvPr id="852" name="Google Shape;852;p26" descr="g_search_c.png"/>
          <p:cNvPicPr>
            <a:picLocks noGrp="1" noChangeAspect="1"/>
          </p:cNvPicPr>
          <p:nvPr>
            <p:ph idx="2" type="pic"/>
          </p:nvPr>
        </p:nvPicPr>
        <p:blipFill>
          <a:blip r:embed="rId7"/>
          <a:srcRect l="2" r="2"/>
          <a:stretch>
            <a:fillRect/>
          </a:stretch>
        </p:blipFill>
        <p:spPr>
          <a:xfrm>
            <a:off x="1409700" y="3714750"/>
            <a:ext cx="4762500" cy="4286400"/>
          </a:xfr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نتائج مقيسة لا ادعاءات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٧٣ حالة منسقة و٣٠٠ عبارة عشوائية · سبتمبر ٢٠٢٦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صفر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أخطاء حرجة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لا يثبت يوصف بالثبوت أو العكس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٩٨٫٦٪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دقة الحكم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٧٢ من ٧٣ حالة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٩٨٫٥٪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العثور على المصدر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رغم أخطاء الكتابة، مقابل ٠٪ للبحث الحرفي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٢٥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مللي ثانية للرسالة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ونتيجة متطابقة في كل تشغيل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eval/results/REPORT.md · كُتبت الحالات أثناء التطوير؛ المعيار التالي مجموعة يكتبها مختص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مقارنة مرجعية مع البحث الحرفي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العثور على الرواية الصحيحة من عبارة عشوائية (٢٠٠ عربية و١٠٠ إنجليزية)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ثَبَت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تطبيع ثم استرجاع ثم محاذاة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البحث الحرفي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يفعله الشخص الحريص بالبحث داخل الصفحة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نص سليم: ١٠٠٪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 أخطاء كتابة: ٩٨٫٥٪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بالإنجليزية: ٩٧٪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نص سليم بلا تشكيل: ١٠٠٪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 أخطاء كتابة: ٠٪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النص المشكول كما نُشر: ٠٪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يضيفه «ثَبَت»؟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إضافات عملية لا تقدمها الأدوات الحالية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14" name="Google Shape;714;p20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يقبل الرسالة كما وصلت</a:t>
            </a:r>
            <a:endParaRPr/>
          </a:p>
        </p:txBody>
      </p:sp>
      <p:sp>
        <p:nvSpPr>
          <p:cNvPr id="715" name="Google Shape;715;p20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صورة أو أخطاء إملائية أو ترجمة، مع فصل النصوص المتعددة</a:t>
            </a:r>
            <a:endParaRPr/>
          </a:p>
        </p:txBody>
      </p:sp>
      <p:sp>
        <p:nvSpPr>
          <p:cNvPr id="716" name="Google Shape;716;p20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العبارة ليست الرواية</a:t>
            </a:r>
            <a:endParaRPr/>
          </a:p>
        </p:txBody>
      </p:sp>
      <p:sp>
        <p:nvSpPr>
          <p:cNvPr id="717" name="Google Shape;717;p20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يفرّق بين حكم الجملة والرواية الكاملة، وكلام الصحابي وكلام النبي ﷺ</a:t>
            </a:r>
            <a:endParaRPr/>
          </a:p>
        </p:txBody>
      </p:sp>
      <p:sp>
        <p:nvSpPr>
          <p:cNvPr id="718" name="Google Shape;718;p20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يصحح ولا يكتفي بالنفي</a:t>
            </a:r>
            <a:endParaRPr/>
          </a:p>
        </p:txBody>
      </p:sp>
      <p:sp>
        <p:nvSpPr>
          <p:cNvPr id="719" name="Google Shape;719;p20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بديل صحيح وردّ لطيف بخمس لغات يحفظ نية الناشر</a:t>
            </a:r>
            <a:endParaRPr/>
          </a:p>
        </p:txBody>
      </p:sp>
      <p:sp>
        <p:nvSpPr>
          <p:cNvPr id="720" name="Google Shape;720;p20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يمتنع ولا يخترع</a:t>
            </a:r>
            <a:endParaRPr/>
          </a:p>
        </p:txBody>
      </p:sp>
      <p:sp>
        <p:nvSpPr>
          <p:cNvPr id="721" name="Google Shape;721;p20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«لم نجد» صريحة وإحالة، ولا دليل مولّد</a:t>
            </a:r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خطة التنفيذ والاستمرار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أيام التحدي إلى التبني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المراجعة الشرعية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٤–٦ أكتوبر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السجل واختبار محجوب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بوت تيليجرام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٤–٦ أكتوبر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إرسال الرسالة واستلام الحكم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المستخدمين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أكتوبر ٢٠٢٦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٥–٨ مستخدمين وتحسينات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كتب إضافية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الربع الأول ٢٠٢٧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مسند أحمد والمستدرك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واجهة مفتوحة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الربع الثاني ٢٠٢٧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تكامل مع منصات المحتوى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الاستمرار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خدمة واحدة خفيفة تعمل دون معالج رسومي ودون اعتماد حرج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التكلفة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صفر للتجربة على Vercel المجاني، ونحو ٨٠–١١٠ دولارات شهريًا لـ٣٠٠ ألف فحص.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البدائل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اللغوي اختياري، والكود نفسه يعمل في أي حاوية (Docker).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مراجعة أسبوعية للبلاغات ومداخل السجل يتولاها مختص الحديث.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الأداء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نحو ١٢٠ ميغابايت ذاكرة، وتحميل في ٠٫٣ ثانية، و٢٥ مللي ثانية للرسالة.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الاستمرار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المشارك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مشاركة فردية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3644000" y="4100000"/>
            <a:ext cx="110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40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Youcef Kouadria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3644000" y="5400000"/>
            <a:ext cx="11000000" cy="2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طالب دكتوراه في الذكاء الاصطناعي ومعالجة اللغات الطبيعية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مصمم جرافيك أول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التطوير والذكاء الاصطناعي والتصميم والنشر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F4FF"/>
        </a:solid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6" name="Google Shape;626;p16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1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28" name="Google Shape;628;p16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تحكم،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لا الذكاء الاصطناعي</a:t>
            </a:r>
            <a:endParaRPr/>
          </a:p>
        </p:txBody>
      </p:sp>
      <p:sp>
        <p:nvSpPr>
          <p:cNvPr id="629" name="Google Shape;629;p16"/>
          <p:cNvSpPr txBox="1"/>
          <p:nvPr>
            <p:ph idx="1" type="body"/>
          </p:nvPr>
        </p:nvSpPr>
        <p:spPr>
          <a:xfrm>
            <a:off x="4202375" y="6905625"/>
            <a:ext cx="107520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وحين لا نجد مصدرًا… نقولها بصراحة</a:t>
            </a:r>
            <a:endParaRPr/>
          </a:p>
        </p:txBody>
      </p:sp>
      <p:sp>
        <p:nvSpPr>
          <p:cNvPr id="630" name="Google Shape;630;p16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b="0" lang="ar-SA" sz="19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ثَبَت — تحقّق قبل أن تنشر</a:t>
            </a:r>
            <a:endParaRPr/>
          </a:p>
        </p:txBody>
      </p:sp>
      <p:pic>
        <p:nvPicPr>
          <p:cNvPr id="631" name="Google Shape;631;p16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ثَبَت — تحقّق قبل أن تنشر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‎github.com‎/‎youmrx3‎/‎islamicaich‎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