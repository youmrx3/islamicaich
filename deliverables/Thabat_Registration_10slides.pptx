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6" r:id="rId16"/>
    <p:sldId id="268" r:id="rId18"/>
    <p:sldId id="279" r:id="rId29"/>
    <p:sldId id="282" r:id="rId32"/>
    <p:sldId id="276" r:id="rId26"/>
    <p:sldId id="270" r:id="rId20"/>
    <p:sldId id="275" r:id="rId25"/>
    <p:sldId id="273" r:id="rId23"/>
    <p:sldId id="274" r:id="rId24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6" Type="http://schemas.openxmlformats.org/officeDocument/2006/relationships/slide" Target="slides/slide4.xml"/><Relationship Id="rId18" Type="http://schemas.openxmlformats.org/officeDocument/2006/relationships/slide" Target="slides/slide6.xml"/><Relationship Id="rId20" Type="http://schemas.openxmlformats.org/officeDocument/2006/relationships/slide" Target="slides/slide11.xml"/><Relationship Id="rId23" Type="http://schemas.openxmlformats.org/officeDocument/2006/relationships/slide" Target="slides/slide14.xml"/><Relationship Id="rId24" Type="http://schemas.openxmlformats.org/officeDocument/2006/relationships/slide" Target="slides/slide16.xml"/><Relationship Id="rId25" Type="http://schemas.openxmlformats.org/officeDocument/2006/relationships/slide" Target="slides/slide13.xml"/><Relationship Id="rId26" Type="http://schemas.openxmlformats.org/officeDocument/2006/relationships/slide" Target="slides/slide9.xml"/><Relationship Id="rId29" Type="http://schemas.openxmlformats.org/officeDocument/2006/relationships/slide" Target="slides/slide7.xml"/><Relationship Id="rId32" Type="http://schemas.openxmlformats.org/officeDocument/2006/relationships/slide" Target="slides/slide8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ثَبَت: أداة تحقق من الأحاديث والآيات في الرسائل المتداولة قبل نشرها. المسار الرابع: أدوات المعرفة والتحقق.</a:t>
            </a:r>
          </a:p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أربعة أوجه للمشكلة. الأمثلة كلها حقيقية ومتداولة، وموثقة في سجل العبارات المشتهرة داخل المستودع.</a:t>
            </a:r>
          </a:p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هذه الصفحة الرئيسية للموقع. انتقل بعدها إلى العرض الحي: /app?ex=0</a:t>
            </a:r>
          </a:p>
        </p:txBody>
      </p:sp>
      <p:sp>
        <p:nvSpPr>
          <p:cNvPr id="568" name="Google Shape;5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كن دقيقًا: هذه نتائج مجموعة كتبها الفريق، والمعيار الحاسم مجموعة محجوبة يكتبها مختص الحديث في أيام التحدي.</a:t>
            </a:r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ما يُنجز في ٤–٦ أكتوبر هو ما يُحكم عليه؛ ونسخة البداية موثقة في docs/BASELINE.md.</a:t>
            </a:r>
          </a:p>
        </p:txBody>
      </p:sp>
      <p:sp>
        <p:nvSpPr>
          <p:cNvPr id="648" name="Google Shape;64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مشاركة فردية: Youcef Kouadria، طالب دكتوراه في الذكاء الاصطناعي ومعالجة اللغات الطبيعية، ومصمم جرافيك أول.</a:t>
            </a:r>
          </a:p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أربع إضافات عملية، وكل واحدة لها اختبار في تقرير التقييم.</a:t>
            </a:r>
          </a:p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الالتزام بالمعيار العلمي الملزم: الإسناد، ومقاومة الهلوسة بالامتناع، وعدم الاستقلال بالفتوى، والشفافية، والخصوصية.</a:t>
            </a:r>
          </a:p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المصادر هي التي تحكم. لا يكتب النموذج اللغوي أي دليل؛ دوره الاختياري استخراج الاقتباسات فقط.</a:t>
            </a:r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لماذا ليس روبوت محادثة؟ لأن التوليد يفتح باب اختراع المرجع. كل ما يراه المستخدم عن المصدر نص من المصدر أو صياغة ثابتة قابلة للمراجعة. التشغيل حتمي: النتيجة نفسها في كل مرة.</a:t>
            </a:r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ثَبَت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تحقّق قبل أن تنشر: أداة تكشف مصدر الأحاديث والآيات المتداولة وحكم المحققين عليها، وتمتنع بصراحة حين لا تجد مصدرًا.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Youcef Kouadria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أكتوبر ٢٠٢٦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لماذا نحتاج «ثَبَت»؟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تنتشر الرسائل الدينية بحسن نية، والتحقق منها اليوم بطيء أو غير متاح أو غير موثوق.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أحاديث لا تثبت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«اطلبوا العلم ولو بالصين» و«حب الوطن من الإيمان» تُنسب إلى النبي ﷺ دون مصدر.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آيات تُنقل محرّفة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زيادة «إذا صبروا» بعد ﴿إن الله مع الصابرين﴾ تغيّر لفظ القرآن دون قصد.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ضغط لإعادة النشر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«انشرها… أمانة في رقبتك» تدفع إلى النشر قبل السؤال.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أدوات لا تكفي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البحث يحتاج اللفظ الدقيق ولا يقرأ الصور، والروبوت العام قد يخترع مصدرًا.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«ثَبَت»: رسالة تُفحص قبل أن تُنشر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 descr="g_hero_c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t="1" b="1"/>
          <a:stretch>
            <a:fillRect/>
          </a:stretch>
        </p:blipFill>
        <p:spPr>
          <a:xfrm>
            <a:off x="1428750" y="4048125"/>
            <a:ext cx="8382000" cy="4714800"/>
          </a:xfr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نراه؟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رسالة متداولة خُتم كل نص فيها بحكمه: لا يثبت، آية محرّفة، حديث ثابت، مع ردّ مقترح.</a:t>
            </a:r>
            <a:endParaRPr/>
          </a:p>
        </p:txBody>
      </p:sp>
      <p:sp>
        <p:nvSpPr>
          <p:cNvPr id="579" name="Google Shape;579;p13"/>
          <p:cNvSpPr txBox="1"/>
          <p:nvPr>
            <p:ph idx="5" type="body"/>
          </p:nvPr>
        </p:nvSpPr>
        <p:spPr>
          <a:xfrm>
            <a:off x="10458450" y="66675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يهم المستخدم؟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737235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يعرف في ثوانٍ ما ثبت ومصدره، ويرسل تصحيحًا لطيفًا فيه بديل صحيح.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الرسالة إلى الرد في أقل من ثانية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تسلسل العمل من المدخلات إلى الأثر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رسالة أو لقطة شاشة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تُقرأ الصورة على جهاز المستخدم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توحيد الكتابة وفصل الإسناد ثم البحث والمحاذاة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٣٦٬٠٦٤ رواية و٦٬٢٣٦ آية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 وحكم المحققين والمستوى والبديل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 ردّ جاهز بخمس لغات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تصحيح قبل النشر دون اختلاق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يُقاس بالدقة وصفر أخطاء حرجة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كيف يُوظَّف الذكاء الاصطناعي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لكل مكوّن وظيفة محددة، والمصادر وحدها تحكم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معالجة العربية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توحيد الإملاء والتشكيل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وفصل المتن عن الإسناد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الاسترجاع والمحاذاة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فهرس TF-IDF ومحاذاة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حرفية تتحمل الأخطاء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كشف تحريف الآيات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مقارنة كلمةً كلمة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بنص المصحف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قراءة الصور ونموذج لغوي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قراءة الصور على الجهاز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ونموذج لغوي اختياري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71450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مثال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سلوك ثَبَت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متى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المستوى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الطهور شطر الإيمان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إجابة مباشرة موثقة بالمصدر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آية مطابقة، حديث ثابت، تصحيح آية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(أ) معلومة أصلية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اطلبوا العلم ولو بالصين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ينسب الحكم لقائله ويقدم بديلًا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ضعيف أو موضوع بحكم محققين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(ب) شرح مع المرجع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أنا مدينة العلم وعلي بابها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يعرض الخلاف أو يمتنع ويحيل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اختلاف المحققين أو عدم العثور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(ج) خلافي أو غير محسوم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زواج في المحكمة دون ولي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حكم؛ إحالة إلى جهة إفتاء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«هل يجوز لي…»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(د) فتوى أو حالة شخصية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الموثوقية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مستويات المحتوى الأربعة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كل نتيجة تحمل مستواها من الحزمة العلمية، ويتصرف «ثَبَت» بحسبه</a:t>
            </a:r>
            <a:endParaRPr/>
          </a:p>
        </p:txBody>
      </p:sp>
      <p:sp>
        <p:nvSpPr>
          <p:cNvPr id="735" name="Google Shape;735;p21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المرجع: المرجعية والحزمة العلمية والبيانات للتحدي (ص٢ وص٥)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نتائج مقيسة لا ادعاءات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٧٣ حالة منسقة و٣٠٠ عبارة عشوائية · سبتمبر ٢٠٢٦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صفر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أخطاء حرجة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لا يثبت يوصف بالثبوت أو العكس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٩٨٫٦٪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دقة الحكم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٧٢ من ٧٣ حالة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٩٨٫٥٪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العثور على المصدر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رغم أخطاء الكتابة، مقابل ٠٪ للبحث الحرفي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٢٥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مللي ثانية للرسالة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ونتيجة متطابقة في كل تشغيل</a:t>
            </a:r>
            <a:endParaRPr/>
          </a:p>
        </p:txBody>
      </p:sp>
      <p:sp>
        <p:nvSpPr>
          <p:cNvPr id="620" name="Google Shape;620;p15"/>
          <p:cNvSpPr txBox="1"/>
          <p:nvPr>
            <p:ph idx="18" type="body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eval/results/REPORT.md · كُتبت الحالات أثناء التطوير؛ المعيار التالي مجموعة يكتبها مختص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القيمة المضافة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يضيفه «ثَبَت»؟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إضافات عملية لا تقدمها الأدوات الحالية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14" name="Google Shape;714;p20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يقبل الرسالة كما وصلت</a:t>
            </a:r>
            <a:endParaRPr/>
          </a:p>
        </p:txBody>
      </p:sp>
      <p:sp>
        <p:nvSpPr>
          <p:cNvPr id="715" name="Google Shape;715;p20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صورة أو أخطاء إملائية أو ترجمة، مع فصل النصوص المتعددة</a:t>
            </a:r>
            <a:endParaRPr/>
          </a:p>
        </p:txBody>
      </p:sp>
      <p:sp>
        <p:nvSpPr>
          <p:cNvPr id="716" name="Google Shape;716;p20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العبارة ليست الرواية</a:t>
            </a:r>
            <a:endParaRPr/>
          </a:p>
        </p:txBody>
      </p:sp>
      <p:sp>
        <p:nvSpPr>
          <p:cNvPr id="717" name="Google Shape;717;p20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يفرّق بين حكم الجملة والرواية الكاملة، وكلام الصحابي وكلام النبي ﷺ</a:t>
            </a:r>
            <a:endParaRPr/>
          </a:p>
        </p:txBody>
      </p:sp>
      <p:sp>
        <p:nvSpPr>
          <p:cNvPr id="718" name="Google Shape;718;p20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يصحح ولا يكتفي بالنفي</a:t>
            </a:r>
            <a:endParaRPr/>
          </a:p>
        </p:txBody>
      </p:sp>
      <p:sp>
        <p:nvSpPr>
          <p:cNvPr id="719" name="Google Shape;719;p20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بديل صحيح وردّ لطيف بخمس لغات يحفظ نية الناشر</a:t>
            </a:r>
            <a:endParaRPr/>
          </a:p>
        </p:txBody>
      </p:sp>
      <p:sp>
        <p:nvSpPr>
          <p:cNvPr id="720" name="Google Shape;720;p20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يمتنع ولا يخترع</a:t>
            </a:r>
            <a:endParaRPr/>
          </a:p>
        </p:txBody>
      </p:sp>
      <p:sp>
        <p:nvSpPr>
          <p:cNvPr id="721" name="Google Shape;721;p20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«لم نجد» صريحة وإحالة، ولا دليل مولّد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التنفيذ والاستمرار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أيام التحدي إلى التبني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المراجعة الشرعية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٤–٦ أكتوبر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اعتماد السجل واختبار محجوب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بوت تيليجرام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٤–٦ أكتوبر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إرسال الرسالة واستلام الحكم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اختبار المستخدمين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أكتوبر ٢٠٢٦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٥–٨ مستخدمين وتحسينات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كتب إضافية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الربع الأول ٢٠٢٧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مسند أحمد والمستدرك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واجهة مفتوحة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الربع الثاني ٢٠٢٧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تكامل مع منصات المحتوى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689" name="Google Shape;689;p1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المشارك</a:t>
            </a:r>
            <a:endParaRPr/>
          </a:p>
        </p:txBody>
      </p:sp>
      <p:sp>
        <p:nvSpPr>
          <p:cNvPr id="690" name="Google Shape;690;p19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مشاركة فردية</a:t>
            </a:r>
            <a:endParaRPr/>
          </a:p>
        </p:txBody>
      </p:sp>
      <p:sp>
        <p:nvSpPr>
          <p:cNvPr id="691" name="Google Shape;691;p1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93" name="Google Shape;693;p19"/>
          <p:cNvSpPr txBox="1"/>
          <p:nvPr>
            <p:ph idx="4" type="body"/>
          </p:nvPr>
        </p:nvSpPr>
        <p:spPr>
          <a:xfrm>
            <a:off x="3644000" y="4100000"/>
            <a:ext cx="110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40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Youcef Kouadria</a:t>
            </a:r>
            <a:endParaRPr/>
          </a:p>
        </p:txBody>
      </p:sp>
      <p:sp>
        <p:nvSpPr>
          <p:cNvPr id="694" name="Google Shape;694;p19"/>
          <p:cNvSpPr txBox="1"/>
          <p:nvPr>
            <p:ph idx="5" type="body"/>
          </p:nvPr>
        </p:nvSpPr>
        <p:spPr>
          <a:xfrm>
            <a:off x="3644000" y="5400000"/>
            <a:ext cx="11000000" cy="2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طالب دكتوراه في الذكاء الاصطناعي ومعالجة اللغات الطبيعية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مصمم جرافيك أول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التطوير والذكاء الاصطناعي والتصميم والنشر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