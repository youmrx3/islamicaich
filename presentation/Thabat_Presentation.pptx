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63" r:id="rId2"/>
    <p:sldId id="284" r:id="rId3"/>
    <p:sldId id="265" r:id="rId4"/>
    <p:sldId id="287" r:id="rId5"/>
    <p:sldId id="285"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286" r:id="rId37"/>
  </p:sldIdLst>
  <p:sldSz cx="18288000" cy="10287000"/>
  <p:notesSz cx="6858000" cy="9144000"/>
  <p:embeddedFontLst>
    <p:embeddedFont>
      <p:font typeface="Alexandria" pitchFamily="2" charset="-78"/>
      <p:regular r:id="rId39"/>
      <p:bold r:id="rId40"/>
    </p:embeddedFont>
    <p:embeddedFont>
      <p:font typeface="Readex Pro" panose="020B0604020202020204" charset="-78"/>
      <p:regular r:id="rId41"/>
      <p:bold r:id="rId42"/>
    </p:embeddedFont>
    <p:embeddedFont>
      <p:font typeface="Readex Pro Light" panose="020B0604020202020204" charset="-78"/>
      <p:regular r:id="rId43"/>
      <p:bold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ED9858-D163-4338-9E88-1F424354888F}">
  <a:tblStyle styleId="{B8ED9858-D163-4338-9E88-1F424354888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ثَبَت</c:v>
                </c:pt>
              </c:strCache>
            </c:strRef>
          </c:tx>
          <c:spPr>
            <a:solidFill>
              <a:srgbClr val="6150EA"/>
            </a:solidFill>
          </c:spPr>
          <c:invertIfNegative val="1"/>
          <c:dLbls>
            <c:numFmt formatCode="0&quot;%&quot;" sourceLinked="0"/>
            <c:spPr>
              <a:noFill/>
              <a:ln>
                <a:noFill/>
              </a:ln>
              <a:effectLst/>
            </c:spPr>
            <c:txPr>
              <a:bodyPr/>
              <a:lstStyle/>
              <a:p>
                <a:pPr>
                  <a:defRPr sz="1300">
                    <a:solidFill>
                      <a:srgbClr val="12183F"/>
                    </a:solidFill>
                    <a:latin typeface="Alexandria"/>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عربية سليمة</c:v>
                </c:pt>
                <c:pt idx="1">
                  <c:v>عربية بأخطاء الجوال</c:v>
                </c:pt>
                <c:pt idx="2">
                  <c:v>ترجمة إنجليزية</c:v>
                </c:pt>
              </c:strCache>
            </c:strRef>
          </c:cat>
          <c:val>
            <c:numRef>
              <c:f>Sheet1!$B$2:$B$4</c:f>
              <c:numCache>
                <c:formatCode>General</c:formatCode>
                <c:ptCount val="3"/>
                <c:pt idx="0">
                  <c:v>100</c:v>
                </c:pt>
                <c:pt idx="1">
                  <c:v>98.5</c:v>
                </c:pt>
                <c:pt idx="2">
                  <c:v>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437-49EB-80A8-E086C871E1A9}"/>
            </c:ext>
          </c:extLst>
        </c:ser>
        <c:ser>
          <c:idx val="1"/>
          <c:order val="1"/>
          <c:tx>
            <c:strRef>
              <c:f>Sheet1!$C$1</c:f>
              <c:strCache>
                <c:ptCount val="1"/>
                <c:pt idx="0">
                  <c:v>بحث حرفي كما في المصدر</c:v>
                </c:pt>
              </c:strCache>
            </c:strRef>
          </c:tx>
          <c:spPr>
            <a:solidFill>
              <a:srgbClr val="C9CCE6"/>
            </a:solidFill>
          </c:spPr>
          <c:invertIfNegative val="1"/>
          <c:dLbls>
            <c:numFmt formatCode="0&quot;%&quot;" sourceLinked="0"/>
            <c:spPr>
              <a:noFill/>
              <a:ln>
                <a:noFill/>
              </a:ln>
              <a:effectLst/>
            </c:spPr>
            <c:txPr>
              <a:bodyPr/>
              <a:lstStyle/>
              <a:p>
                <a:pPr>
                  <a:defRPr sz="1300">
                    <a:solidFill>
                      <a:srgbClr val="12183F"/>
                    </a:solidFill>
                    <a:latin typeface="Alexandria"/>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عربية سليمة</c:v>
                </c:pt>
                <c:pt idx="1">
                  <c:v>عربية بأخطاء الجوال</c:v>
                </c:pt>
                <c:pt idx="2">
                  <c:v>ترجمة إنجليزية</c:v>
                </c:pt>
              </c:strCache>
            </c:strRef>
          </c:cat>
          <c:val>
            <c:numRef>
              <c:f>Sheet1!$C$2:$C$4</c:f>
              <c:numCache>
                <c:formatCode>General</c:formatCode>
                <c:ptCount val="3"/>
                <c:pt idx="0">
                  <c:v>0</c:v>
                </c:pt>
                <c:pt idx="1">
                  <c:v>0</c:v>
                </c:pt>
                <c:pt idx="2">
                  <c:v>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437-49EB-80A8-E086C871E1A9}"/>
            </c:ext>
          </c:extLst>
        </c:ser>
        <c:ser>
          <c:idx val="2"/>
          <c:order val="2"/>
          <c:tx>
            <c:strRef>
              <c:f>Sheet1!$D$1</c:f>
              <c:strCache>
                <c:ptCount val="1"/>
                <c:pt idx="0">
                  <c:v>بحث حرفي بعد إزالة التشكيل</c:v>
                </c:pt>
              </c:strCache>
            </c:strRef>
          </c:tx>
          <c:spPr>
            <a:solidFill>
              <a:srgbClr val="8F96C7"/>
            </a:solidFill>
          </c:spPr>
          <c:invertIfNegative val="1"/>
          <c:dLbls>
            <c:numFmt formatCode="0&quot;%&quot;" sourceLinked="0"/>
            <c:spPr>
              <a:noFill/>
              <a:ln>
                <a:noFill/>
              </a:ln>
              <a:effectLst/>
            </c:spPr>
            <c:txPr>
              <a:bodyPr/>
              <a:lstStyle/>
              <a:p>
                <a:pPr>
                  <a:defRPr sz="1300">
                    <a:solidFill>
                      <a:srgbClr val="12183F"/>
                    </a:solidFill>
                    <a:latin typeface="Alexandria"/>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عربية سليمة</c:v>
                </c:pt>
                <c:pt idx="1">
                  <c:v>عربية بأخطاء الجوال</c:v>
                </c:pt>
                <c:pt idx="2">
                  <c:v>ترجمة إنجليزية</c:v>
                </c:pt>
              </c:strCache>
            </c:strRef>
          </c:cat>
          <c:val>
            <c:numRef>
              <c:f>Sheet1!$D$2:$D$4</c:f>
              <c:numCache>
                <c:formatCode>General</c:formatCode>
                <c:ptCount val="3"/>
                <c:pt idx="0">
                  <c:v>100</c:v>
                </c:pt>
                <c:pt idx="1">
                  <c:v>0</c:v>
                </c:pt>
                <c:pt idx="2">
                  <c:v>100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437-49EB-80A8-E086C871E1A9}"/>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500">
                <a:solidFill>
                  <a:srgbClr val="12183F"/>
                </a:solidFill>
                <a:latin typeface="Alexandria"/>
              </a:defRPr>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DADDF2"/>
              </a:solidFill>
            </a:ln>
          </c:spPr>
        </c:majorGridlines>
        <c:numFmt formatCode="General" sourceLinked="1"/>
        <c:majorTickMark val="out"/>
        <c:minorTickMark val="none"/>
        <c:tickLblPos val="nextTo"/>
        <c:spPr>
          <a:ln>
            <a:noFill/>
          </a:ln>
        </c:spPr>
        <c:txPr>
          <a:bodyPr/>
          <a:lstStyle/>
          <a:p>
            <a:pPr>
              <a:defRPr sz="1200">
                <a:solidFill>
                  <a:srgbClr val="4B5383"/>
                </a:solidFill>
              </a:defRPr>
            </a:pPr>
            <a:endParaRPr lang="en-US"/>
          </a:p>
        </c:txPr>
        <c:crossAx val="-2068027336"/>
        <c:crosses val="autoZero"/>
        <c:crossBetween val="between"/>
      </c:valAx>
    </c:plotArea>
    <c:legend>
      <c:legendPos val="b"/>
      <c:overlay val="0"/>
      <c:txPr>
        <a:bodyPr/>
        <a:lstStyle/>
        <a:p>
          <a:pPr>
            <a:defRPr sz="1400">
              <a:solidFill>
                <a:srgbClr val="12183F"/>
              </a:solidFill>
              <a:latin typeface="Alexandria"/>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ثَبَت: أداة تحقّق من الآيات والأحاديث في الرسائل المتداولة. المسار 04 — أدوات المعرفة والتحقق. الموقع: islamicaich.vercel.app · الكود: github.com/youmrx3/islamicaich</a:t>
            </a:r>
          </a:p>
        </p:txBody>
      </p:sp>
      <p:sp>
        <p:nvSpPr>
          <p:cNvPr id="482" name="Google Shape;482;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5" name="Google Shape;895;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خريطة العرض: المشكلة، ثم الحل وتجربته، ثم كيف يعمل الذكاء الاصطناعي ولماذا لا يخترع، ثم النتائج المقيسة، ثم الهوية، وأخيرًا ما بُني في أيام التحدي وخطة الاستمرار.</a:t>
            </a:r>
          </a:p>
        </p:txBody>
      </p:sp>
      <p:sp>
        <p:nvSpPr>
          <p:cNvPr id="896" name="Google Shape;896;p2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نبدأ من الرسالة التي تصل كل واحد منا في مجموعة العائلة.</a:t>
            </a:r>
          </a:p>
        </p:txBody>
      </p:sp>
      <p:sp>
        <p:nvSpPr>
          <p:cNvPr id="524" name="Google Shape;524;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رسالة واحدة فيها حديث صحيح، وآية نُقلت بكلمة مختلفة، وحديث موضوع، وعبارة لا أصل لها، وضغط لإعادة النشر. المتلقي لا يملك وقتًا ولا أدوات ليفصل بينها، فينشرها كلها.</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3" name="Google Shape;903;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ثلاث فئات تستفيد: المتلقي العادي، والإمام والداعية، ومشرف المجموعة. والبدائل اليوم: بحث يدوي بطيء، أو روبوت عام قد يخترع، أو مختص لا يتّسع وقته.</a:t>
            </a:r>
          </a:p>
        </p:txBody>
      </p:sp>
      <p:sp>
        <p:nvSpPr>
          <p:cNvPr id="904" name="Google Shape;904;p3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نقيس النجاح بأربعة أمور مرتبطة مباشرة بمعيار المسار: الدقة، وصفر أخطاء حرجة، والزمن، وقابلية التتبع.</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ننتقل إلى الحل: ثَبَت، على الحاسوب والجوال.</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ثَبَت يستقبل رسالة أو لقطة شاشة، ويستخرج كل نص، ويعيده إلى مصدره. أربع قيم: المصدر، والحكم بالأسماء، والآية كلمة كلمة، والصدق حين لا نجد.</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هذه أداة الحاسوب الكاملة: الرسالة على اليمين، والنتائج في الوسط، والتفاصيل على اليسار. Ctrl+Enter للتحقق، وتُفلت لقطة الشاشة لتُقرأ على الجهاز.</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لكل حديث: الكتاب والرقم، والنص من المصدر مظللًا، وأحكام المحققين بأسمائهم، ومستوى المحتوى.</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الآيات تُطابق مع نص المصحف كلمة كلمة، فيظهر موضع الاختلاف بدقة، ويُعرض النص الصحيح كما هو مع التلاوة.</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حين لا نجد مصدرًا نقولها بصراحة ونتيح طلب المراجعة. وطلبات الفتوى لا نجيب عنها بل نحيل، كما تشترط الحزمة العلمية.</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عالجنا الآيات المتكررة والمتشابهة بثلاث قواعد: نذكر كل المواضع، ونحكم بالأقرب لفظًا، ونعرض المتشابهات حتى يظهر الخلط بين آيتين.</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بعد التحقق، يقترح ثَبَت ردًّا لطيفًا بخمس لغات مع البديل الصحيح، أو بطاقة صورة تُرسل للمجموعة دون لوم.</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التطبيق نفسه يُثبَّت على الجوال. الميزات التي تحتاج تطبيقًا أصليًا معروضة محاكاةً مُعلنة، لكنها تستدعي المحرك الحقيقي.</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كيف يعمل الذكاء الاصطناعي في ثَبَت، ولماذا اخترنا هذا الأسلوب.</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ست مراحل: قراءة الصورة على الجهاز، ثم فهم العربية، ثم الاسترجاع، ثم المحاذاة، ثم قواعد الحكم، ثم الصياغة. النموذج اللغوي اختياري ودوره محصور في الاستخراج.</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الفرق الجوهري: روبوت المحادثة يولّد نصًّا قد يتضمن مرجعًا غير موجود، أما ثَبَت فيعرض فقط ما في المصادر، ويمتنع حين لا يجد.</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المصادر هي الحَكَم: نص Tanzil للقرآن، وتسعة كتب حديثية بأحكام المحققين، وسجل للعبارات المشتهرة بمراجع منشورة.</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نلتزم بالحزمة العلمية: مستويات المحتوى الأربعة، والإسناد، والامتناع، والإحالة، والشفافية في كل نتيجة.</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المراجعة البشرية حقيقية وموثّقة: حسابات شخصية للمراجعين، وقرارات موقّعة بأسمائهم، وبلاغات المستخدمين في قائمة واحدة.</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ما الذي قسناه، وكيف، وما حدود القياس.</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98.6% صحة على 73 حالة، وصفر أخطاء حرجة، و98.5% عثور على المصدر من نص فيه أخطاء، مقابل صفر للبحث الحرفي.</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a:xfrm>
            <a:off x="-1166813" y="0"/>
            <a:ext cx="5334001" cy="3000375"/>
          </a:xfrm>
        </p:spPr>
      </p:sp>
      <p:sp>
        <p:nvSpPr>
          <p:cNvPr id="3" name="Notes Placeholder 2"/>
          <p:cNvSpPr>
            <a:spLocks noGrp="1"/>
          </p:cNvSpPr>
          <p:nvPr>
            <p:ph type="body" idx="1"/>
          </p:nvPr>
        </p:nvSpPr>
        <p:spPr/>
        <p:txBody>
          <a:bodyPr/>
          <a:lstStyle/>
          <a:p>
            <a:r>
              <a:t>هذا الرسم يبيّن القيمة المضافة: البحث الحرفي ينهار حين يكتب الناس كما يكتبون فعلًا، وثَبَت يحافظ على 98.5%.</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النتائج حسب الفئة، مع حدود القياس بصراحة: الأرقام متفائلة لأن الحالات كُتبت أثناء التطوير، والاختبار المستقل هو الخطوة التالية.</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الهوية البصرية وتجربة المستخدم.</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الشعار رسالة من ثلاثة أسطر، وسطر أخضر هو النص الذي تحققنا منه، والمعيّن مؤشر «هنا». والألوان: ليل ونور وصباح ورمل وخزامى ومشمش.</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الهوية مطبّقة على الواجهات والمطبوعات والمعرض، والملف الكامل متاح للتحميل من صفحة «عن ثَبَت».</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صممنا التجربة لتكون لطيفة ومحترمة: لا لوم، ولا إحراج، والخصوصية أولًا.</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ما الذي بُني خلال 4–6 أكتوبر تحديدًا، وكيف يستمر المشروع.</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فصلنا بوضوح بين ما سبق التحدي وما بُني خلاله، كما تشترط الشروط. كل شيء موثّق في المستودع.</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التقنيات بسيطة ومفتوحة، والتكلفة في المرحلة التجريبية صفر. الأرقام تقديرية وموثقة في docs/OPERATIONS.md.</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الخطوة الأولى بعد التحدي هي الاختبار المستقل مع مختص، ثم البوت، ثم التطبيقات الأصلية، ثم توسيع الكتب واللغات، ثم واجهة عامة.</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كل شيء متاح للتجربة: الموقع، وأداة الحاسوب، والتطبيق داخل إطار هاتف، والمستودع العام مع خطوات التشغيل.</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مشارك فردي: يوسف قوادرية، مصمّم وباحث دكتوراه في معالجة اللغات الطبيعية. صفحة «عن ثَبَت» في الموقع تحكي القصة كاملة.</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1" name="Google Shape;911;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شكرًا لكم. الرابط الحي والمستودع متاحان للتحقق.</a:t>
            </a:r>
          </a:p>
        </p:txBody>
      </p:sp>
      <p:sp>
        <p:nvSpPr>
          <p:cNvPr id="912" name="Google Shape;912;p3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غلاف المشروع">
  <p:cSld name="غلاف المشروع">
    <p:bg>
      <p:bgPr>
        <a:solidFill>
          <a:srgbClr val="12183F"/>
        </a:solidFill>
        <a:effectLst/>
      </p:bgPr>
    </p:bg>
    <p:spTree>
      <p:nvGrpSpPr>
        <p:cNvPr id="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a:stretch/>
        </p:blipFill>
        <p:spPr>
          <a:xfrm>
            <a:off x="1078258" y="3190875"/>
            <a:ext cx="6701734" cy="6191250"/>
          </a:xfrm>
          <a:prstGeom prst="rect">
            <a:avLst/>
          </a:prstGeom>
          <a:noFill/>
          <a:ln>
            <a:noFill/>
          </a:ln>
        </p:spPr>
      </p:pic>
      <p:sp>
        <p:nvSpPr>
          <p:cNvPr id="16" name="Google Shape;16;p34"/>
          <p:cNvSpPr txBox="1">
            <a:spLocks noGrp="1"/>
          </p:cNvSpPr>
          <p:nvPr>
            <p:ph type="title"/>
          </p:nvPr>
        </p:nvSpPr>
        <p:spPr>
          <a:xfrm>
            <a:off x="8096250" y="3524250"/>
            <a:ext cx="9048750" cy="1333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 name="Google Shape;17;p34"/>
          <p:cNvSpPr txBox="1">
            <a:spLocks noGrp="1"/>
          </p:cNvSpPr>
          <p:nvPr>
            <p:ph type="body" idx="1"/>
          </p:nvPr>
        </p:nvSpPr>
        <p:spPr>
          <a:xfrm>
            <a:off x="8096250" y="5334000"/>
            <a:ext cx="9048750" cy="1619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 name="Google Shape;18;p34"/>
          <p:cNvSpPr txBox="1">
            <a:spLocks noGrp="1"/>
          </p:cNvSpPr>
          <p:nvPr>
            <p:ph type="body" idx="2"/>
          </p:nvPr>
        </p:nvSpPr>
        <p:spPr>
          <a:xfrm>
            <a:off x="8953500" y="7762875"/>
            <a:ext cx="81915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 name="Google Shape;19;p34"/>
          <p:cNvSpPr txBox="1">
            <a:spLocks noGrp="1"/>
          </p:cNvSpPr>
          <p:nvPr>
            <p:ph type="body" idx="3"/>
          </p:nvPr>
        </p:nvSpPr>
        <p:spPr>
          <a:xfrm>
            <a:off x="1066800" y="9391650"/>
            <a:ext cx="5429250" cy="4953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محتويات العرض">
  <p:cSld name="محتويات العرض">
    <p:bg>
      <p:bgPr>
        <a:solidFill>
          <a:srgbClr val="12183F"/>
        </a:solidFill>
        <a:effectLst/>
      </p:bgPr>
    </p:bg>
    <p:spTree>
      <p:nvGrpSpPr>
        <p:cNvPr id="1"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3" name="Google Shape;23;p35"/>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 name="Google Shape;24;p35"/>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5" name="Google Shape;25;p35"/>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a:spLocks noGrp="1"/>
          </p:cNvSpPr>
          <p:nvPr>
            <p:ph type="body" idx="2"/>
          </p:nvPr>
        </p:nvSpPr>
        <p:spPr>
          <a:xfrm>
            <a:off x="12382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 name="Google Shape;28;p35"/>
          <p:cNvSpPr txBox="1">
            <a:spLocks noGrp="1"/>
          </p:cNvSpPr>
          <p:nvPr>
            <p:ph type="body" idx="3"/>
          </p:nvPr>
        </p:nvSpPr>
        <p:spPr>
          <a:xfrm>
            <a:off x="12382500" y="4724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 name="Google Shape;29;p35"/>
          <p:cNvSpPr txBox="1">
            <a:spLocks noGrp="1"/>
          </p:cNvSpPr>
          <p:nvPr>
            <p:ph type="body" idx="4"/>
          </p:nvPr>
        </p:nvSpPr>
        <p:spPr>
          <a:xfrm>
            <a:off x="12382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0" name="Google Shape;30;p35"/>
          <p:cNvSpPr txBox="1">
            <a:spLocks noGrp="1"/>
          </p:cNvSpPr>
          <p:nvPr>
            <p:ph type="body" idx="5"/>
          </p:nvPr>
        </p:nvSpPr>
        <p:spPr>
          <a:xfrm>
            <a:off x="7048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 name="Google Shape;31;p35"/>
          <p:cNvSpPr txBox="1">
            <a:spLocks noGrp="1"/>
          </p:cNvSpPr>
          <p:nvPr>
            <p:ph type="body" idx="6"/>
          </p:nvPr>
        </p:nvSpPr>
        <p:spPr>
          <a:xfrm>
            <a:off x="7048500" y="4724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2" name="Google Shape;32;p35"/>
          <p:cNvSpPr txBox="1">
            <a:spLocks noGrp="1"/>
          </p:cNvSpPr>
          <p:nvPr>
            <p:ph type="body" idx="7"/>
          </p:nvPr>
        </p:nvSpPr>
        <p:spPr>
          <a:xfrm>
            <a:off x="7048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3" name="Google Shape;33;p35"/>
          <p:cNvSpPr txBox="1">
            <a:spLocks noGrp="1"/>
          </p:cNvSpPr>
          <p:nvPr>
            <p:ph type="body" idx="8"/>
          </p:nvPr>
        </p:nvSpPr>
        <p:spPr>
          <a:xfrm>
            <a:off x="1714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4" name="Google Shape;34;p35"/>
          <p:cNvSpPr txBox="1">
            <a:spLocks noGrp="1"/>
          </p:cNvSpPr>
          <p:nvPr>
            <p:ph type="body" idx="9"/>
          </p:nvPr>
        </p:nvSpPr>
        <p:spPr>
          <a:xfrm>
            <a:off x="1714500" y="4724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5" name="Google Shape;35;p35"/>
          <p:cNvSpPr txBox="1">
            <a:spLocks noGrp="1"/>
          </p:cNvSpPr>
          <p:nvPr>
            <p:ph type="body" idx="13"/>
          </p:nvPr>
        </p:nvSpPr>
        <p:spPr>
          <a:xfrm>
            <a:off x="1714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6" name="Google Shape;36;p35"/>
          <p:cNvSpPr txBox="1">
            <a:spLocks noGrp="1"/>
          </p:cNvSpPr>
          <p:nvPr>
            <p:ph type="body" idx="14"/>
          </p:nvPr>
        </p:nvSpPr>
        <p:spPr>
          <a:xfrm>
            <a:off x="12382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7" name="Google Shape;37;p35"/>
          <p:cNvSpPr txBox="1">
            <a:spLocks noGrp="1"/>
          </p:cNvSpPr>
          <p:nvPr>
            <p:ph type="body" idx="15"/>
          </p:nvPr>
        </p:nvSpPr>
        <p:spPr>
          <a:xfrm>
            <a:off x="12382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8" name="Google Shape;38;p35"/>
          <p:cNvSpPr txBox="1">
            <a:spLocks noGrp="1"/>
          </p:cNvSpPr>
          <p:nvPr>
            <p:ph type="body" idx="16"/>
          </p:nvPr>
        </p:nvSpPr>
        <p:spPr>
          <a:xfrm>
            <a:off x="12382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9" name="Google Shape;39;p35"/>
          <p:cNvSpPr txBox="1">
            <a:spLocks noGrp="1"/>
          </p:cNvSpPr>
          <p:nvPr>
            <p:ph type="body" idx="17"/>
          </p:nvPr>
        </p:nvSpPr>
        <p:spPr>
          <a:xfrm>
            <a:off x="7048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0" name="Google Shape;40;p35"/>
          <p:cNvSpPr txBox="1">
            <a:spLocks noGrp="1"/>
          </p:cNvSpPr>
          <p:nvPr>
            <p:ph type="body" idx="18"/>
          </p:nvPr>
        </p:nvSpPr>
        <p:spPr>
          <a:xfrm>
            <a:off x="7048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1" name="Google Shape;41;p35"/>
          <p:cNvSpPr txBox="1">
            <a:spLocks noGrp="1"/>
          </p:cNvSpPr>
          <p:nvPr>
            <p:ph type="body" idx="19"/>
          </p:nvPr>
        </p:nvSpPr>
        <p:spPr>
          <a:xfrm>
            <a:off x="7048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2" name="Google Shape;42;p35"/>
          <p:cNvSpPr txBox="1">
            <a:spLocks noGrp="1"/>
          </p:cNvSpPr>
          <p:nvPr>
            <p:ph type="body" idx="20"/>
          </p:nvPr>
        </p:nvSpPr>
        <p:spPr>
          <a:xfrm>
            <a:off x="1714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3" name="Google Shape;43;p35"/>
          <p:cNvSpPr txBox="1">
            <a:spLocks noGrp="1"/>
          </p:cNvSpPr>
          <p:nvPr>
            <p:ph type="body" idx="21"/>
          </p:nvPr>
        </p:nvSpPr>
        <p:spPr>
          <a:xfrm>
            <a:off x="1714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4" name="Google Shape;44;p35"/>
          <p:cNvSpPr txBox="1">
            <a:spLocks noGrp="1"/>
          </p:cNvSpPr>
          <p:nvPr>
            <p:ph type="body" idx="22"/>
          </p:nvPr>
        </p:nvSpPr>
        <p:spPr>
          <a:xfrm>
            <a:off x="1714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فاصل قسم">
  <p:cSld name="فاصل قسم">
    <p:bg>
      <p:bgPr>
        <a:solidFill>
          <a:srgbClr val="12183F"/>
        </a:solidFill>
        <a:effectLst/>
      </p:bgPr>
    </p:bg>
    <p:spTree>
      <p:nvGrpSpPr>
        <p:cNvPr id="1"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a:stretch/>
        </p:blipFill>
        <p:spPr>
          <a:xfrm>
            <a:off x="1066800" y="687391"/>
            <a:ext cx="4000500" cy="1025519"/>
          </a:xfrm>
          <a:prstGeom prst="rect">
            <a:avLst/>
          </a:prstGeom>
          <a:noFill/>
          <a:ln>
            <a:noFill/>
          </a:ln>
        </p:spPr>
      </p:pic>
      <p:sp>
        <p:nvSpPr>
          <p:cNvPr id="48" name="Google Shape;48;p36"/>
          <p:cNvSpPr txBox="1">
            <a:spLocks noGrp="1"/>
          </p:cNvSpPr>
          <p:nvPr>
            <p:ph type="body" idx="1"/>
          </p:nvPr>
        </p:nvSpPr>
        <p:spPr>
          <a:xfrm>
            <a:off x="13430250" y="3143250"/>
            <a:ext cx="3619500" cy="1238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49" name="Google Shape;49;p36"/>
          <p:cNvSpPr txBox="1">
            <a:spLocks noGrp="1"/>
          </p:cNvSpPr>
          <p:nvPr>
            <p:ph type="title"/>
          </p:nvPr>
        </p:nvSpPr>
        <p:spPr>
          <a:xfrm>
            <a:off x="4953000" y="4810125"/>
            <a:ext cx="12096750" cy="12382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0" name="Google Shape;50;p36"/>
          <p:cNvSpPr txBox="1">
            <a:spLocks noGrp="1"/>
          </p:cNvSpPr>
          <p:nvPr>
            <p:ph type="body" idx="2"/>
          </p:nvPr>
        </p:nvSpPr>
        <p:spPr>
          <a:xfrm>
            <a:off x="6667500" y="6572250"/>
            <a:ext cx="10382250" cy="1047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أربع نقاط">
  <p:cSld name="أربع نقاط">
    <p:bg>
      <p:bgPr>
        <a:solidFill>
          <a:srgbClr val="12183F"/>
        </a:solidFill>
        <a:effectLst/>
      </p:bgPr>
    </p:bg>
    <p:spTree>
      <p:nvGrpSpPr>
        <p:cNvPr id="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54" name="Google Shape;54;p37"/>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5" name="Google Shape;55;p37"/>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6" name="Google Shape;56;p37"/>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57" name="Google Shape;57;p37"/>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a:spLocks noGrp="1"/>
          </p:cNvSpPr>
          <p:nvPr>
            <p:ph type="body" idx="3"/>
          </p:nvPr>
        </p:nvSpPr>
        <p:spPr>
          <a:xfrm>
            <a:off x="9810750" y="3952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0" name="Google Shape;60;p37"/>
          <p:cNvSpPr txBox="1">
            <a:spLocks noGrp="1"/>
          </p:cNvSpPr>
          <p:nvPr>
            <p:ph type="body" idx="4"/>
          </p:nvPr>
        </p:nvSpPr>
        <p:spPr>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1" name="Google Shape;61;p37"/>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2" name="Google Shape;62;p37"/>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3" name="Google Shape;63;p37"/>
          <p:cNvSpPr txBox="1">
            <a:spLocks noGrp="1"/>
          </p:cNvSpPr>
          <p:nvPr>
            <p:ph type="body" idx="7"/>
          </p:nvPr>
        </p:nvSpPr>
        <p:spPr>
          <a:xfrm>
            <a:off x="9810750" y="6619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4" name="Google Shape;64;p37"/>
          <p:cNvSpPr txBox="1">
            <a:spLocks noGrp="1"/>
          </p:cNvSpPr>
          <p:nvPr>
            <p:ph type="body" idx="8"/>
          </p:nvPr>
        </p:nvSpPr>
        <p:spPr>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5" name="Google Shape;65;p37"/>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66" name="Google Shape;66;p37"/>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نص رئيسي">
  <p:cSld name="نص رئيسي">
    <p:bg>
      <p:bgPr>
        <a:solidFill>
          <a:srgbClr val="12183F"/>
        </a:solidFill>
        <a:effectLst/>
      </p:bgPr>
    </p:bg>
    <p:spTree>
      <p:nvGrpSpPr>
        <p:cNvPr id="1"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70" name="Google Shape;70;p38"/>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1" name="Google Shape;71;p38"/>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2" name="Google Shape;72;p38"/>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a:spLocks noGrp="1"/>
          </p:cNvSpPr>
          <p:nvPr>
            <p:ph type="body" idx="2"/>
          </p:nvPr>
        </p:nvSpPr>
        <p:spPr>
          <a:xfrm>
            <a:off x="6191250" y="4000500"/>
            <a:ext cx="10953750" cy="2667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5" name="Google Shape;75;p38"/>
          <p:cNvSpPr txBox="1">
            <a:spLocks noGrp="1"/>
          </p:cNvSpPr>
          <p:nvPr>
            <p:ph type="body" idx="3"/>
          </p:nvPr>
        </p:nvSpPr>
        <p:spPr>
          <a:xfrm>
            <a:off x="6191250" y="7239000"/>
            <a:ext cx="1095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76" name="Google Shape;76;p38"/>
          <p:cNvSpPr txBox="1">
            <a:spLocks noGrp="1"/>
          </p:cNvSpPr>
          <p:nvPr>
            <p:ph type="body" idx="4"/>
          </p:nvPr>
        </p:nvSpPr>
        <p:spPr>
          <a:xfrm>
            <a:off x="6191250" y="8001000"/>
            <a:ext cx="10953750" cy="857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نص وصورة عريضة">
  <p:cSld name="نص وصورة عريضة">
    <p:bg>
      <p:bgPr>
        <a:solidFill>
          <a:srgbClr val="12183F"/>
        </a:solidFill>
        <a:effectLst/>
      </p:bgPr>
    </p:bg>
    <p:spTree>
      <p:nvGrpSpPr>
        <p:cNvPr id="1"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80" name="Google Shape;80;p39"/>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1" name="Google Shape;81;p39"/>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2" name="Google Shape;82;p39"/>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a:spLocks noGrp="1"/>
          </p:cNvSpPr>
          <p:nvPr>
            <p:ph type="pic" idx="2"/>
          </p:nvPr>
        </p:nvSpPr>
        <p:spPr>
          <a:xfrm>
            <a:off x="1428750" y="4048125"/>
            <a:ext cx="8382000" cy="4714875"/>
          </a:xfrm>
          <a:prstGeom prst="rect">
            <a:avLst/>
          </a:prstGeom>
          <a:solidFill>
            <a:srgbClr val="161D48"/>
          </a:solidFill>
          <a:ln w="11425" cap="flat" cmpd="sng">
            <a:solidFill>
              <a:srgbClr val="4A5590"/>
            </a:solidFill>
            <a:prstDash val="solid"/>
            <a:round/>
            <a:headEnd type="none" w="sm" len="sm"/>
            <a:tailEnd type="none" w="sm" len="sm"/>
          </a:ln>
        </p:spPr>
      </p:sp>
      <p:sp>
        <p:nvSpPr>
          <p:cNvPr id="85" name="Google Shape;85;p39"/>
          <p:cNvSpPr txBox="1">
            <a:spLocks noGrp="1"/>
          </p:cNvSpPr>
          <p:nvPr>
            <p:ph type="body" idx="3"/>
          </p:nvPr>
        </p:nvSpPr>
        <p:spPr>
          <a:xfrm>
            <a:off x="10763250" y="4095750"/>
            <a:ext cx="6381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6" name="Google Shape;86;p39"/>
          <p:cNvSpPr txBox="1">
            <a:spLocks noGrp="1"/>
          </p:cNvSpPr>
          <p:nvPr>
            <p:ph type="body" idx="4"/>
          </p:nvPr>
        </p:nvSpPr>
        <p:spPr>
          <a:xfrm>
            <a:off x="10763250" y="480060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7" name="Google Shape;87;p39"/>
          <p:cNvSpPr txBox="1">
            <a:spLocks noGrp="1"/>
          </p:cNvSpPr>
          <p:nvPr>
            <p:ph type="body" idx="5"/>
          </p:nvPr>
        </p:nvSpPr>
        <p:spPr>
          <a:xfrm>
            <a:off x="10763250" y="6667500"/>
            <a:ext cx="6381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88" name="Google Shape;88;p39"/>
          <p:cNvSpPr txBox="1">
            <a:spLocks noGrp="1"/>
          </p:cNvSpPr>
          <p:nvPr>
            <p:ph type="body" idx="6"/>
          </p:nvPr>
        </p:nvSpPr>
        <p:spPr>
          <a:xfrm>
            <a:off x="10763250" y="737235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نص وصورة مربعة">
  <p:cSld name="نص وصورة مربعة">
    <p:bg>
      <p:bgPr>
        <a:solidFill>
          <a:srgbClr val="12183F"/>
        </a:solidFill>
        <a:effectLst/>
      </p:bgPr>
    </p:bg>
    <p:spTree>
      <p:nvGrpSpPr>
        <p:cNvPr id="1"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92" name="Google Shape;92;p40"/>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3" name="Google Shape;93;p40"/>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4" name="Google Shape;94;p40"/>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a:spLocks noGrp="1"/>
          </p:cNvSpPr>
          <p:nvPr>
            <p:ph type="pic" idx="2"/>
          </p:nvPr>
        </p:nvSpPr>
        <p:spPr>
          <a:xfrm>
            <a:off x="2190750" y="3476625"/>
            <a:ext cx="5715000" cy="5715000"/>
          </a:xfrm>
          <a:prstGeom prst="rect">
            <a:avLst/>
          </a:prstGeom>
          <a:solidFill>
            <a:srgbClr val="161D48"/>
          </a:solidFill>
          <a:ln w="11425" cap="flat" cmpd="sng">
            <a:solidFill>
              <a:srgbClr val="4A5590"/>
            </a:solidFill>
            <a:prstDash val="solid"/>
            <a:round/>
            <a:headEnd type="none" w="sm" len="sm"/>
            <a:tailEnd type="none" w="sm" len="sm"/>
          </a:ln>
        </p:spPr>
      </p:sp>
      <p:sp>
        <p:nvSpPr>
          <p:cNvPr id="97" name="Google Shape;97;p40"/>
          <p:cNvSpPr txBox="1">
            <a:spLocks noGrp="1"/>
          </p:cNvSpPr>
          <p:nvPr>
            <p:ph type="body" idx="3"/>
          </p:nvPr>
        </p:nvSpPr>
        <p:spPr>
          <a:xfrm>
            <a:off x="10001250" y="3905250"/>
            <a:ext cx="7143750" cy="800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8" name="Google Shape;98;p40"/>
          <p:cNvSpPr txBox="1">
            <a:spLocks noGrp="1"/>
          </p:cNvSpPr>
          <p:nvPr>
            <p:ph type="body" idx="4"/>
          </p:nvPr>
        </p:nvSpPr>
        <p:spPr>
          <a:xfrm>
            <a:off x="10001250" y="5191125"/>
            <a:ext cx="7143750" cy="2428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99" name="Google Shape;99;p40"/>
          <p:cNvSpPr txBox="1">
            <a:spLocks noGrp="1"/>
          </p:cNvSpPr>
          <p:nvPr>
            <p:ph type="body" idx="5"/>
          </p:nvPr>
        </p:nvSpPr>
        <p:spPr>
          <a:xfrm>
            <a:off x="10001250" y="8048625"/>
            <a:ext cx="71437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مؤشرات">
  <p:cSld name="مؤشرات">
    <p:bg>
      <p:bgPr>
        <a:solidFill>
          <a:srgbClr val="12183F"/>
        </a:solidFill>
        <a:effectLst/>
      </p:bgPr>
    </p:bg>
    <p:spTree>
      <p:nvGrpSpPr>
        <p:cNvPr id="1"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03" name="Google Shape;103;p41"/>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4" name="Google Shape;104;p41"/>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5" name="Google Shape;105;p41"/>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6" name="Google Shape;106;p41"/>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a:spLocks noGrp="1"/>
          </p:cNvSpPr>
          <p:nvPr>
            <p:ph type="body" idx="3"/>
          </p:nvPr>
        </p:nvSpPr>
        <p:spPr>
          <a:xfrm>
            <a:off x="13716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09" name="Google Shape;109;p41"/>
          <p:cNvSpPr txBox="1">
            <a:spLocks noGrp="1"/>
          </p:cNvSpPr>
          <p:nvPr>
            <p:ph type="body" idx="4"/>
          </p:nvPr>
        </p:nvSpPr>
        <p:spPr>
          <a:xfrm>
            <a:off x="13716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0" name="Google Shape;110;p41"/>
          <p:cNvSpPr txBox="1">
            <a:spLocks noGrp="1"/>
          </p:cNvSpPr>
          <p:nvPr>
            <p:ph type="body" idx="5"/>
          </p:nvPr>
        </p:nvSpPr>
        <p:spPr>
          <a:xfrm>
            <a:off x="13716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1" name="Google Shape;111;p41"/>
          <p:cNvSpPr txBox="1">
            <a:spLocks noGrp="1"/>
          </p:cNvSpPr>
          <p:nvPr>
            <p:ph type="body" idx="6"/>
          </p:nvPr>
        </p:nvSpPr>
        <p:spPr>
          <a:xfrm>
            <a:off x="9715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2" name="Google Shape;112;p41"/>
          <p:cNvSpPr txBox="1">
            <a:spLocks noGrp="1"/>
          </p:cNvSpPr>
          <p:nvPr>
            <p:ph type="body" idx="7"/>
          </p:nvPr>
        </p:nvSpPr>
        <p:spPr>
          <a:xfrm>
            <a:off x="9715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3" name="Google Shape;113;p41"/>
          <p:cNvSpPr txBox="1">
            <a:spLocks noGrp="1"/>
          </p:cNvSpPr>
          <p:nvPr>
            <p:ph type="body" idx="8"/>
          </p:nvPr>
        </p:nvSpPr>
        <p:spPr>
          <a:xfrm>
            <a:off x="9715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4" name="Google Shape;114;p41"/>
          <p:cNvSpPr txBox="1">
            <a:spLocks noGrp="1"/>
          </p:cNvSpPr>
          <p:nvPr>
            <p:ph type="body" idx="9"/>
          </p:nvPr>
        </p:nvSpPr>
        <p:spPr>
          <a:xfrm>
            <a:off x="5715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5" name="Google Shape;115;p41"/>
          <p:cNvSpPr txBox="1">
            <a:spLocks noGrp="1"/>
          </p:cNvSpPr>
          <p:nvPr>
            <p:ph type="body" idx="13"/>
          </p:nvPr>
        </p:nvSpPr>
        <p:spPr>
          <a:xfrm>
            <a:off x="5715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6" name="Google Shape;116;p41"/>
          <p:cNvSpPr txBox="1">
            <a:spLocks noGrp="1"/>
          </p:cNvSpPr>
          <p:nvPr>
            <p:ph type="body" idx="14"/>
          </p:nvPr>
        </p:nvSpPr>
        <p:spPr>
          <a:xfrm>
            <a:off x="5715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7" name="Google Shape;117;p41"/>
          <p:cNvSpPr txBox="1">
            <a:spLocks noGrp="1"/>
          </p:cNvSpPr>
          <p:nvPr>
            <p:ph type="body" idx="15"/>
          </p:nvPr>
        </p:nvSpPr>
        <p:spPr>
          <a:xfrm>
            <a:off x="1714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8" name="Google Shape;118;p41"/>
          <p:cNvSpPr txBox="1">
            <a:spLocks noGrp="1"/>
          </p:cNvSpPr>
          <p:nvPr>
            <p:ph type="body" idx="16"/>
          </p:nvPr>
        </p:nvSpPr>
        <p:spPr>
          <a:xfrm>
            <a:off x="1714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19" name="Google Shape;119;p41"/>
          <p:cNvSpPr txBox="1">
            <a:spLocks noGrp="1"/>
          </p:cNvSpPr>
          <p:nvPr>
            <p:ph type="body" idx="17"/>
          </p:nvPr>
        </p:nvSpPr>
        <p:spPr>
          <a:xfrm>
            <a:off x="1714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0" name="Google Shape;120;p41"/>
          <p:cNvSpPr txBox="1">
            <a:spLocks noGrp="1"/>
          </p:cNvSpPr>
          <p:nvPr>
            <p:ph type="body" idx="18"/>
          </p:nvPr>
        </p:nvSpPr>
        <p:spPr>
          <a:xfrm>
            <a:off x="1714500" y="8763000"/>
            <a:ext cx="15430500" cy="476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رسالة رئيسية">
  <p:cSld name="رسالة رئيسية">
    <p:bg>
      <p:bgPr>
        <a:solidFill>
          <a:srgbClr val="F2F4FF"/>
        </a:solidFill>
        <a:effectLst/>
      </p:bgPr>
    </p:bg>
    <p:spTree>
      <p:nvGrpSpPr>
        <p:cNvPr id="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a:spLocks noGrp="1"/>
          </p:cNvSpPr>
          <p:nvPr>
            <p:ph type="title"/>
          </p:nvPr>
        </p:nvSpPr>
        <p:spPr>
          <a:xfrm>
            <a:off x="2476500" y="3143250"/>
            <a:ext cx="13335000" cy="2952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7" name="Google Shape;127;p42"/>
          <p:cNvSpPr txBox="1">
            <a:spLocks noGrp="1"/>
          </p:cNvSpPr>
          <p:nvPr>
            <p:ph type="body" idx="1"/>
          </p:nvPr>
        </p:nvSpPr>
        <p:spPr>
          <a:xfrm>
            <a:off x="3333750" y="6905625"/>
            <a:ext cx="11620500" cy="857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28" name="Google Shape;128;p42"/>
          <p:cNvSpPr txBox="1">
            <a:spLocks noGrp="1"/>
          </p:cNvSpPr>
          <p:nvPr>
            <p:ph type="body" idx="2"/>
          </p:nvPr>
        </p:nvSpPr>
        <p:spPr>
          <a:xfrm>
            <a:off x="3333750" y="8239125"/>
            <a:ext cx="11620500" cy="523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جدول داكن">
  <p:cSld name="جدول داكن">
    <p:bg>
      <p:bgPr>
        <a:solidFill>
          <a:srgbClr val="12183F"/>
        </a:solidFill>
        <a:effectLst/>
      </p:bgPr>
    </p:bg>
    <p:spTree>
      <p:nvGrpSpPr>
        <p:cNvPr id="1"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32" name="Google Shape;132;p43"/>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3" name="Google Shape;133;p43"/>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4" name="Google Shape;134;p43"/>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5" name="Google Shape;135;p43"/>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a:spLocks noGrp="1"/>
          </p:cNvSpPr>
          <p:nvPr>
            <p:ph type="body" idx="3"/>
          </p:nvPr>
        </p:nvSpPr>
        <p:spPr>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38" name="Google Shape;138;p43"/>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خط زمني">
  <p:cSld name="خط زمني">
    <p:bg>
      <p:bgPr>
        <a:solidFill>
          <a:srgbClr val="12183F"/>
        </a:solidFill>
        <a:effectLst/>
      </p:bgPr>
    </p:bg>
    <p:spTree>
      <p:nvGrpSpPr>
        <p:cNvPr id="1"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4"/>
          <p:cNvSpPr/>
          <p:nvPr/>
        </p:nvSpPr>
        <p:spPr>
          <a:xfrm>
            <a:off x="111442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4"/>
          <p:cNvSpPr/>
          <p:nvPr/>
        </p:nvSpPr>
        <p:spPr>
          <a:xfrm>
            <a:off x="80010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4"/>
          <p:cNvSpPr/>
          <p:nvPr/>
        </p:nvSpPr>
        <p:spPr>
          <a:xfrm>
            <a:off x="48577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4"/>
          <p:cNvSpPr/>
          <p:nvPr/>
        </p:nvSpPr>
        <p:spPr>
          <a:xfrm>
            <a:off x="1714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4"/>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48" name="Google Shape;148;p44"/>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49" name="Google Shape;149;p44"/>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0" name="Google Shape;150;p44"/>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a:spLocks noGrp="1"/>
          </p:cNvSpPr>
          <p:nvPr>
            <p:ph type="body" idx="3"/>
          </p:nvPr>
        </p:nvSpPr>
        <p:spPr>
          <a:xfrm>
            <a:off x="14287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3" name="Google Shape;153;p44"/>
          <p:cNvSpPr txBox="1">
            <a:spLocks noGrp="1"/>
          </p:cNvSpPr>
          <p:nvPr>
            <p:ph type="body" idx="4"/>
          </p:nvPr>
        </p:nvSpPr>
        <p:spPr>
          <a:xfrm>
            <a:off x="14287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4" name="Google Shape;154;p44"/>
          <p:cNvSpPr txBox="1">
            <a:spLocks noGrp="1"/>
          </p:cNvSpPr>
          <p:nvPr>
            <p:ph type="body" idx="5"/>
          </p:nvPr>
        </p:nvSpPr>
        <p:spPr>
          <a:xfrm>
            <a:off x="14287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5" name="Google Shape;155;p44"/>
          <p:cNvSpPr txBox="1">
            <a:spLocks noGrp="1"/>
          </p:cNvSpPr>
          <p:nvPr>
            <p:ph type="body" idx="6"/>
          </p:nvPr>
        </p:nvSpPr>
        <p:spPr>
          <a:xfrm>
            <a:off x="14287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6" name="Google Shape;156;p44"/>
          <p:cNvSpPr txBox="1">
            <a:spLocks noGrp="1"/>
          </p:cNvSpPr>
          <p:nvPr>
            <p:ph type="body" idx="7"/>
          </p:nvPr>
        </p:nvSpPr>
        <p:spPr>
          <a:xfrm>
            <a:off x="111442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7" name="Google Shape;157;p44"/>
          <p:cNvSpPr txBox="1">
            <a:spLocks noGrp="1"/>
          </p:cNvSpPr>
          <p:nvPr>
            <p:ph type="body" idx="8"/>
          </p:nvPr>
        </p:nvSpPr>
        <p:spPr>
          <a:xfrm>
            <a:off x="111442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8" name="Google Shape;158;p44"/>
          <p:cNvSpPr txBox="1">
            <a:spLocks noGrp="1"/>
          </p:cNvSpPr>
          <p:nvPr>
            <p:ph type="body" idx="9"/>
          </p:nvPr>
        </p:nvSpPr>
        <p:spPr>
          <a:xfrm>
            <a:off x="111442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59" name="Google Shape;159;p44"/>
          <p:cNvSpPr txBox="1">
            <a:spLocks noGrp="1"/>
          </p:cNvSpPr>
          <p:nvPr>
            <p:ph type="body" idx="13"/>
          </p:nvPr>
        </p:nvSpPr>
        <p:spPr>
          <a:xfrm>
            <a:off x="111442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0" name="Google Shape;160;p44"/>
          <p:cNvSpPr txBox="1">
            <a:spLocks noGrp="1"/>
          </p:cNvSpPr>
          <p:nvPr>
            <p:ph type="body" idx="14"/>
          </p:nvPr>
        </p:nvSpPr>
        <p:spPr>
          <a:xfrm>
            <a:off x="80010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1" name="Google Shape;161;p44"/>
          <p:cNvSpPr txBox="1">
            <a:spLocks noGrp="1"/>
          </p:cNvSpPr>
          <p:nvPr>
            <p:ph type="body" idx="15"/>
          </p:nvPr>
        </p:nvSpPr>
        <p:spPr>
          <a:xfrm>
            <a:off x="80010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2" name="Google Shape;162;p44"/>
          <p:cNvSpPr txBox="1">
            <a:spLocks noGrp="1"/>
          </p:cNvSpPr>
          <p:nvPr>
            <p:ph type="body" idx="16"/>
          </p:nvPr>
        </p:nvSpPr>
        <p:spPr>
          <a:xfrm>
            <a:off x="80010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3" name="Google Shape;163;p44"/>
          <p:cNvSpPr txBox="1">
            <a:spLocks noGrp="1"/>
          </p:cNvSpPr>
          <p:nvPr>
            <p:ph type="body" idx="17"/>
          </p:nvPr>
        </p:nvSpPr>
        <p:spPr>
          <a:xfrm>
            <a:off x="80010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4" name="Google Shape;164;p44"/>
          <p:cNvSpPr txBox="1">
            <a:spLocks noGrp="1"/>
          </p:cNvSpPr>
          <p:nvPr>
            <p:ph type="body" idx="18"/>
          </p:nvPr>
        </p:nvSpPr>
        <p:spPr>
          <a:xfrm>
            <a:off x="48577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5" name="Google Shape;165;p44"/>
          <p:cNvSpPr txBox="1">
            <a:spLocks noGrp="1"/>
          </p:cNvSpPr>
          <p:nvPr>
            <p:ph type="body" idx="19"/>
          </p:nvPr>
        </p:nvSpPr>
        <p:spPr>
          <a:xfrm>
            <a:off x="48577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6" name="Google Shape;166;p44"/>
          <p:cNvSpPr txBox="1">
            <a:spLocks noGrp="1"/>
          </p:cNvSpPr>
          <p:nvPr>
            <p:ph type="body" idx="20"/>
          </p:nvPr>
        </p:nvSpPr>
        <p:spPr>
          <a:xfrm>
            <a:off x="48577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7" name="Google Shape;167;p44"/>
          <p:cNvSpPr txBox="1">
            <a:spLocks noGrp="1"/>
          </p:cNvSpPr>
          <p:nvPr>
            <p:ph type="body" idx="21"/>
          </p:nvPr>
        </p:nvSpPr>
        <p:spPr>
          <a:xfrm>
            <a:off x="48577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8" name="Google Shape;168;p44"/>
          <p:cNvSpPr txBox="1">
            <a:spLocks noGrp="1"/>
          </p:cNvSpPr>
          <p:nvPr>
            <p:ph type="body" idx="22"/>
          </p:nvPr>
        </p:nvSpPr>
        <p:spPr>
          <a:xfrm>
            <a:off x="1714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69" name="Google Shape;169;p44"/>
          <p:cNvSpPr txBox="1">
            <a:spLocks noGrp="1"/>
          </p:cNvSpPr>
          <p:nvPr>
            <p:ph type="body" idx="23"/>
          </p:nvPr>
        </p:nvSpPr>
        <p:spPr>
          <a:xfrm>
            <a:off x="1714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0" name="Google Shape;170;p44"/>
          <p:cNvSpPr txBox="1">
            <a:spLocks noGrp="1"/>
          </p:cNvSpPr>
          <p:nvPr>
            <p:ph type="body" idx="24"/>
          </p:nvPr>
        </p:nvSpPr>
        <p:spPr>
          <a:xfrm>
            <a:off x="1714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1" name="Google Shape;171;p44"/>
          <p:cNvSpPr txBox="1">
            <a:spLocks noGrp="1"/>
          </p:cNvSpPr>
          <p:nvPr>
            <p:ph type="body" idx="25"/>
          </p:nvPr>
        </p:nvSpPr>
        <p:spPr>
          <a:xfrm>
            <a:off x="1714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فريق العمل">
  <p:cSld name="فريق العمل">
    <p:bg>
      <p:bgPr>
        <a:solidFill>
          <a:srgbClr val="12183F"/>
        </a:solidFill>
        <a:effectLst/>
      </p:bgPr>
    </p:bg>
    <p:spTree>
      <p:nvGrpSpPr>
        <p:cNvPr id="1"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175" name="Google Shape;175;p45"/>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6" name="Google Shape;176;p45"/>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7" name="Google Shape;177;p45"/>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78" name="Google Shape;178;p45"/>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a:spLocks noGrp="1"/>
          </p:cNvSpPr>
          <p:nvPr>
            <p:ph type="pic" idx="3"/>
          </p:nvPr>
        </p:nvSpPr>
        <p:spPr>
          <a:xfrm>
            <a:off x="14192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1" name="Google Shape;181;p45"/>
          <p:cNvSpPr txBox="1">
            <a:spLocks noGrp="1"/>
          </p:cNvSpPr>
          <p:nvPr>
            <p:ph type="body" idx="4"/>
          </p:nvPr>
        </p:nvSpPr>
        <p:spPr>
          <a:xfrm>
            <a:off x="13716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2" name="Google Shape;182;p45"/>
          <p:cNvSpPr txBox="1">
            <a:spLocks noGrp="1"/>
          </p:cNvSpPr>
          <p:nvPr>
            <p:ph type="body" idx="5"/>
          </p:nvPr>
        </p:nvSpPr>
        <p:spPr>
          <a:xfrm>
            <a:off x="13716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3" name="Google Shape;183;p45"/>
          <p:cNvSpPr>
            <a:spLocks noGrp="1"/>
          </p:cNvSpPr>
          <p:nvPr>
            <p:ph type="pic" idx="6"/>
          </p:nvPr>
        </p:nvSpPr>
        <p:spPr>
          <a:xfrm>
            <a:off x="10191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4" name="Google Shape;184;p45"/>
          <p:cNvSpPr txBox="1">
            <a:spLocks noGrp="1"/>
          </p:cNvSpPr>
          <p:nvPr>
            <p:ph type="body" idx="7"/>
          </p:nvPr>
        </p:nvSpPr>
        <p:spPr>
          <a:xfrm>
            <a:off x="9715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5" name="Google Shape;185;p45"/>
          <p:cNvSpPr txBox="1">
            <a:spLocks noGrp="1"/>
          </p:cNvSpPr>
          <p:nvPr>
            <p:ph type="body" idx="8"/>
          </p:nvPr>
        </p:nvSpPr>
        <p:spPr>
          <a:xfrm>
            <a:off x="9715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6" name="Google Shape;186;p45"/>
          <p:cNvSpPr>
            <a:spLocks noGrp="1"/>
          </p:cNvSpPr>
          <p:nvPr>
            <p:ph type="pic" idx="9"/>
          </p:nvPr>
        </p:nvSpPr>
        <p:spPr>
          <a:xfrm>
            <a:off x="6191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87" name="Google Shape;187;p45"/>
          <p:cNvSpPr txBox="1">
            <a:spLocks noGrp="1"/>
          </p:cNvSpPr>
          <p:nvPr>
            <p:ph type="body" idx="13"/>
          </p:nvPr>
        </p:nvSpPr>
        <p:spPr>
          <a:xfrm>
            <a:off x="5715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8" name="Google Shape;188;p45"/>
          <p:cNvSpPr txBox="1">
            <a:spLocks noGrp="1"/>
          </p:cNvSpPr>
          <p:nvPr>
            <p:ph type="body" idx="14"/>
          </p:nvPr>
        </p:nvSpPr>
        <p:spPr>
          <a:xfrm>
            <a:off x="5715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89" name="Google Shape;189;p45"/>
          <p:cNvSpPr>
            <a:spLocks noGrp="1"/>
          </p:cNvSpPr>
          <p:nvPr>
            <p:ph type="pic" idx="15"/>
          </p:nvPr>
        </p:nvSpPr>
        <p:spPr>
          <a:xfrm>
            <a:off x="2190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90" name="Google Shape;190;p45"/>
          <p:cNvSpPr txBox="1">
            <a:spLocks noGrp="1"/>
          </p:cNvSpPr>
          <p:nvPr>
            <p:ph type="body" idx="16"/>
          </p:nvPr>
        </p:nvSpPr>
        <p:spPr>
          <a:xfrm>
            <a:off x="1714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1" name="Google Shape;191;p45"/>
          <p:cNvSpPr txBox="1">
            <a:spLocks noGrp="1"/>
          </p:cNvSpPr>
          <p:nvPr>
            <p:ph type="body" idx="17"/>
          </p:nvPr>
        </p:nvSpPr>
        <p:spPr>
          <a:xfrm>
            <a:off x="1714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أربع نقاط فاتحة">
  <p:cSld name="أربع نقاط فاتحة">
    <p:bg>
      <p:bgPr>
        <a:solidFill>
          <a:srgbClr val="F2F4FF"/>
        </a:solidFill>
        <a:effectLst/>
      </p:bgPr>
    </p:bg>
    <p:spTree>
      <p:nvGrpSpPr>
        <p:cNvPr id="1"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a:stretch/>
        </p:blipFill>
        <p:spPr>
          <a:xfrm>
            <a:off x="1337187" y="685800"/>
            <a:ext cx="2888226" cy="895350"/>
          </a:xfrm>
          <a:prstGeom prst="rect">
            <a:avLst/>
          </a:prstGeom>
          <a:noFill/>
          <a:ln>
            <a:noFill/>
          </a:ln>
        </p:spPr>
      </p:pic>
      <p:sp>
        <p:nvSpPr>
          <p:cNvPr id="195" name="Google Shape;195;p46"/>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6" name="Google Shape;196;p46"/>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7" name="Google Shape;197;p46"/>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198" name="Google Shape;198;p46"/>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a:spLocks noGrp="1"/>
          </p:cNvSpPr>
          <p:nvPr>
            <p:ph type="body" idx="3"/>
          </p:nvPr>
        </p:nvSpPr>
        <p:spPr>
          <a:xfrm>
            <a:off x="9810750" y="3952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1" name="Google Shape;201;p46"/>
          <p:cNvSpPr txBox="1">
            <a:spLocks noGrp="1"/>
          </p:cNvSpPr>
          <p:nvPr>
            <p:ph type="body" idx="4"/>
          </p:nvPr>
        </p:nvSpPr>
        <p:spPr>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2" name="Google Shape;202;p46"/>
          <p:cNvSpPr txBox="1">
            <a:spLocks noGrp="1"/>
          </p:cNvSpPr>
          <p:nvPr>
            <p:ph type="body" idx="5"/>
          </p:nvPr>
        </p:nvSpPr>
        <p:spPr>
          <a:xfrm>
            <a:off x="1714500" y="3952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3" name="Google Shape;203;p46"/>
          <p:cNvSpPr txBox="1">
            <a:spLocks noGrp="1"/>
          </p:cNvSpPr>
          <p:nvPr>
            <p:ph type="body" idx="6"/>
          </p:nvPr>
        </p:nvSpPr>
        <p:spPr>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4" name="Google Shape;204;p46"/>
          <p:cNvSpPr txBox="1">
            <a:spLocks noGrp="1"/>
          </p:cNvSpPr>
          <p:nvPr>
            <p:ph type="body" idx="7"/>
          </p:nvPr>
        </p:nvSpPr>
        <p:spPr>
          <a:xfrm>
            <a:off x="9810750" y="6619875"/>
            <a:ext cx="7334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5" name="Google Shape;205;p46"/>
          <p:cNvSpPr txBox="1">
            <a:spLocks noGrp="1"/>
          </p:cNvSpPr>
          <p:nvPr>
            <p:ph type="body" idx="8"/>
          </p:nvPr>
        </p:nvSpPr>
        <p:spPr>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6" name="Google Shape;206;p46"/>
          <p:cNvSpPr txBox="1">
            <a:spLocks noGrp="1"/>
          </p:cNvSpPr>
          <p:nvPr>
            <p:ph type="body" idx="9"/>
          </p:nvPr>
        </p:nvSpPr>
        <p:spPr>
          <a:xfrm>
            <a:off x="1714500" y="6619875"/>
            <a:ext cx="69532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07" name="Google Shape;207;p46"/>
          <p:cNvSpPr txBox="1">
            <a:spLocks noGrp="1"/>
          </p:cNvSpPr>
          <p:nvPr>
            <p:ph type="body" idx="13"/>
          </p:nvPr>
        </p:nvSpPr>
        <p:spPr>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جدول فاتح">
  <p:cSld name="جدول فاتح">
    <p:bg>
      <p:bgPr>
        <a:solidFill>
          <a:srgbClr val="F2F4FF"/>
        </a:solidFill>
        <a:effectLst/>
      </p:bgPr>
    </p:bg>
    <p:spTree>
      <p:nvGrpSpPr>
        <p:cNvPr id="1"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a:stretch/>
        </p:blipFill>
        <p:spPr>
          <a:xfrm>
            <a:off x="1337187" y="685800"/>
            <a:ext cx="2888226" cy="895350"/>
          </a:xfrm>
          <a:prstGeom prst="rect">
            <a:avLst/>
          </a:prstGeom>
          <a:noFill/>
          <a:ln>
            <a:noFill/>
          </a:ln>
        </p:spPr>
      </p:pic>
      <p:sp>
        <p:nvSpPr>
          <p:cNvPr id="211" name="Google Shape;211;p47"/>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2" name="Google Shape;212;p47"/>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3" name="Google Shape;213;p47"/>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4" name="Google Shape;214;p47"/>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a:spLocks noGrp="1"/>
          </p:cNvSpPr>
          <p:nvPr>
            <p:ph type="body" idx="3"/>
          </p:nvPr>
        </p:nvSpPr>
        <p:spPr>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17" name="Google Shape;217;p47"/>
          <p:cNvSpPr>
            <a:spLocks noGrp="1"/>
          </p:cNvSpPr>
          <p:nvPr>
            <p:ph type="tbl" idx="4"/>
          </p:nvPr>
        </p:nvSpPr>
        <p:spPr>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مقارنة بالأعمدة">
  <p:cSld name="مقارنة بالأعمدة">
    <p:bg>
      <p:bgPr>
        <a:solidFill>
          <a:srgbClr val="12183F"/>
        </a:solidFill>
        <a:effectLst/>
      </p:bgPr>
    </p:bg>
    <p:spTree>
      <p:nvGrpSpPr>
        <p:cNvPr id="1"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21" name="Google Shape;221;p48"/>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2" name="Google Shape;222;p48"/>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3" name="Google Shape;223;p48"/>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4" name="Google Shape;224;p48"/>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a:spLocks noGrp="1"/>
          </p:cNvSpPr>
          <p:nvPr>
            <p:ph type="body" idx="3"/>
          </p:nvPr>
        </p:nvSpPr>
        <p:spPr>
          <a:xfrm>
            <a:off x="2095500" y="8905875"/>
            <a:ext cx="1419225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27" name="Google Shape;227;p48"/>
          <p:cNvSpPr>
            <a:spLocks noGrp="1"/>
          </p:cNvSpPr>
          <p:nvPr>
            <p:ph type="chart" idx="4"/>
          </p:nvPr>
        </p:nvSpPr>
        <p:spPr>
          <a:xfrm>
            <a:off x="2095500" y="3905250"/>
            <a:ext cx="14192250" cy="4857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توزيع نسبي">
  <p:cSld name="توزيع نسبي">
    <p:bg>
      <p:bgPr>
        <a:solidFill>
          <a:srgbClr val="12183F"/>
        </a:solidFill>
        <a:effectLst/>
      </p:bgPr>
    </p:bg>
    <p:spTree>
      <p:nvGrpSpPr>
        <p:cNvPr id="1"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31" name="Google Shape;231;p49"/>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2" name="Google Shape;232;p49"/>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3" name="Google Shape;233;p49"/>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4" name="Google Shape;234;p49"/>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a:spLocks noGrp="1"/>
          </p:cNvSpPr>
          <p:nvPr>
            <p:ph type="body" idx="3"/>
          </p:nvPr>
        </p:nvSpPr>
        <p:spPr>
          <a:xfrm>
            <a:off x="1714500" y="890587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37" name="Google Shape;237;p49"/>
          <p:cNvSpPr>
            <a:spLocks noGrp="1"/>
          </p:cNvSpPr>
          <p:nvPr>
            <p:ph type="chart" idx="4"/>
          </p:nvPr>
        </p:nvSpPr>
        <p:spPr>
          <a:xfrm>
            <a:off x="2095500" y="3619500"/>
            <a:ext cx="14097000" cy="5381625"/>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آلية العمل">
  <p:cSld name="آلية العمل">
    <p:bg>
      <p:bgPr>
        <a:solidFill>
          <a:srgbClr val="12183F"/>
        </a:solidFill>
        <a:effectLst/>
      </p:bgPr>
    </p:bg>
    <p:spTree>
      <p:nvGrpSpPr>
        <p:cNvPr id="1"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41" name="Google Shape;241;p50"/>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2" name="Google Shape;242;p50"/>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3" name="Google Shape;243;p50"/>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4" name="Google Shape;244;p50"/>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a:spLocks noGrp="1"/>
          </p:cNvSpPr>
          <p:nvPr>
            <p:ph type="body" idx="3"/>
          </p:nvPr>
        </p:nvSpPr>
        <p:spPr>
          <a:xfrm>
            <a:off x="13716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7" name="Google Shape;247;p50"/>
          <p:cNvSpPr txBox="1">
            <a:spLocks noGrp="1"/>
          </p:cNvSpPr>
          <p:nvPr>
            <p:ph type="body" idx="4"/>
          </p:nvPr>
        </p:nvSpPr>
        <p:spPr>
          <a:xfrm>
            <a:off x="9715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8" name="Google Shape;248;p50"/>
          <p:cNvSpPr txBox="1">
            <a:spLocks noGrp="1"/>
          </p:cNvSpPr>
          <p:nvPr>
            <p:ph type="body" idx="5"/>
          </p:nvPr>
        </p:nvSpPr>
        <p:spPr>
          <a:xfrm>
            <a:off x="5715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49" name="Google Shape;249;p50"/>
          <p:cNvSpPr txBox="1">
            <a:spLocks noGrp="1"/>
          </p:cNvSpPr>
          <p:nvPr>
            <p:ph type="body" idx="6"/>
          </p:nvPr>
        </p:nvSpPr>
        <p:spPr>
          <a:xfrm>
            <a:off x="1714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صورة كبيرة">
  <p:cSld name="صورة كبيرة">
    <p:bg>
      <p:bgPr>
        <a:solidFill>
          <a:srgbClr val="12183F"/>
        </a:solidFill>
        <a:effectLst/>
      </p:bgPr>
    </p:bg>
    <p:spTree>
      <p:nvGrpSpPr>
        <p:cNvPr id="1"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a:spLocks noGrp="1"/>
          </p:cNvSpPr>
          <p:nvPr>
            <p:ph type="pic" idx="2"/>
          </p:nvPr>
        </p:nvSpPr>
        <p:spPr>
          <a:xfrm>
            <a:off x="1047750" y="666750"/>
            <a:ext cx="16192500" cy="6953250"/>
          </a:xfrm>
          <a:prstGeom prst="rect">
            <a:avLst/>
          </a:prstGeom>
          <a:solidFill>
            <a:srgbClr val="161D48"/>
          </a:solidFill>
          <a:ln w="11425" cap="flat" cmpd="sng">
            <a:solidFill>
              <a:srgbClr val="4A5590"/>
            </a:solidFill>
            <a:prstDash val="solid"/>
            <a:round/>
            <a:headEnd type="none" w="sm" len="sm"/>
            <a:tailEnd type="none" w="sm" len="sm"/>
          </a:ln>
        </p:spPr>
      </p:sp>
      <p:sp>
        <p:nvSpPr>
          <p:cNvPr id="255" name="Google Shape;255;p51"/>
          <p:cNvSpPr txBox="1">
            <a:spLocks noGrp="1"/>
          </p:cNvSpPr>
          <p:nvPr>
            <p:ph type="title"/>
          </p:nvPr>
        </p:nvSpPr>
        <p:spPr>
          <a:xfrm>
            <a:off x="2190750" y="7962900"/>
            <a:ext cx="14763750" cy="8382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56" name="Google Shape;256;p51"/>
          <p:cNvSpPr txBox="1">
            <a:spLocks noGrp="1"/>
          </p:cNvSpPr>
          <p:nvPr>
            <p:ph type="body" idx="1"/>
          </p:nvPr>
        </p:nvSpPr>
        <p:spPr>
          <a:xfrm>
            <a:off x="2190750" y="8896350"/>
            <a:ext cx="14763750" cy="4286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معرض الصور">
  <p:cSld name="معرض الصور">
    <p:bg>
      <p:bgPr>
        <a:solidFill>
          <a:srgbClr val="12183F"/>
        </a:solidFill>
        <a:effectLst/>
      </p:bgPr>
    </p:bg>
    <p:spTree>
      <p:nvGrpSpPr>
        <p:cNvPr id="1"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60" name="Google Shape;260;p52"/>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1" name="Google Shape;261;p52"/>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2" name="Google Shape;262;p52"/>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a:spLocks noGrp="1"/>
          </p:cNvSpPr>
          <p:nvPr>
            <p:ph type="pic" idx="2"/>
          </p:nvPr>
        </p:nvSpPr>
        <p:spPr>
          <a:xfrm>
            <a:off x="12382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5" name="Google Shape;265;p52"/>
          <p:cNvSpPr txBox="1">
            <a:spLocks noGrp="1"/>
          </p:cNvSpPr>
          <p:nvPr>
            <p:ph type="body" idx="3"/>
          </p:nvPr>
        </p:nvSpPr>
        <p:spPr>
          <a:xfrm>
            <a:off x="12382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6" name="Google Shape;266;p52"/>
          <p:cNvSpPr>
            <a:spLocks noGrp="1"/>
          </p:cNvSpPr>
          <p:nvPr>
            <p:ph type="pic" idx="4"/>
          </p:nvPr>
        </p:nvSpPr>
        <p:spPr>
          <a:xfrm>
            <a:off x="7048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7" name="Google Shape;267;p52"/>
          <p:cNvSpPr txBox="1">
            <a:spLocks noGrp="1"/>
          </p:cNvSpPr>
          <p:nvPr>
            <p:ph type="body" idx="5"/>
          </p:nvPr>
        </p:nvSpPr>
        <p:spPr>
          <a:xfrm>
            <a:off x="7048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68" name="Google Shape;268;p52"/>
          <p:cNvSpPr>
            <a:spLocks noGrp="1"/>
          </p:cNvSpPr>
          <p:nvPr>
            <p:ph type="pic" idx="6"/>
          </p:nvPr>
        </p:nvSpPr>
        <p:spPr>
          <a:xfrm>
            <a:off x="1714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269" name="Google Shape;269;p52"/>
          <p:cNvSpPr txBox="1">
            <a:spLocks noGrp="1"/>
          </p:cNvSpPr>
          <p:nvPr>
            <p:ph type="body" idx="7"/>
          </p:nvPr>
        </p:nvSpPr>
        <p:spPr>
          <a:xfrm>
            <a:off x="1714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أيقونات الهوية">
  <p:cSld name="أيقونات الهوية">
    <p:bg>
      <p:bgPr>
        <a:solidFill>
          <a:srgbClr val="12183F"/>
        </a:solidFill>
        <a:effectLst/>
      </p:bgPr>
    </p:bg>
    <p:spTree>
      <p:nvGrpSpPr>
        <p:cNvPr id="1"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73" name="Google Shape;273;p53"/>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4" name="Google Shape;274;p53"/>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5" name="Google Shape;275;p53"/>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6" name="Google Shape;276;p53"/>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a:spLocks noGrp="1"/>
          </p:cNvSpPr>
          <p:nvPr>
            <p:ph type="body" idx="3"/>
          </p:nvPr>
        </p:nvSpPr>
        <p:spPr>
          <a:xfrm>
            <a:off x="13716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79" name="Google Shape;279;p53"/>
          <p:cNvSpPr txBox="1">
            <a:spLocks noGrp="1"/>
          </p:cNvSpPr>
          <p:nvPr>
            <p:ph type="body" idx="4"/>
          </p:nvPr>
        </p:nvSpPr>
        <p:spPr>
          <a:xfrm>
            <a:off x="13716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0" name="Google Shape;280;p53"/>
          <p:cNvSpPr txBox="1">
            <a:spLocks noGrp="1"/>
          </p:cNvSpPr>
          <p:nvPr>
            <p:ph type="body" idx="5"/>
          </p:nvPr>
        </p:nvSpPr>
        <p:spPr>
          <a:xfrm>
            <a:off x="9715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1" name="Google Shape;281;p53"/>
          <p:cNvSpPr txBox="1">
            <a:spLocks noGrp="1"/>
          </p:cNvSpPr>
          <p:nvPr>
            <p:ph type="body" idx="6"/>
          </p:nvPr>
        </p:nvSpPr>
        <p:spPr>
          <a:xfrm>
            <a:off x="9715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2" name="Google Shape;282;p53"/>
          <p:cNvSpPr txBox="1">
            <a:spLocks noGrp="1"/>
          </p:cNvSpPr>
          <p:nvPr>
            <p:ph type="body" idx="7"/>
          </p:nvPr>
        </p:nvSpPr>
        <p:spPr>
          <a:xfrm>
            <a:off x="5715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3" name="Google Shape;283;p53"/>
          <p:cNvSpPr txBox="1">
            <a:spLocks noGrp="1"/>
          </p:cNvSpPr>
          <p:nvPr>
            <p:ph type="body" idx="8"/>
          </p:nvPr>
        </p:nvSpPr>
        <p:spPr>
          <a:xfrm>
            <a:off x="5715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4" name="Google Shape;284;p53"/>
          <p:cNvSpPr txBox="1">
            <a:spLocks noGrp="1"/>
          </p:cNvSpPr>
          <p:nvPr>
            <p:ph type="body" idx="9"/>
          </p:nvPr>
        </p:nvSpPr>
        <p:spPr>
          <a:xfrm>
            <a:off x="1714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85" name="Google Shape;285;p53"/>
          <p:cNvSpPr txBox="1">
            <a:spLocks noGrp="1"/>
          </p:cNvSpPr>
          <p:nvPr>
            <p:ph type="body" idx="13"/>
          </p:nvPr>
        </p:nvSpPr>
        <p:spPr>
          <a:xfrm>
            <a:off x="1714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مقارنة خيارين">
  <p:cSld name="مقارنة خيارين">
    <p:bg>
      <p:bgPr>
        <a:solidFill>
          <a:srgbClr val="12183F"/>
        </a:solidFill>
        <a:effectLst/>
      </p:bgPr>
    </p:bg>
    <p:spTree>
      <p:nvGrpSpPr>
        <p:cNvPr id="1"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a:stretch/>
        </p:blipFill>
        <p:spPr>
          <a:xfrm>
            <a:off x="1066800" y="693967"/>
            <a:ext cx="3429000" cy="879016"/>
          </a:xfrm>
          <a:prstGeom prst="rect">
            <a:avLst/>
          </a:prstGeom>
          <a:noFill/>
          <a:ln>
            <a:noFill/>
          </a:ln>
        </p:spPr>
      </p:pic>
      <p:sp>
        <p:nvSpPr>
          <p:cNvPr id="289" name="Google Shape;289;p54"/>
          <p:cNvSpPr txBox="1">
            <a:spLocks noGrp="1"/>
          </p:cNvSpPr>
          <p:nvPr>
            <p:ph type="body" idx="1"/>
          </p:nvPr>
        </p:nvSpPr>
        <p:spPr>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0" name="Google Shape;290;p54"/>
          <p:cNvSpPr txBox="1">
            <a:spLocks noGrp="1"/>
          </p:cNvSpPr>
          <p:nvPr>
            <p:ph type="title"/>
          </p:nvPr>
        </p:nvSpPr>
        <p:spPr>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1" name="Google Shape;291;p54"/>
          <p:cNvSpPr txBox="1">
            <a:spLocks noGrp="1"/>
          </p:cNvSpPr>
          <p:nvPr>
            <p:ph type="body" idx="2"/>
          </p:nvPr>
        </p:nvSpPr>
        <p:spPr>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2" name="Google Shape;292;p54"/>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a:spLocks noGrp="1"/>
          </p:cNvSpPr>
          <p:nvPr>
            <p:ph type="body" idx="3"/>
          </p:nvPr>
        </p:nvSpPr>
        <p:spPr>
          <a:xfrm>
            <a:off x="10001250" y="3857625"/>
            <a:ext cx="714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5" name="Google Shape;295;p54"/>
          <p:cNvSpPr txBox="1">
            <a:spLocks noGrp="1"/>
          </p:cNvSpPr>
          <p:nvPr>
            <p:ph type="body" idx="4"/>
          </p:nvPr>
        </p:nvSpPr>
        <p:spPr>
          <a:xfrm>
            <a:off x="1000125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6" name="Google Shape;296;p54"/>
          <p:cNvSpPr txBox="1">
            <a:spLocks noGrp="1"/>
          </p:cNvSpPr>
          <p:nvPr>
            <p:ph type="body" idx="5"/>
          </p:nvPr>
        </p:nvSpPr>
        <p:spPr>
          <a:xfrm>
            <a:off x="1714500" y="3857625"/>
            <a:ext cx="7143750" cy="5905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7" name="Google Shape;297;p54"/>
          <p:cNvSpPr txBox="1">
            <a:spLocks noGrp="1"/>
          </p:cNvSpPr>
          <p:nvPr>
            <p:ph type="body" idx="6"/>
          </p:nvPr>
        </p:nvSpPr>
        <p:spPr>
          <a:xfrm>
            <a:off x="171450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8" name="Google Shape;298;p54"/>
          <p:cNvSpPr txBox="1">
            <a:spLocks noGrp="1"/>
          </p:cNvSpPr>
          <p:nvPr>
            <p:ph type="body" idx="7"/>
          </p:nvPr>
        </p:nvSpPr>
        <p:spPr>
          <a:xfrm>
            <a:off x="1000125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299" name="Google Shape;299;p54"/>
          <p:cNvSpPr txBox="1">
            <a:spLocks noGrp="1"/>
          </p:cNvSpPr>
          <p:nvPr>
            <p:ph type="body" idx="8"/>
          </p:nvPr>
        </p:nvSpPr>
        <p:spPr>
          <a:xfrm>
            <a:off x="171450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فارغة داكنة">
  <p:cSld name="فارغة داكنة">
    <p:bg>
      <p:bgPr>
        <a:solidFill>
          <a:srgbClr val="12183F"/>
        </a:solidFill>
        <a:effectLst/>
      </p:bgPr>
    </p:bg>
    <p:spTree>
      <p:nvGrpSpPr>
        <p:cNvPr id="1"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sym typeface="Readex Pro"/>
              </a:defRPr>
            </a:lvl1pPr>
            <a:lvl2pPr marL="0" marR="0" lvl="1" indent="0" algn="l" rtl="0">
              <a:spcBef>
                <a:spcPts val="0"/>
              </a:spcBef>
              <a:buNone/>
              <a:defRPr sz="1800" b="0">
                <a:solidFill>
                  <a:srgbClr val="8E99CC"/>
                </a:solidFill>
                <a:latin typeface="Readex Pro"/>
                <a:ea typeface="Readex Pro"/>
                <a:cs typeface="Readex Pro"/>
                <a:sym typeface="Readex Pro"/>
              </a:defRPr>
            </a:lvl2pPr>
            <a:lvl3pPr marL="0" marR="0" lvl="2" indent="0" algn="l" rtl="0">
              <a:spcBef>
                <a:spcPts val="0"/>
              </a:spcBef>
              <a:buNone/>
              <a:defRPr sz="1800" b="0">
                <a:solidFill>
                  <a:srgbClr val="8E99CC"/>
                </a:solidFill>
                <a:latin typeface="Readex Pro"/>
                <a:ea typeface="Readex Pro"/>
                <a:cs typeface="Readex Pro"/>
                <a:sym typeface="Readex Pro"/>
              </a:defRPr>
            </a:lvl3pPr>
            <a:lvl4pPr marL="0" marR="0" lvl="3" indent="0" algn="l" rtl="0">
              <a:spcBef>
                <a:spcPts val="0"/>
              </a:spcBef>
              <a:buNone/>
              <a:defRPr sz="1800" b="0">
                <a:solidFill>
                  <a:srgbClr val="8E99CC"/>
                </a:solidFill>
                <a:latin typeface="Readex Pro"/>
                <a:ea typeface="Readex Pro"/>
                <a:cs typeface="Readex Pro"/>
                <a:sym typeface="Readex Pro"/>
              </a:defRPr>
            </a:lvl4pPr>
            <a:lvl5pPr marL="0" marR="0" lvl="4" indent="0" algn="l" rtl="0">
              <a:spcBef>
                <a:spcPts val="0"/>
              </a:spcBef>
              <a:buNone/>
              <a:defRPr sz="1800" b="0">
                <a:solidFill>
                  <a:srgbClr val="8E99CC"/>
                </a:solidFill>
                <a:latin typeface="Readex Pro"/>
                <a:ea typeface="Readex Pro"/>
                <a:cs typeface="Readex Pro"/>
                <a:sym typeface="Readex Pro"/>
              </a:defRPr>
            </a:lvl5pPr>
            <a:lvl6pPr marL="0" marR="0" lvl="5" indent="0" algn="l" rtl="0">
              <a:spcBef>
                <a:spcPts val="0"/>
              </a:spcBef>
              <a:buNone/>
              <a:defRPr sz="1800" b="0">
                <a:solidFill>
                  <a:srgbClr val="8E99CC"/>
                </a:solidFill>
                <a:latin typeface="Readex Pro"/>
                <a:ea typeface="Readex Pro"/>
                <a:cs typeface="Readex Pro"/>
                <a:sym typeface="Readex Pro"/>
              </a:defRPr>
            </a:lvl6pPr>
            <a:lvl7pPr marL="0" marR="0" lvl="6" indent="0" algn="l" rtl="0">
              <a:spcBef>
                <a:spcPts val="0"/>
              </a:spcBef>
              <a:buNone/>
              <a:defRPr sz="1800" b="0">
                <a:solidFill>
                  <a:srgbClr val="8E99CC"/>
                </a:solidFill>
                <a:latin typeface="Readex Pro"/>
                <a:ea typeface="Readex Pro"/>
                <a:cs typeface="Readex Pro"/>
                <a:sym typeface="Readex Pro"/>
              </a:defRPr>
            </a:lvl7pPr>
            <a:lvl8pPr marL="0" marR="0" lvl="7" indent="0" algn="l" rtl="0">
              <a:spcBef>
                <a:spcPts val="0"/>
              </a:spcBef>
              <a:buNone/>
              <a:defRPr sz="1800" b="0">
                <a:solidFill>
                  <a:srgbClr val="8E99CC"/>
                </a:solidFill>
                <a:latin typeface="Readex Pro"/>
                <a:ea typeface="Readex Pro"/>
                <a:cs typeface="Readex Pro"/>
                <a:sym typeface="Readex Pro"/>
              </a:defRPr>
            </a:lvl8pPr>
            <a:lvl9pPr marL="0" marR="0" lvl="8" indent="0" algn="l" rtl="0">
              <a:spcBef>
                <a:spcPts val="0"/>
              </a:spcBef>
              <a:buNone/>
              <a:defRPr sz="1800" b="0">
                <a:solidFill>
                  <a:srgbClr val="8E99CC"/>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فارغة فاتحة">
  <p:cSld name="فارغة فاتحة">
    <p:bg>
      <p:bgPr>
        <a:solidFill>
          <a:srgbClr val="F2F4FF"/>
        </a:solidFill>
        <a:effectLst/>
      </p:bgPr>
    </p:bg>
    <p:spTree>
      <p:nvGrpSpPr>
        <p:cNvPr id="1"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pPr>
            <a:r>
              <a:rPr lang="ar-SA" sz="1350" b="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sym typeface="Readex Pro"/>
              </a:defRPr>
            </a:lvl1pPr>
            <a:lvl2pPr marL="0" marR="0" lvl="1" indent="0" algn="l" rtl="0">
              <a:spcBef>
                <a:spcPts val="0"/>
              </a:spcBef>
              <a:buNone/>
              <a:defRPr sz="1800" b="0">
                <a:solidFill>
                  <a:srgbClr val="4A5590"/>
                </a:solidFill>
                <a:latin typeface="Readex Pro"/>
                <a:ea typeface="Readex Pro"/>
                <a:cs typeface="Readex Pro"/>
                <a:sym typeface="Readex Pro"/>
              </a:defRPr>
            </a:lvl2pPr>
            <a:lvl3pPr marL="0" marR="0" lvl="2" indent="0" algn="l" rtl="0">
              <a:spcBef>
                <a:spcPts val="0"/>
              </a:spcBef>
              <a:buNone/>
              <a:defRPr sz="1800" b="0">
                <a:solidFill>
                  <a:srgbClr val="4A5590"/>
                </a:solidFill>
                <a:latin typeface="Readex Pro"/>
                <a:ea typeface="Readex Pro"/>
                <a:cs typeface="Readex Pro"/>
                <a:sym typeface="Readex Pro"/>
              </a:defRPr>
            </a:lvl3pPr>
            <a:lvl4pPr marL="0" marR="0" lvl="3" indent="0" algn="l" rtl="0">
              <a:spcBef>
                <a:spcPts val="0"/>
              </a:spcBef>
              <a:buNone/>
              <a:defRPr sz="1800" b="0">
                <a:solidFill>
                  <a:srgbClr val="4A5590"/>
                </a:solidFill>
                <a:latin typeface="Readex Pro"/>
                <a:ea typeface="Readex Pro"/>
                <a:cs typeface="Readex Pro"/>
                <a:sym typeface="Readex Pro"/>
              </a:defRPr>
            </a:lvl4pPr>
            <a:lvl5pPr marL="0" marR="0" lvl="4" indent="0" algn="l" rtl="0">
              <a:spcBef>
                <a:spcPts val="0"/>
              </a:spcBef>
              <a:buNone/>
              <a:defRPr sz="1800" b="0">
                <a:solidFill>
                  <a:srgbClr val="4A5590"/>
                </a:solidFill>
                <a:latin typeface="Readex Pro"/>
                <a:ea typeface="Readex Pro"/>
                <a:cs typeface="Readex Pro"/>
                <a:sym typeface="Readex Pro"/>
              </a:defRPr>
            </a:lvl5pPr>
            <a:lvl6pPr marL="0" marR="0" lvl="5" indent="0" algn="l" rtl="0">
              <a:spcBef>
                <a:spcPts val="0"/>
              </a:spcBef>
              <a:buNone/>
              <a:defRPr sz="1800" b="0">
                <a:solidFill>
                  <a:srgbClr val="4A5590"/>
                </a:solidFill>
                <a:latin typeface="Readex Pro"/>
                <a:ea typeface="Readex Pro"/>
                <a:cs typeface="Readex Pro"/>
                <a:sym typeface="Readex Pro"/>
              </a:defRPr>
            </a:lvl6pPr>
            <a:lvl7pPr marL="0" marR="0" lvl="6" indent="0" algn="l" rtl="0">
              <a:spcBef>
                <a:spcPts val="0"/>
              </a:spcBef>
              <a:buNone/>
              <a:defRPr sz="1800" b="0">
                <a:solidFill>
                  <a:srgbClr val="4A5590"/>
                </a:solidFill>
                <a:latin typeface="Readex Pro"/>
                <a:ea typeface="Readex Pro"/>
                <a:cs typeface="Readex Pro"/>
                <a:sym typeface="Readex Pro"/>
              </a:defRPr>
            </a:lvl7pPr>
            <a:lvl8pPr marL="0" marR="0" lvl="7" indent="0" algn="l" rtl="0">
              <a:spcBef>
                <a:spcPts val="0"/>
              </a:spcBef>
              <a:buNone/>
              <a:defRPr sz="1800" b="0">
                <a:solidFill>
                  <a:srgbClr val="4A5590"/>
                </a:solidFill>
                <a:latin typeface="Readex Pro"/>
                <a:ea typeface="Readex Pro"/>
                <a:cs typeface="Readex Pro"/>
                <a:sym typeface="Readex Pro"/>
              </a:defRPr>
            </a:lvl8pPr>
            <a:lvl9pPr marL="0" marR="0" lvl="8" indent="0" algn="l" rtl="0">
              <a:spcBef>
                <a:spcPts val="0"/>
              </a:spcBef>
              <a:buNone/>
              <a:defRPr sz="1800" b="0">
                <a:solidFill>
                  <a:srgbClr val="4A5590"/>
                </a:solidFill>
                <a:latin typeface="Readex Pro"/>
                <a:ea typeface="Readex Pro"/>
                <a:cs typeface="Readex Pro"/>
                <a:sym typeface="Readex Pro"/>
              </a:defRPr>
            </a:lvl9pPr>
          </a:lstStyle>
          <a:p>
            <a:pPr marL="0" lvl="0" indent="0" algn="l" rtl="0">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ختام العرض">
  <p:cSld name="ختام العرض">
    <p:bg>
      <p:bgPr>
        <a:solidFill>
          <a:srgbClr val="12183F"/>
        </a:solidFill>
        <a:effectLst/>
      </p:bgPr>
    </p:bg>
    <p:spTree>
      <p:nvGrpSpPr>
        <p:cNvPr id="1"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l="4300" t="16000" r="69700" b="16000"/>
          <a:stretch/>
        </p:blipFill>
        <p:spPr>
          <a:xfrm>
            <a:off x="4857750" y="8629650"/>
            <a:ext cx="3810000" cy="1476375"/>
          </a:xfrm>
          <a:prstGeom prst="rect">
            <a:avLst/>
          </a:prstGeom>
          <a:noFill/>
          <a:ln>
            <a:noFill/>
          </a:ln>
        </p:spPr>
      </p:pic>
      <p:sp>
        <p:nvSpPr>
          <p:cNvPr id="315" name="Google Shape;315;p57"/>
          <p:cNvSpPr txBox="1">
            <a:spLocks noGrp="1"/>
          </p:cNvSpPr>
          <p:nvPr>
            <p:ph type="title"/>
          </p:nvPr>
        </p:nvSpPr>
        <p:spPr>
          <a:xfrm>
            <a:off x="3810000" y="4048125"/>
            <a:ext cx="10668000" cy="1428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6" name="Google Shape;316;p57"/>
          <p:cNvSpPr txBox="1">
            <a:spLocks noGrp="1"/>
          </p:cNvSpPr>
          <p:nvPr>
            <p:ph type="body" idx="1"/>
          </p:nvPr>
        </p:nvSpPr>
        <p:spPr>
          <a:xfrm>
            <a:off x="3810000" y="5905500"/>
            <a:ext cx="1066800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
        <p:nvSpPr>
          <p:cNvPr id="317" name="Google Shape;317;p57"/>
          <p:cNvSpPr txBox="1">
            <a:spLocks noGrp="1"/>
          </p:cNvSpPr>
          <p:nvPr>
            <p:ph type="body" idx="2"/>
          </p:nvPr>
        </p:nvSpPr>
        <p:spPr>
          <a:xfrm>
            <a:off x="3810000" y="7000875"/>
            <a:ext cx="10668000" cy="666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sym typeface="Readex Pro"/>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3.xml"/><Relationship Id="rId5" Type="http://schemas.openxmlformats.org/officeDocument/2006/relationships/image" Target="../media/image1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4.xml"/><Relationship Id="rId5" Type="http://schemas.openxmlformats.org/officeDocument/2006/relationships/image" Target="../media/image14.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3.xml"/><Relationship Id="rId5" Type="http://schemas.openxmlformats.org/officeDocument/2006/relationships/image" Target="../media/image1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4.xml"/><Relationship Id="rId5" Type="http://schemas.openxmlformats.org/officeDocument/2006/relationships/image" Target="../media/image1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4.xml"/><Relationship Id="rId5" Type="http://schemas.openxmlformats.org/officeDocument/2006/relationships/image" Target="../media/image19.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3.xml"/><Relationship Id="rId5" Type="http://schemas.openxmlformats.org/officeDocument/2006/relationships/image" Target="../media/image2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4.xml"/><Relationship Id="rId5" Type="http://schemas.openxmlformats.org/officeDocument/2006/relationships/chart" Target="../charts/char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3.xml"/><Relationship Id="rId5" Type="http://schemas.openxmlformats.org/officeDocument/2006/relationships/image" Target="../media/image25.jp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7.png"/><Relationship Id="rId7" Type="http://schemas.openxmlformats.org/officeDocument/2006/relationships/image" Target="../media/image28.jpg"/><Relationship Id="rId2" Type="http://schemas.openxmlformats.org/officeDocument/2006/relationships/notesSlide" Target="../notesSlides/notesSlide28.xml"/><Relationship Id="rId1" Type="http://schemas.openxmlformats.org/officeDocument/2006/relationships/slideLayout" Target="../slideLayouts/slideLayout24.xml"/><Relationship Id="rId6" Type="http://schemas.openxmlformats.org/officeDocument/2006/relationships/image" Target="../media/image27.jp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12.png"/><Relationship Id="rId9" Type="http://schemas.openxmlformats.org/officeDocument/2006/relationships/image" Target="../media/image30.jp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3.xml"/><Relationship Id="rId6" Type="http://schemas.openxmlformats.org/officeDocument/2006/relationships/image" Target="../media/image32.png"/><Relationship Id="rId5" Type="http://schemas.openxmlformats.org/officeDocument/2006/relationships/image" Target="../media/image22.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3.xml"/><Relationship Id="rId5" Type="http://schemas.openxmlformats.org/officeDocument/2006/relationships/image" Target="../media/image3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24.xml"/><Relationship Id="rId5" Type="http://schemas.openxmlformats.org/officeDocument/2006/relationships/image" Target="../media/image34.jp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6.png"/><Relationship Id="rId7"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5.xml"/><Relationship Id="rId6" Type="http://schemas.openxmlformats.org/officeDocument/2006/relationships/image" Target="../media/image35.png"/><Relationship Id="rId5" Type="http://schemas.openxmlformats.org/officeDocument/2006/relationships/image" Target="../media/image3.png"/><Relationship Id="rId10" Type="http://schemas.openxmlformats.org/officeDocument/2006/relationships/image" Target="../media/image39.png"/><Relationship Id="rId4" Type="http://schemas.openxmlformats.org/officeDocument/2006/relationships/image" Target="../media/image2.png"/><Relationship Id="rId9"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a:spLocks noGrp="1"/>
          </p:cNvSpPr>
          <p:nvPr>
            <p:ph type="title"/>
          </p:nvPr>
        </p:nvSpPr>
        <p:spPr>
          <a:xfrm>
            <a:off x="7791450" y="3524250"/>
            <a:ext cx="9048900" cy="1333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450"/>
              <a:buNone/>
            </a:pPr>
            <a:r>
              <a:rPr lang="ar-SA" sz="6450" b="1">
                <a:solidFill>
                  <a:srgbClr val="F2F4FF"/>
                </a:solidFill>
                <a:latin typeface="Alexandria"/>
                <a:ea typeface="Alexandria"/>
                <a:cs typeface="Alexandria"/>
                <a:sym typeface="Readex Pro"/>
              </a:rPr>
              <a:t>ثبت</a:t>
            </a:r>
            <a:endParaRPr/>
          </a:p>
        </p:txBody>
      </p:sp>
      <p:sp>
        <p:nvSpPr>
          <p:cNvPr id="487" name="Google Shape;487;p8"/>
          <p:cNvSpPr txBox="1">
            <a:spLocks noGrp="1"/>
          </p:cNvSpPr>
          <p:nvPr>
            <p:ph type="body" idx="1"/>
          </p:nvPr>
        </p:nvSpPr>
        <p:spPr>
          <a:xfrm>
            <a:off x="7791450" y="5334000"/>
            <a:ext cx="9048900" cy="16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3300"/>
              <a:buNone/>
            </a:pPr>
            <a:r>
              <a:rPr lang="ar-SA" sz="3300" b="0">
                <a:solidFill>
                  <a:srgbClr val="2EF2C2"/>
                </a:solidFill>
                <a:latin typeface="Alexandria"/>
                <a:ea typeface="Alexandria"/>
                <a:cs typeface="Alexandria"/>
                <a:sym typeface="Readex Pro"/>
              </a:rPr>
              <a:t>وصلتك رسالة؟ ثبتها.</a:t>
            </a:r>
            <a:endParaRPr/>
          </a:p>
          <a:p>
            <a:pPr marL="0" lvl="0" indent="0" algn="r" rtl="1">
              <a:lnSpc>
                <a:spcPct val="100000"/>
              </a:lnSpc>
              <a:spcBef>
                <a:spcPts val="0"/>
              </a:spcBef>
              <a:spcAft>
                <a:spcPts val="0"/>
              </a:spcAft>
              <a:buSzPts val="3300"/>
              <a:buNone/>
            </a:pPr>
            <a:r>
              <a:rPr lang="ar-SA" sz="3300" b="0">
                <a:solidFill>
                  <a:srgbClr val="2EF2C2"/>
                </a:solidFill>
                <a:latin typeface="Alexandria"/>
                <a:ea typeface="Alexandria"/>
                <a:cs typeface="Alexandria"/>
              </a:rPr>
              <a:t>أداة ذكاء اصطناعي تتحقق من الآيات والأحاديث في الرسائل المتداولة،</a:t>
            </a:r>
          </a:p>
          <a:p>
            <a:pPr marL="0" lvl="0" indent="0" algn="r" rtl="1">
              <a:lnSpc>
                <a:spcPct val="100000"/>
              </a:lnSpc>
              <a:spcBef>
                <a:spcPts val="0"/>
              </a:spcBef>
              <a:spcAft>
                <a:spcPts val="0"/>
              </a:spcAft>
              <a:buSzPts val="3300"/>
              <a:buNone/>
            </a:pPr>
            <a:r>
              <a:rPr lang="ar-SA" sz="3300" b="0">
                <a:solidFill>
                  <a:srgbClr val="2EF2C2"/>
                </a:solidFill>
                <a:latin typeface="Alexandria"/>
                <a:ea typeface="Alexandria"/>
                <a:cs typeface="Alexandria"/>
              </a:rPr>
              <a:t>وتعيد كل نص إلى مصدره قبل أن ينشر.</a:t>
            </a: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spcFirstLastPara="1" wrap="square" lIns="91425" tIns="91425" rIns="91425" bIns="91425" anchor="ctr" anchorCtr="0">
            <a:noAutofit/>
          </a:bodyPr>
          <a:lstStyle/>
          <a:p>
            <a:pPr marL="0" lvl="0" indent="0" algn="r" rtl="1">
              <a:lnSpc>
                <a:spcPct val="115000"/>
              </a:lnSpc>
              <a:spcBef>
                <a:spcPts val="0"/>
              </a:spcBef>
              <a:spcAft>
                <a:spcPts val="0"/>
              </a:spcAft>
              <a:buNone/>
            </a:pPr>
            <a:endParaRPr/>
          </a:p>
        </p:txBody>
      </p:sp>
      <p:sp>
        <p:nvSpPr>
          <p:cNvPr id="489" name="Google Shape;489;p8"/>
          <p:cNvSpPr/>
          <p:nvPr/>
        </p:nvSpPr>
        <p:spPr>
          <a:xfrm>
            <a:off x="14472130" y="9120188"/>
            <a:ext cx="2358000" cy="347700"/>
          </a:xfrm>
          <a:prstGeom prst="rect">
            <a:avLst/>
          </a:prstGeom>
          <a:noFill/>
          <a:ln>
            <a:noFill/>
          </a:ln>
        </p:spPr>
        <p:txBody>
          <a:bodyPr spcFirstLastPara="1" wrap="square" lIns="25400" tIns="25400" rIns="25400" bIns="25400" anchor="ctr" anchorCtr="0">
            <a:noAutofit/>
          </a:bodyPr>
          <a:lstStyle/>
          <a:p>
            <a:pPr marL="0" marR="0" lvl="0" indent="0" algn="r" rtl="1">
              <a:lnSpc>
                <a:spcPct val="115000"/>
              </a:lnSpc>
              <a:spcBef>
                <a:spcPts val="0"/>
              </a:spcBef>
              <a:spcAft>
                <a:spcPts val="0"/>
              </a:spcAft>
              <a:buClr>
                <a:srgbClr val="8E99CC"/>
              </a:buClr>
              <a:buSzPts val="1950"/>
              <a:buFont typeface="Readex Pro"/>
              <a:buNone/>
            </a:pPr>
            <a:r>
              <a:rPr lang="ar-SA" sz="1950">
                <a:solidFill>
                  <a:srgbClr val="8E99CC"/>
                </a:solidFill>
                <a:latin typeface="Alexandria"/>
                <a:ea typeface="Alexandria"/>
                <a:cs typeface="Alexandria"/>
                <a:sym typeface="Readex Pro Light"/>
              </a:rPr>
              <a:t>يوسف قوادرية</a:t>
            </a:r>
            <a:endParaRPr sz="1950" i="0" u="none" strike="noStrike" cap="non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spcFirstLastPara="1" wrap="square" lIns="25400" tIns="25400" rIns="25400" bIns="25400" anchor="ctr" anchorCtr="0">
            <a:noAutofit/>
          </a:bodyPr>
          <a:lstStyle/>
          <a:p>
            <a:pPr marL="0" marR="0" lvl="0" indent="0" algn="l" rtl="1">
              <a:lnSpc>
                <a:spcPct val="115000"/>
              </a:lnSpc>
              <a:spcBef>
                <a:spcPts val="0"/>
              </a:spcBef>
              <a:spcAft>
                <a:spcPts val="0"/>
              </a:spcAft>
              <a:buClr>
                <a:srgbClr val="8E99CC"/>
              </a:buClr>
              <a:buSzPts val="1950"/>
              <a:buFont typeface="Readex Pro"/>
              <a:buNone/>
            </a:pPr>
            <a:r>
              <a:rPr lang="ar-SA" sz="1950">
                <a:solidFill>
                  <a:srgbClr val="8E99CC"/>
                </a:solidFill>
                <a:latin typeface="Alexandria"/>
                <a:ea typeface="Alexandria"/>
                <a:cs typeface="Alexandria"/>
                <a:sym typeface="Readex Pro Light"/>
              </a:rPr>
              <a:t>6 أكتوبر 2026</a:t>
            </a:r>
            <a:endParaRPr sz="1950" i="0" u="none" strike="noStrike" cap="non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a:stretch/>
        </p:blipFill>
        <p:spPr>
          <a:xfrm>
            <a:off x="14954250" y="840995"/>
            <a:ext cx="2190750" cy="1385061"/>
          </a:xfrm>
          <a:prstGeom prst="rect">
            <a:avLst/>
          </a:prstGeom>
          <a:noFill/>
          <a:ln>
            <a:noFill/>
          </a:ln>
        </p:spPr>
      </p:pic>
      <p:pic>
        <p:nvPicPr>
          <p:cNvPr id="493" name="Picture 492" descr="icon-512.png"/>
          <p:cNvPicPr>
            <a:picLocks noChangeAspect="1"/>
          </p:cNvPicPr>
          <p:nvPr/>
        </p:nvPicPr>
        <p:blipFill>
          <a:blip r:embed="rId7"/>
          <a:stretch>
            <a:fillRect/>
          </a:stretch>
        </p:blipFill>
        <p:spPr>
          <a:xfrm>
            <a:off x="15544800" y="2423160"/>
            <a:ext cx="1097280" cy="1097280"/>
          </a:xfrm>
          <a:prstGeom prst="roundRect">
            <a:avLst>
              <a:gd name="adj" fmla="val 23333"/>
            </a:avLst>
          </a:prstGeom>
          <a:effectLst>
            <a:outerShdw blurRad="380000" dist="120000" dir="5400000" algn="t"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محتويات العرض</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محتويات العرض</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ستة أقسام، من المشكلة إلى الاستمرار</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1996928" y="3383280"/>
            <a:ext cx="4846320" cy="2514600"/>
          </a:xfrm>
          <a:prstGeom prst="roundRect">
            <a:avLst>
              <a:gd name="adj" fmla="val 10909"/>
            </a:avLst>
          </a:prstGeom>
          <a:solidFill>
            <a:srgbClr val="1C2558"/>
          </a:solidFill>
          <a:ln>
            <a:noFill/>
          </a:ln>
        </p:spPr>
        <p:txBody>
          <a:bodyPr rtlCol="0" anchor="ctr"/>
          <a:lstStyle/>
          <a:p>
            <a:pPr algn="ctr"/>
            <a:endParaRPr/>
          </a:p>
        </p:txBody>
      </p:sp>
      <p:sp>
        <p:nvSpPr>
          <p:cNvPr id="906" name="TextBox 905"/>
          <p:cNvSpPr txBox="1"/>
          <p:nvPr/>
        </p:nvSpPr>
        <p:spPr>
          <a:xfrm>
            <a:off x="12316968" y="3657600"/>
            <a:ext cx="4206240" cy="822960"/>
          </a:xfrm>
          <a:prstGeom prst="rect">
            <a:avLst/>
          </a:prstGeom>
          <a:noFill/>
        </p:spPr>
        <p:txBody>
          <a:bodyPr wrap="square" lIns="0" tIns="0" rIns="0" bIns="0" anchor="t">
            <a:spAutoFit/>
          </a:bodyPr>
          <a:lstStyle/>
          <a:p>
            <a:pPr algn="r" rtl="1"/>
            <a:r>
              <a:rPr lang="en-US" sz="4400" b="1">
                <a:solidFill>
                  <a:srgbClr val="2EF2C2"/>
                </a:solidFill>
                <a:latin typeface="Alexandria"/>
                <a:ea typeface="Alexandria"/>
                <a:cs typeface="Alexandria"/>
              </a:rPr>
              <a:t>01</a:t>
            </a:r>
          </a:p>
        </p:txBody>
      </p:sp>
      <p:sp>
        <p:nvSpPr>
          <p:cNvPr id="907" name="TextBox 906"/>
          <p:cNvSpPr txBox="1"/>
          <p:nvPr/>
        </p:nvSpPr>
        <p:spPr>
          <a:xfrm>
            <a:off x="12316968" y="4480560"/>
            <a:ext cx="4206240" cy="548640"/>
          </a:xfrm>
          <a:prstGeom prst="rect">
            <a:avLst/>
          </a:prstGeom>
          <a:noFill/>
        </p:spPr>
        <p:txBody>
          <a:bodyPr wrap="square" lIns="0" tIns="0" rIns="0" bIns="0" anchor="t">
            <a:spAutoFit/>
          </a:bodyPr>
          <a:lstStyle/>
          <a:p>
            <a:pPr algn="r" rtl="1"/>
            <a:r>
              <a:rPr lang="ar-SA" sz="2600" b="1">
                <a:solidFill>
                  <a:srgbClr val="F2F4FF"/>
                </a:solidFill>
                <a:latin typeface="Alexandria"/>
                <a:ea typeface="Alexandria"/>
                <a:cs typeface="Alexandria"/>
              </a:rPr>
              <a:t>المشكلة</a:t>
            </a:r>
          </a:p>
        </p:txBody>
      </p:sp>
      <p:sp>
        <p:nvSpPr>
          <p:cNvPr id="908" name="TextBox 907"/>
          <p:cNvSpPr txBox="1"/>
          <p:nvPr/>
        </p:nvSpPr>
        <p:spPr>
          <a:xfrm>
            <a:off x="12316968" y="5074920"/>
            <a:ext cx="4206240" cy="640080"/>
          </a:xfrm>
          <a:prstGeom prst="rect">
            <a:avLst/>
          </a:prstGeom>
          <a:noFill/>
        </p:spPr>
        <p:txBody>
          <a:bodyPr wrap="square" lIns="0" tIns="0" rIns="0" bIns="0" anchor="t">
            <a:spAutoFit/>
          </a:bodyPr>
          <a:lstStyle/>
          <a:p>
            <a:pPr algn="r" rtl="1"/>
            <a:r>
              <a:rPr lang="ar-SA" sz="1700" b="0">
                <a:solidFill>
                  <a:srgbClr val="AEB4DA"/>
                </a:solidFill>
                <a:latin typeface="Alexandria"/>
                <a:ea typeface="Alexandria"/>
                <a:cs typeface="Alexandria"/>
              </a:rPr>
              <a:t>رسائل دينية تنتشر أسرع من التحقق منها</a:t>
            </a:r>
          </a:p>
        </p:txBody>
      </p:sp>
      <p:sp>
        <p:nvSpPr>
          <p:cNvPr id="909" name="Rounded Rectangle 908"/>
          <p:cNvSpPr/>
          <p:nvPr/>
        </p:nvSpPr>
        <p:spPr>
          <a:xfrm>
            <a:off x="7013448" y="3383280"/>
            <a:ext cx="4846320" cy="2514600"/>
          </a:xfrm>
          <a:prstGeom prst="roundRect">
            <a:avLst>
              <a:gd name="adj" fmla="val 10909"/>
            </a:avLst>
          </a:prstGeom>
          <a:solidFill>
            <a:srgbClr val="1C2558"/>
          </a:solidFill>
          <a:ln>
            <a:noFill/>
          </a:ln>
        </p:spPr>
        <p:txBody>
          <a:bodyPr rtlCol="0" anchor="ctr"/>
          <a:lstStyle/>
          <a:p>
            <a:pPr algn="ctr"/>
            <a:endParaRPr/>
          </a:p>
        </p:txBody>
      </p:sp>
      <p:sp>
        <p:nvSpPr>
          <p:cNvPr id="910" name="TextBox 909"/>
          <p:cNvSpPr txBox="1"/>
          <p:nvPr/>
        </p:nvSpPr>
        <p:spPr>
          <a:xfrm>
            <a:off x="7333488" y="3657600"/>
            <a:ext cx="4206240" cy="822960"/>
          </a:xfrm>
          <a:prstGeom prst="rect">
            <a:avLst/>
          </a:prstGeom>
          <a:noFill/>
        </p:spPr>
        <p:txBody>
          <a:bodyPr wrap="square" lIns="0" tIns="0" rIns="0" bIns="0" anchor="t">
            <a:spAutoFit/>
          </a:bodyPr>
          <a:lstStyle/>
          <a:p>
            <a:pPr algn="r" rtl="1"/>
            <a:r>
              <a:rPr lang="en-US" sz="4400" b="1">
                <a:solidFill>
                  <a:srgbClr val="2EF2C2"/>
                </a:solidFill>
                <a:latin typeface="Alexandria"/>
                <a:ea typeface="Alexandria"/>
                <a:cs typeface="Alexandria"/>
              </a:rPr>
              <a:t>02</a:t>
            </a:r>
          </a:p>
        </p:txBody>
      </p:sp>
      <p:sp>
        <p:nvSpPr>
          <p:cNvPr id="911" name="TextBox 910"/>
          <p:cNvSpPr txBox="1"/>
          <p:nvPr/>
        </p:nvSpPr>
        <p:spPr>
          <a:xfrm>
            <a:off x="7333488" y="4480560"/>
            <a:ext cx="4206240" cy="548640"/>
          </a:xfrm>
          <a:prstGeom prst="rect">
            <a:avLst/>
          </a:prstGeom>
          <a:noFill/>
        </p:spPr>
        <p:txBody>
          <a:bodyPr wrap="square" lIns="0" tIns="0" rIns="0" bIns="0" anchor="t">
            <a:spAutoFit/>
          </a:bodyPr>
          <a:lstStyle/>
          <a:p>
            <a:pPr algn="r" rtl="1"/>
            <a:r>
              <a:rPr lang="ar-SA" sz="2600" b="1">
                <a:solidFill>
                  <a:srgbClr val="F2F4FF"/>
                </a:solidFill>
                <a:latin typeface="Alexandria"/>
                <a:ea typeface="Alexandria"/>
                <a:cs typeface="Alexandria"/>
              </a:rPr>
              <a:t>الحل</a:t>
            </a:r>
          </a:p>
        </p:txBody>
      </p:sp>
      <p:sp>
        <p:nvSpPr>
          <p:cNvPr id="912" name="TextBox 911"/>
          <p:cNvSpPr txBox="1"/>
          <p:nvPr/>
        </p:nvSpPr>
        <p:spPr>
          <a:xfrm>
            <a:off x="7333488" y="5074920"/>
            <a:ext cx="4206240" cy="640080"/>
          </a:xfrm>
          <a:prstGeom prst="rect">
            <a:avLst/>
          </a:prstGeom>
          <a:noFill/>
        </p:spPr>
        <p:txBody>
          <a:bodyPr wrap="square" lIns="0" tIns="0" rIns="0" bIns="0" anchor="t">
            <a:spAutoFit/>
          </a:bodyPr>
          <a:lstStyle/>
          <a:p>
            <a:pPr algn="r" rtl="1"/>
            <a:r>
              <a:rPr lang="ar-SA" sz="1700" b="0">
                <a:solidFill>
                  <a:srgbClr val="AEB4DA"/>
                </a:solidFill>
                <a:latin typeface="Alexandria"/>
                <a:ea typeface="Alexandria"/>
                <a:cs typeface="Alexandria"/>
              </a:rPr>
              <a:t>ثبت على الحاسوب والجوال</a:t>
            </a:r>
          </a:p>
        </p:txBody>
      </p:sp>
      <p:sp>
        <p:nvSpPr>
          <p:cNvPr id="913" name="Rounded Rectangle 912"/>
          <p:cNvSpPr/>
          <p:nvPr/>
        </p:nvSpPr>
        <p:spPr>
          <a:xfrm>
            <a:off x="2029968" y="3383280"/>
            <a:ext cx="4846320" cy="2514600"/>
          </a:xfrm>
          <a:prstGeom prst="roundRect">
            <a:avLst>
              <a:gd name="adj" fmla="val 10909"/>
            </a:avLst>
          </a:prstGeom>
          <a:solidFill>
            <a:srgbClr val="1C2558"/>
          </a:solidFill>
          <a:ln>
            <a:noFill/>
          </a:ln>
        </p:spPr>
        <p:txBody>
          <a:bodyPr rtlCol="0" anchor="ctr"/>
          <a:lstStyle/>
          <a:p>
            <a:pPr algn="ctr"/>
            <a:endParaRPr/>
          </a:p>
        </p:txBody>
      </p:sp>
      <p:sp>
        <p:nvSpPr>
          <p:cNvPr id="914" name="TextBox 913"/>
          <p:cNvSpPr txBox="1"/>
          <p:nvPr/>
        </p:nvSpPr>
        <p:spPr>
          <a:xfrm>
            <a:off x="2350008" y="3657600"/>
            <a:ext cx="4206240" cy="822960"/>
          </a:xfrm>
          <a:prstGeom prst="rect">
            <a:avLst/>
          </a:prstGeom>
          <a:noFill/>
        </p:spPr>
        <p:txBody>
          <a:bodyPr wrap="square" lIns="0" tIns="0" rIns="0" bIns="0" anchor="t">
            <a:spAutoFit/>
          </a:bodyPr>
          <a:lstStyle/>
          <a:p>
            <a:pPr algn="r" rtl="1"/>
            <a:r>
              <a:rPr lang="en-US" sz="4400" b="1">
                <a:solidFill>
                  <a:srgbClr val="2EF2C2"/>
                </a:solidFill>
                <a:latin typeface="Alexandria"/>
                <a:ea typeface="Alexandria"/>
                <a:cs typeface="Alexandria"/>
              </a:rPr>
              <a:t>03</a:t>
            </a:r>
          </a:p>
        </p:txBody>
      </p:sp>
      <p:sp>
        <p:nvSpPr>
          <p:cNvPr id="915" name="TextBox 914"/>
          <p:cNvSpPr txBox="1"/>
          <p:nvPr/>
        </p:nvSpPr>
        <p:spPr>
          <a:xfrm>
            <a:off x="2350008" y="4480560"/>
            <a:ext cx="4206240" cy="548640"/>
          </a:xfrm>
          <a:prstGeom prst="rect">
            <a:avLst/>
          </a:prstGeom>
          <a:noFill/>
        </p:spPr>
        <p:txBody>
          <a:bodyPr wrap="square" lIns="0" tIns="0" rIns="0" bIns="0" anchor="t">
            <a:spAutoFit/>
          </a:bodyPr>
          <a:lstStyle/>
          <a:p>
            <a:pPr algn="r" rtl="1"/>
            <a:r>
              <a:rPr lang="ar-SA" sz="2600" b="1">
                <a:solidFill>
                  <a:srgbClr val="F2F4FF"/>
                </a:solidFill>
                <a:latin typeface="Alexandria"/>
                <a:ea typeface="Alexandria"/>
                <a:cs typeface="Alexandria"/>
              </a:rPr>
              <a:t>الذكاء الاصطناعي</a:t>
            </a:r>
          </a:p>
        </p:txBody>
      </p:sp>
      <p:sp>
        <p:nvSpPr>
          <p:cNvPr id="916" name="TextBox 915"/>
          <p:cNvSpPr txBox="1"/>
          <p:nvPr/>
        </p:nvSpPr>
        <p:spPr>
          <a:xfrm>
            <a:off x="2350008" y="5074920"/>
            <a:ext cx="4206240" cy="640080"/>
          </a:xfrm>
          <a:prstGeom prst="rect">
            <a:avLst/>
          </a:prstGeom>
          <a:noFill/>
        </p:spPr>
        <p:txBody>
          <a:bodyPr wrap="square" lIns="0" tIns="0" rIns="0" bIns="0" anchor="t">
            <a:spAutoFit/>
          </a:bodyPr>
          <a:lstStyle/>
          <a:p>
            <a:pPr algn="r" rtl="1"/>
            <a:r>
              <a:rPr lang="ar-SA" sz="1700" b="0">
                <a:solidFill>
                  <a:srgbClr val="AEB4DA"/>
                </a:solidFill>
                <a:latin typeface="Alexandria"/>
                <a:ea typeface="Alexandria"/>
                <a:cs typeface="Alexandria"/>
              </a:rPr>
              <a:t>تحقق يقوم على الاسترجاع… لا التوليد</a:t>
            </a:r>
          </a:p>
        </p:txBody>
      </p:sp>
      <p:sp>
        <p:nvSpPr>
          <p:cNvPr id="917" name="Rounded Rectangle 916"/>
          <p:cNvSpPr/>
          <p:nvPr/>
        </p:nvSpPr>
        <p:spPr>
          <a:xfrm>
            <a:off x="11996928" y="6217920"/>
            <a:ext cx="4846320" cy="2514600"/>
          </a:xfrm>
          <a:prstGeom prst="roundRect">
            <a:avLst>
              <a:gd name="adj" fmla="val 10909"/>
            </a:avLst>
          </a:prstGeom>
          <a:solidFill>
            <a:srgbClr val="1C2558"/>
          </a:solidFill>
          <a:ln>
            <a:noFill/>
          </a:ln>
        </p:spPr>
        <p:txBody>
          <a:bodyPr rtlCol="0" anchor="ctr"/>
          <a:lstStyle/>
          <a:p>
            <a:pPr algn="ctr"/>
            <a:endParaRPr/>
          </a:p>
        </p:txBody>
      </p:sp>
      <p:sp>
        <p:nvSpPr>
          <p:cNvPr id="918" name="TextBox 917"/>
          <p:cNvSpPr txBox="1"/>
          <p:nvPr/>
        </p:nvSpPr>
        <p:spPr>
          <a:xfrm>
            <a:off x="12316968" y="6492240"/>
            <a:ext cx="4206240" cy="822960"/>
          </a:xfrm>
          <a:prstGeom prst="rect">
            <a:avLst/>
          </a:prstGeom>
          <a:noFill/>
        </p:spPr>
        <p:txBody>
          <a:bodyPr wrap="square" lIns="0" tIns="0" rIns="0" bIns="0" anchor="t">
            <a:spAutoFit/>
          </a:bodyPr>
          <a:lstStyle/>
          <a:p>
            <a:pPr algn="r" rtl="1"/>
            <a:r>
              <a:rPr lang="en-US" sz="4400" b="1">
                <a:solidFill>
                  <a:srgbClr val="2EF2C2"/>
                </a:solidFill>
                <a:latin typeface="Alexandria"/>
                <a:ea typeface="Alexandria"/>
                <a:cs typeface="Alexandria"/>
              </a:rPr>
              <a:t>04</a:t>
            </a:r>
          </a:p>
        </p:txBody>
      </p:sp>
      <p:sp>
        <p:nvSpPr>
          <p:cNvPr id="919" name="TextBox 918"/>
          <p:cNvSpPr txBox="1"/>
          <p:nvPr/>
        </p:nvSpPr>
        <p:spPr>
          <a:xfrm>
            <a:off x="12316968" y="7315200"/>
            <a:ext cx="4206240" cy="548640"/>
          </a:xfrm>
          <a:prstGeom prst="rect">
            <a:avLst/>
          </a:prstGeom>
          <a:noFill/>
        </p:spPr>
        <p:txBody>
          <a:bodyPr wrap="square" lIns="0" tIns="0" rIns="0" bIns="0" anchor="t">
            <a:spAutoFit/>
          </a:bodyPr>
          <a:lstStyle/>
          <a:p>
            <a:pPr algn="r" rtl="1"/>
            <a:r>
              <a:rPr lang="ar-SA" sz="2600" b="1">
                <a:solidFill>
                  <a:srgbClr val="F2F4FF"/>
                </a:solidFill>
                <a:latin typeface="Alexandria"/>
                <a:ea typeface="Alexandria"/>
                <a:cs typeface="Alexandria"/>
              </a:rPr>
              <a:t>النتائج</a:t>
            </a:r>
          </a:p>
        </p:txBody>
      </p:sp>
      <p:sp>
        <p:nvSpPr>
          <p:cNvPr id="920" name="TextBox 919"/>
          <p:cNvSpPr txBox="1"/>
          <p:nvPr/>
        </p:nvSpPr>
        <p:spPr>
          <a:xfrm>
            <a:off x="12316968" y="7909560"/>
            <a:ext cx="4206240" cy="640080"/>
          </a:xfrm>
          <a:prstGeom prst="rect">
            <a:avLst/>
          </a:prstGeom>
          <a:noFill/>
        </p:spPr>
        <p:txBody>
          <a:bodyPr wrap="square" lIns="0" tIns="0" rIns="0" bIns="0" anchor="t">
            <a:spAutoFit/>
          </a:bodyPr>
          <a:lstStyle/>
          <a:p>
            <a:pPr algn="r" rtl="1"/>
            <a:r>
              <a:rPr lang="ar-SA" sz="1700" b="0">
                <a:solidFill>
                  <a:srgbClr val="AEB4DA"/>
                </a:solidFill>
                <a:latin typeface="Alexandria"/>
                <a:ea typeface="Alexandria"/>
                <a:cs typeface="Alexandria"/>
              </a:rPr>
              <a:t>مقيسة على حالات واختبارات قابلة للتكرار</a:t>
            </a:r>
          </a:p>
        </p:txBody>
      </p:sp>
      <p:sp>
        <p:nvSpPr>
          <p:cNvPr id="921" name="Rounded Rectangle 920"/>
          <p:cNvSpPr/>
          <p:nvPr/>
        </p:nvSpPr>
        <p:spPr>
          <a:xfrm>
            <a:off x="7013448" y="6217920"/>
            <a:ext cx="4846320" cy="2514600"/>
          </a:xfrm>
          <a:prstGeom prst="roundRect">
            <a:avLst>
              <a:gd name="adj" fmla="val 10909"/>
            </a:avLst>
          </a:prstGeom>
          <a:solidFill>
            <a:srgbClr val="1C2558"/>
          </a:solidFill>
          <a:ln>
            <a:noFill/>
          </a:ln>
        </p:spPr>
        <p:txBody>
          <a:bodyPr rtlCol="0" anchor="ctr"/>
          <a:lstStyle/>
          <a:p>
            <a:pPr algn="ctr"/>
            <a:endParaRPr/>
          </a:p>
        </p:txBody>
      </p:sp>
      <p:sp>
        <p:nvSpPr>
          <p:cNvPr id="922" name="TextBox 921"/>
          <p:cNvSpPr txBox="1"/>
          <p:nvPr/>
        </p:nvSpPr>
        <p:spPr>
          <a:xfrm>
            <a:off x="7333488" y="6492240"/>
            <a:ext cx="4206240" cy="822960"/>
          </a:xfrm>
          <a:prstGeom prst="rect">
            <a:avLst/>
          </a:prstGeom>
          <a:noFill/>
        </p:spPr>
        <p:txBody>
          <a:bodyPr wrap="square" lIns="0" tIns="0" rIns="0" bIns="0" anchor="t">
            <a:spAutoFit/>
          </a:bodyPr>
          <a:lstStyle/>
          <a:p>
            <a:pPr algn="r" rtl="1"/>
            <a:r>
              <a:rPr lang="en-US" sz="4400" b="1">
                <a:solidFill>
                  <a:srgbClr val="2EF2C2"/>
                </a:solidFill>
                <a:latin typeface="Alexandria"/>
                <a:ea typeface="Alexandria"/>
                <a:cs typeface="Alexandria"/>
              </a:rPr>
              <a:t>05</a:t>
            </a:r>
          </a:p>
        </p:txBody>
      </p:sp>
      <p:sp>
        <p:nvSpPr>
          <p:cNvPr id="923" name="TextBox 922"/>
          <p:cNvSpPr txBox="1"/>
          <p:nvPr/>
        </p:nvSpPr>
        <p:spPr>
          <a:xfrm>
            <a:off x="7333488" y="7315200"/>
            <a:ext cx="4206240" cy="548640"/>
          </a:xfrm>
          <a:prstGeom prst="rect">
            <a:avLst/>
          </a:prstGeom>
          <a:noFill/>
        </p:spPr>
        <p:txBody>
          <a:bodyPr wrap="square" lIns="0" tIns="0" rIns="0" bIns="0" anchor="t">
            <a:spAutoFit/>
          </a:bodyPr>
          <a:lstStyle/>
          <a:p>
            <a:pPr algn="r" rtl="1"/>
            <a:r>
              <a:rPr lang="ar-SA" sz="2600" b="1">
                <a:solidFill>
                  <a:srgbClr val="F2F4FF"/>
                </a:solidFill>
                <a:latin typeface="Alexandria"/>
                <a:ea typeface="Alexandria"/>
                <a:cs typeface="Alexandria"/>
              </a:rPr>
              <a:t>الهوية والتجربة</a:t>
            </a:r>
          </a:p>
        </p:txBody>
      </p:sp>
      <p:sp>
        <p:nvSpPr>
          <p:cNvPr id="924" name="TextBox 923"/>
          <p:cNvSpPr txBox="1"/>
          <p:nvPr/>
        </p:nvSpPr>
        <p:spPr>
          <a:xfrm>
            <a:off x="7333488" y="7909560"/>
            <a:ext cx="4206240" cy="640080"/>
          </a:xfrm>
          <a:prstGeom prst="rect">
            <a:avLst/>
          </a:prstGeom>
          <a:noFill/>
        </p:spPr>
        <p:txBody>
          <a:bodyPr wrap="square" lIns="0" tIns="0" rIns="0" bIns="0" anchor="t">
            <a:spAutoFit/>
          </a:bodyPr>
          <a:lstStyle/>
          <a:p>
            <a:pPr algn="r" rtl="1"/>
            <a:r>
              <a:rPr lang="ar-SA" sz="1700" b="0">
                <a:solidFill>
                  <a:srgbClr val="AEB4DA"/>
                </a:solidFill>
                <a:latin typeface="Alexandria"/>
                <a:ea typeface="Alexandria"/>
                <a:cs typeface="Alexandria"/>
              </a:rPr>
              <a:t>من فكرة الشعار… إلى آخر مرجع</a:t>
            </a:r>
          </a:p>
        </p:txBody>
      </p:sp>
      <p:sp>
        <p:nvSpPr>
          <p:cNvPr id="925" name="Rounded Rectangle 924"/>
          <p:cNvSpPr/>
          <p:nvPr/>
        </p:nvSpPr>
        <p:spPr>
          <a:xfrm>
            <a:off x="2029968" y="6217920"/>
            <a:ext cx="4846320" cy="2514600"/>
          </a:xfrm>
          <a:prstGeom prst="roundRect">
            <a:avLst>
              <a:gd name="adj" fmla="val 10909"/>
            </a:avLst>
          </a:prstGeom>
          <a:solidFill>
            <a:srgbClr val="1C2558"/>
          </a:solidFill>
          <a:ln>
            <a:noFill/>
          </a:ln>
        </p:spPr>
        <p:txBody>
          <a:bodyPr rtlCol="0" anchor="ctr"/>
          <a:lstStyle/>
          <a:p>
            <a:pPr algn="ctr"/>
            <a:endParaRPr/>
          </a:p>
        </p:txBody>
      </p:sp>
      <p:sp>
        <p:nvSpPr>
          <p:cNvPr id="926" name="TextBox 925"/>
          <p:cNvSpPr txBox="1"/>
          <p:nvPr/>
        </p:nvSpPr>
        <p:spPr>
          <a:xfrm>
            <a:off x="2350008" y="6492240"/>
            <a:ext cx="4206240" cy="822960"/>
          </a:xfrm>
          <a:prstGeom prst="rect">
            <a:avLst/>
          </a:prstGeom>
          <a:noFill/>
        </p:spPr>
        <p:txBody>
          <a:bodyPr wrap="square" lIns="0" tIns="0" rIns="0" bIns="0" anchor="t">
            <a:spAutoFit/>
          </a:bodyPr>
          <a:lstStyle/>
          <a:p>
            <a:pPr algn="r" rtl="1"/>
            <a:r>
              <a:rPr lang="en-US" sz="4400" b="1">
                <a:solidFill>
                  <a:srgbClr val="2EF2C2"/>
                </a:solidFill>
                <a:latin typeface="Alexandria"/>
                <a:ea typeface="Alexandria"/>
                <a:cs typeface="Alexandria"/>
              </a:rPr>
              <a:t>06</a:t>
            </a:r>
          </a:p>
        </p:txBody>
      </p:sp>
      <p:sp>
        <p:nvSpPr>
          <p:cNvPr id="927" name="TextBox 926"/>
          <p:cNvSpPr txBox="1"/>
          <p:nvPr/>
        </p:nvSpPr>
        <p:spPr>
          <a:xfrm>
            <a:off x="2350008" y="7315200"/>
            <a:ext cx="4206240" cy="548640"/>
          </a:xfrm>
          <a:prstGeom prst="rect">
            <a:avLst/>
          </a:prstGeom>
          <a:noFill/>
        </p:spPr>
        <p:txBody>
          <a:bodyPr wrap="square" lIns="0" tIns="0" rIns="0" bIns="0" anchor="t">
            <a:spAutoFit/>
          </a:bodyPr>
          <a:lstStyle/>
          <a:p>
            <a:pPr algn="r" rtl="1"/>
            <a:r>
              <a:rPr lang="ar-SA" sz="2600" b="1">
                <a:solidFill>
                  <a:srgbClr val="F2F4FF"/>
                </a:solidFill>
                <a:latin typeface="Alexandria"/>
                <a:ea typeface="Alexandria"/>
                <a:cs typeface="Alexandria"/>
              </a:rPr>
              <a:t>التنفيذ والاستمرار</a:t>
            </a:r>
          </a:p>
        </p:txBody>
      </p:sp>
      <p:sp>
        <p:nvSpPr>
          <p:cNvPr id="928" name="TextBox 927"/>
          <p:cNvSpPr txBox="1"/>
          <p:nvPr/>
        </p:nvSpPr>
        <p:spPr>
          <a:xfrm>
            <a:off x="2350008" y="7909560"/>
            <a:ext cx="4206240" cy="640080"/>
          </a:xfrm>
          <a:prstGeom prst="rect">
            <a:avLst/>
          </a:prstGeom>
          <a:noFill/>
        </p:spPr>
        <p:txBody>
          <a:bodyPr wrap="square" lIns="0" tIns="0" rIns="0" bIns="0" anchor="t">
            <a:spAutoFit/>
          </a:bodyPr>
          <a:lstStyle/>
          <a:p>
            <a:pPr algn="r" rtl="1"/>
            <a:r>
              <a:rPr lang="ar-SA" sz="1700" b="0">
                <a:solidFill>
                  <a:srgbClr val="AEB4DA"/>
                </a:solidFill>
                <a:latin typeface="Alexandria"/>
                <a:ea typeface="Alexandria"/>
                <a:cs typeface="Alexandria"/>
              </a:rPr>
              <a:t>ما بني في أيام التحدي، وما بعده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a:spLocks noGrp="1"/>
          </p:cNvSpPr>
          <p:nvPr>
            <p:ph type="body" idx="1"/>
          </p:nvPr>
        </p:nvSpPr>
        <p:spPr>
          <a:xfrm>
            <a:off x="13125450" y="3143250"/>
            <a:ext cx="3619500" cy="12384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8400"/>
              <a:buNone/>
            </a:pPr>
            <a:r>
              <a:rPr lang="en-US" sz="8400" b="1">
                <a:solidFill>
                  <a:srgbClr val="2EF2C2"/>
                </a:solidFill>
                <a:latin typeface="Alexandria"/>
                <a:ea typeface="Alexandria"/>
                <a:cs typeface="Alexandria"/>
                <a:sym typeface="Readex Pro"/>
              </a:rPr>
              <a:t>01</a:t>
            </a:r>
            <a:endParaRPr/>
          </a:p>
        </p:txBody>
      </p:sp>
      <p:sp>
        <p:nvSpPr>
          <p:cNvPr id="528" name="Google Shape;528;p10"/>
          <p:cNvSpPr txBox="1">
            <a:spLocks noGrp="1"/>
          </p:cNvSpPr>
          <p:nvPr>
            <p:ph type="title"/>
          </p:nvPr>
        </p:nvSpPr>
        <p:spPr>
          <a:xfrm>
            <a:off x="9179000" y="4810125"/>
            <a:ext cx="7566000" cy="1238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000"/>
              <a:buNone/>
            </a:pPr>
            <a:r>
              <a:rPr lang="ar-SA" sz="6000" b="1">
                <a:solidFill>
                  <a:srgbClr val="F2F4FF"/>
                </a:solidFill>
                <a:latin typeface="Alexandria"/>
                <a:ea typeface="Alexandria"/>
                <a:cs typeface="Alexandria"/>
                <a:sym typeface="Readex Pro"/>
              </a:rPr>
              <a:t>المشكلة</a:t>
            </a:r>
            <a:endParaRPr/>
          </a:p>
        </p:txBody>
      </p:sp>
      <p:sp>
        <p:nvSpPr>
          <p:cNvPr id="529" name="Google Shape;529;p10"/>
          <p:cNvSpPr txBox="1">
            <a:spLocks noGrp="1"/>
          </p:cNvSpPr>
          <p:nvPr>
            <p:ph type="body" idx="2"/>
          </p:nvPr>
        </p:nvSpPr>
        <p:spPr>
          <a:xfrm>
            <a:off x="9729275" y="6572250"/>
            <a:ext cx="7015500" cy="675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0">
                <a:solidFill>
                  <a:srgbClr val="CBCFE6"/>
                </a:solidFill>
                <a:latin typeface="Alexandria"/>
                <a:ea typeface="Alexandria"/>
                <a:cs typeface="Alexandria"/>
                <a:sym typeface="Readex Pro"/>
              </a:rPr>
              <a:t>رسائل دينية تنتشر أسرع من التحقق منها</a:t>
            </a:r>
            <a:endParaRPr/>
          </a:p>
        </p:txBody>
      </p:sp>
      <p:pic>
        <p:nvPicPr>
          <p:cNvPr id="530" name="Google Shape;530;p10"/>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4</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المشكلة</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رسالة واحدة… وأكثر من خطأ</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مثال اصطناعي على رسالة معاد توجيهها، كما يصل كثير منها كل يوم</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408176" y="3246120"/>
            <a:ext cx="6035040" cy="5806440"/>
          </a:xfrm>
          <a:prstGeom prst="roundRect">
            <a:avLst>
              <a:gd name="adj" fmla="val 4724"/>
            </a:avLst>
          </a:prstGeom>
          <a:solidFill>
            <a:srgbClr val="1C2558"/>
          </a:solidFill>
          <a:ln>
            <a:noFill/>
          </a:ln>
        </p:spPr>
        <p:txBody>
          <a:bodyPr rtlCol="0" anchor="ctr"/>
          <a:lstStyle/>
          <a:p>
            <a:pPr algn="ctr"/>
            <a:endParaRPr/>
          </a:p>
        </p:txBody>
      </p:sp>
      <p:sp>
        <p:nvSpPr>
          <p:cNvPr id="906" name="TextBox 905"/>
          <p:cNvSpPr txBox="1"/>
          <p:nvPr/>
        </p:nvSpPr>
        <p:spPr>
          <a:xfrm>
            <a:off x="1737360" y="3520440"/>
            <a:ext cx="5394960" cy="365760"/>
          </a:xfrm>
          <a:prstGeom prst="rect">
            <a:avLst/>
          </a:prstGeom>
          <a:noFill/>
        </p:spPr>
        <p:txBody>
          <a:bodyPr wrap="square" lIns="0" tIns="0" rIns="0" bIns="0" anchor="t">
            <a:spAutoFit/>
          </a:bodyPr>
          <a:lstStyle/>
          <a:p>
            <a:pPr algn="r" rtl="1"/>
            <a:r>
              <a:rPr lang="ar-SA" sz="1500" b="0">
                <a:solidFill>
                  <a:srgbClr val="AEB4DA"/>
                </a:solidFill>
                <a:latin typeface="Alexandria"/>
                <a:ea typeface="Alexandria"/>
                <a:cs typeface="Alexandria"/>
              </a:rPr>
              <a:t>↪ معاد توجيهه كثيرا</a:t>
            </a:r>
          </a:p>
        </p:txBody>
      </p:sp>
      <p:sp>
        <p:nvSpPr>
          <p:cNvPr id="907" name="TextBox 906"/>
          <p:cNvSpPr txBox="1"/>
          <p:nvPr/>
        </p:nvSpPr>
        <p:spPr>
          <a:xfrm>
            <a:off x="1737360" y="3977639"/>
            <a:ext cx="5394960" cy="4846320"/>
          </a:xfrm>
          <a:prstGeom prst="rect">
            <a:avLst/>
          </a:prstGeom>
          <a:noFill/>
        </p:spPr>
        <p:txBody>
          <a:bodyPr wrap="square" lIns="0" tIns="0" rIns="0" bIns="0" anchor="t">
            <a:spAutoFit/>
          </a:bodyPr>
          <a:lstStyle/>
          <a:p>
            <a:pPr algn="r" rtl="1">
              <a:lnSpc>
                <a:spcPct val="115000"/>
              </a:lnSpc>
              <a:spcAft>
                <a:spcPts val="1000"/>
              </a:spcAft>
            </a:pPr>
            <a:r>
              <a:rPr lang="ar-SA" sz="2100" b="0">
                <a:solidFill>
                  <a:srgbClr val="F2F4FF"/>
                </a:solidFill>
                <a:latin typeface="Alexandria"/>
                <a:ea typeface="Alexandria"/>
                <a:cs typeface="Alexandria"/>
              </a:rPr>
              <a:t>قال رسول الله ﷺ: «إنما الأعمال بالنيات»</a:t>
            </a:r>
          </a:p>
          <a:p>
            <a:pPr algn="r" rtl="1">
              <a:lnSpc>
                <a:spcPct val="115000"/>
              </a:lnSpc>
              <a:spcAft>
                <a:spcPts val="1000"/>
              </a:spcAft>
            </a:pPr>
            <a:r>
              <a:rPr lang="ar-SA" sz="2100" b="0">
                <a:solidFill>
                  <a:srgbClr val="F2F4FF"/>
                </a:solidFill>
                <a:latin typeface="Alexandria"/>
                <a:ea typeface="Alexandria"/>
                <a:cs typeface="Alexandria"/>
              </a:rPr>
              <a:t>وقال تعالى: «وقل ربي زدني علما».</a:t>
            </a:r>
          </a:p>
          <a:p>
            <a:pPr algn="r" rtl="1">
              <a:lnSpc>
                <a:spcPct val="115000"/>
              </a:lnSpc>
              <a:spcAft>
                <a:spcPts val="1000"/>
              </a:spcAft>
            </a:pPr>
            <a:r>
              <a:rPr lang="ar-SA" sz="2100" b="0">
                <a:solidFill>
                  <a:srgbClr val="F2F4FF"/>
                </a:solidFill>
                <a:latin typeface="Alexandria"/>
                <a:ea typeface="Alexandria"/>
                <a:cs typeface="Alexandria"/>
              </a:rPr>
              <a:t>وقال ﷺ: «اطلبوا العلم ولو بالصين».</a:t>
            </a:r>
          </a:p>
          <a:p>
            <a:pPr algn="r" rtl="1">
              <a:lnSpc>
                <a:spcPct val="115000"/>
              </a:lnSpc>
              <a:spcAft>
                <a:spcPts val="1000"/>
              </a:spcAft>
            </a:pPr>
            <a:r>
              <a:rPr lang="ar-SA" sz="2100" b="0">
                <a:solidFill>
                  <a:srgbClr val="F2F4FF"/>
                </a:solidFill>
                <a:latin typeface="Alexandria"/>
                <a:ea typeface="Alexandria"/>
                <a:cs typeface="Alexandria"/>
              </a:rPr>
              <a:t>ومن نشرها «فتح له باب من الجنة»</a:t>
            </a:r>
          </a:p>
          <a:p>
            <a:pPr algn="r" rtl="1">
              <a:lnSpc>
                <a:spcPct val="115000"/>
              </a:lnSpc>
              <a:spcAft>
                <a:spcPts val="1000"/>
              </a:spcAft>
            </a:pPr>
            <a:r>
              <a:rPr lang="ar-SA" sz="2100" b="1">
                <a:solidFill>
                  <a:srgbClr val="FF8A95"/>
                </a:solidFill>
                <a:latin typeface="Alexandria"/>
                <a:ea typeface="Alexandria"/>
                <a:cs typeface="Alexandria"/>
              </a:rPr>
              <a:t>انشرها ولا تجعلها تقف عندك… أمانة في رقبتك</a:t>
            </a:r>
          </a:p>
        </p:txBody>
      </p:sp>
      <p:sp>
        <p:nvSpPr>
          <p:cNvPr id="908" name="Rounded Rectangle 907"/>
          <p:cNvSpPr/>
          <p:nvPr/>
        </p:nvSpPr>
        <p:spPr>
          <a:xfrm>
            <a:off x="12362688" y="3246120"/>
            <a:ext cx="4434840" cy="2788920"/>
          </a:xfrm>
          <a:prstGeom prst="roundRect">
            <a:avLst>
              <a:gd name="adj" fmla="val 9836"/>
            </a:avLst>
          </a:prstGeom>
          <a:solidFill>
            <a:srgbClr val="1C2558"/>
          </a:solidFill>
          <a:ln>
            <a:noFill/>
          </a:ln>
        </p:spPr>
        <p:txBody>
          <a:bodyPr rtlCol="0" anchor="ctr"/>
          <a:lstStyle/>
          <a:p>
            <a:pPr algn="ctr"/>
            <a:endParaRPr/>
          </a:p>
        </p:txBody>
      </p:sp>
      <p:sp>
        <p:nvSpPr>
          <p:cNvPr id="909" name="Rounded Rectangle 908"/>
          <p:cNvSpPr/>
          <p:nvPr/>
        </p:nvSpPr>
        <p:spPr>
          <a:xfrm>
            <a:off x="14923008" y="3520439"/>
            <a:ext cx="1600200" cy="420624"/>
          </a:xfrm>
          <a:prstGeom prst="roundRect">
            <a:avLst>
              <a:gd name="adj" fmla="val 50000"/>
            </a:avLst>
          </a:prstGeom>
          <a:solidFill>
            <a:srgbClr val="FFD9DC"/>
          </a:solidFill>
          <a:ln>
            <a:noFill/>
          </a:ln>
        </p:spPr>
        <p:txBody>
          <a:bodyPr rtlCol="0" anchor="ctr"/>
          <a:lstStyle/>
          <a:p>
            <a:pPr algn="ctr"/>
            <a:endParaRPr/>
          </a:p>
        </p:txBody>
      </p:sp>
      <p:sp>
        <p:nvSpPr>
          <p:cNvPr id="910" name="Oval 909"/>
          <p:cNvSpPr/>
          <p:nvPr/>
        </p:nvSpPr>
        <p:spPr>
          <a:xfrm>
            <a:off x="16230600" y="3666744"/>
            <a:ext cx="128016" cy="128016"/>
          </a:xfrm>
          <a:prstGeom prst="ellipse">
            <a:avLst/>
          </a:prstGeom>
          <a:solidFill>
            <a:srgbClr val="EB4858"/>
          </a:solidFill>
          <a:ln>
            <a:noFill/>
          </a:ln>
        </p:spPr>
        <p:txBody>
          <a:bodyPr rtlCol="0" anchor="ctr"/>
          <a:lstStyle/>
          <a:p>
            <a:pPr algn="ctr"/>
            <a:endParaRPr/>
          </a:p>
        </p:txBody>
      </p:sp>
      <p:sp>
        <p:nvSpPr>
          <p:cNvPr id="911" name="TextBox 910"/>
          <p:cNvSpPr txBox="1"/>
          <p:nvPr/>
        </p:nvSpPr>
        <p:spPr>
          <a:xfrm>
            <a:off x="15032736" y="3520439"/>
            <a:ext cx="1143000" cy="420624"/>
          </a:xfrm>
          <a:prstGeom prst="rect">
            <a:avLst/>
          </a:prstGeom>
          <a:noFill/>
        </p:spPr>
        <p:txBody>
          <a:bodyPr wrap="square" lIns="0" tIns="0" rIns="0" bIns="0" anchor="ctr">
            <a:spAutoFit/>
          </a:bodyPr>
          <a:lstStyle/>
          <a:p>
            <a:pPr algn="r" rtl="1"/>
            <a:r>
              <a:rPr lang="ar-SA" sz="1600" b="1">
                <a:solidFill>
                  <a:srgbClr val="A3202E"/>
                </a:solidFill>
                <a:latin typeface="Alexandria"/>
                <a:ea typeface="Alexandria"/>
                <a:cs typeface="Alexandria"/>
              </a:rPr>
              <a:t>موضوع</a:t>
            </a:r>
          </a:p>
        </p:txBody>
      </p:sp>
      <p:sp>
        <p:nvSpPr>
          <p:cNvPr id="912" name="TextBox 911"/>
          <p:cNvSpPr txBox="1"/>
          <p:nvPr/>
        </p:nvSpPr>
        <p:spPr>
          <a:xfrm>
            <a:off x="12637008" y="4114800"/>
            <a:ext cx="388620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حديث لا يثبت</a:t>
            </a:r>
          </a:p>
        </p:txBody>
      </p:sp>
      <p:sp>
        <p:nvSpPr>
          <p:cNvPr id="913" name="TextBox 912"/>
          <p:cNvSpPr txBox="1"/>
          <p:nvPr/>
        </p:nvSpPr>
        <p:spPr>
          <a:xfrm>
            <a:off x="12637008" y="4663440"/>
            <a:ext cx="388620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«اطلبوا العلم ولو بالصين» — حكم عليه المحققون بالوضع والبطلان</a:t>
            </a:r>
          </a:p>
        </p:txBody>
      </p:sp>
      <p:sp>
        <p:nvSpPr>
          <p:cNvPr id="914" name="Rounded Rectangle 913"/>
          <p:cNvSpPr/>
          <p:nvPr/>
        </p:nvSpPr>
        <p:spPr>
          <a:xfrm>
            <a:off x="7790688" y="3246120"/>
            <a:ext cx="4434840" cy="2788920"/>
          </a:xfrm>
          <a:prstGeom prst="roundRect">
            <a:avLst>
              <a:gd name="adj" fmla="val 9836"/>
            </a:avLst>
          </a:prstGeom>
          <a:solidFill>
            <a:srgbClr val="1C2558"/>
          </a:solidFill>
          <a:ln>
            <a:noFill/>
          </a:ln>
        </p:spPr>
        <p:txBody>
          <a:bodyPr rtlCol="0" anchor="ctr"/>
          <a:lstStyle/>
          <a:p>
            <a:pPr algn="ctr"/>
            <a:endParaRPr/>
          </a:p>
        </p:txBody>
      </p:sp>
      <p:sp>
        <p:nvSpPr>
          <p:cNvPr id="915" name="Rounded Rectangle 914"/>
          <p:cNvSpPr/>
          <p:nvPr/>
        </p:nvSpPr>
        <p:spPr>
          <a:xfrm>
            <a:off x="9253728" y="3520439"/>
            <a:ext cx="2697480" cy="420624"/>
          </a:xfrm>
          <a:prstGeom prst="roundRect">
            <a:avLst>
              <a:gd name="adj" fmla="val 50000"/>
            </a:avLst>
          </a:prstGeom>
          <a:solidFill>
            <a:srgbClr val="FFF0C7"/>
          </a:solidFill>
          <a:ln>
            <a:noFill/>
          </a:ln>
        </p:spPr>
        <p:txBody>
          <a:bodyPr rtlCol="0" anchor="ctr"/>
          <a:lstStyle/>
          <a:p>
            <a:pPr algn="ctr"/>
            <a:endParaRPr/>
          </a:p>
        </p:txBody>
      </p:sp>
      <p:sp>
        <p:nvSpPr>
          <p:cNvPr id="916" name="Oval 915"/>
          <p:cNvSpPr/>
          <p:nvPr/>
        </p:nvSpPr>
        <p:spPr>
          <a:xfrm>
            <a:off x="11658600" y="3666744"/>
            <a:ext cx="128016" cy="128016"/>
          </a:xfrm>
          <a:prstGeom prst="ellipse">
            <a:avLst/>
          </a:prstGeom>
          <a:solidFill>
            <a:srgbClr val="F0B020"/>
          </a:solidFill>
          <a:ln>
            <a:noFill/>
          </a:ln>
        </p:spPr>
        <p:txBody>
          <a:bodyPr rtlCol="0" anchor="ctr"/>
          <a:lstStyle/>
          <a:p>
            <a:pPr algn="ctr"/>
            <a:endParaRPr/>
          </a:p>
        </p:txBody>
      </p:sp>
      <p:sp>
        <p:nvSpPr>
          <p:cNvPr id="917" name="TextBox 916"/>
          <p:cNvSpPr txBox="1"/>
          <p:nvPr/>
        </p:nvSpPr>
        <p:spPr>
          <a:xfrm>
            <a:off x="9363456" y="3520439"/>
            <a:ext cx="2240280" cy="420624"/>
          </a:xfrm>
          <a:prstGeom prst="rect">
            <a:avLst/>
          </a:prstGeom>
          <a:noFill/>
        </p:spPr>
        <p:txBody>
          <a:bodyPr wrap="square" lIns="0" tIns="0" rIns="0" bIns="0" anchor="ctr">
            <a:spAutoFit/>
          </a:bodyPr>
          <a:lstStyle/>
          <a:p>
            <a:pPr algn="r" rtl="1"/>
            <a:r>
              <a:rPr lang="ar-SA" sz="1600" b="1">
                <a:solidFill>
                  <a:srgbClr val="8A5A00"/>
                </a:solidFill>
                <a:latin typeface="Alexandria"/>
                <a:ea typeface="Alexandria"/>
                <a:cs typeface="Alexandria"/>
              </a:rPr>
              <a:t>آية محرفة</a:t>
            </a:r>
          </a:p>
        </p:txBody>
      </p:sp>
      <p:sp>
        <p:nvSpPr>
          <p:cNvPr id="918" name="TextBox 917"/>
          <p:cNvSpPr txBox="1"/>
          <p:nvPr/>
        </p:nvSpPr>
        <p:spPr>
          <a:xfrm>
            <a:off x="8065008" y="4114800"/>
            <a:ext cx="388620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آية بلفظ مختلف</a:t>
            </a:r>
          </a:p>
        </p:txBody>
      </p:sp>
      <p:sp>
        <p:nvSpPr>
          <p:cNvPr id="919" name="TextBox 918"/>
          <p:cNvSpPr txBox="1"/>
          <p:nvPr/>
        </p:nvSpPr>
        <p:spPr>
          <a:xfrm>
            <a:off x="8065008" y="4663440"/>
            <a:ext cx="388620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«وقل ربي زدني علما» — وفي المصحف «رب» لا «ربي» (طه 114)</a:t>
            </a:r>
          </a:p>
        </p:txBody>
      </p:sp>
      <p:sp>
        <p:nvSpPr>
          <p:cNvPr id="920" name="Rounded Rectangle 919"/>
          <p:cNvSpPr/>
          <p:nvPr/>
        </p:nvSpPr>
        <p:spPr>
          <a:xfrm>
            <a:off x="12362688" y="6217920"/>
            <a:ext cx="4434840" cy="2788920"/>
          </a:xfrm>
          <a:prstGeom prst="roundRect">
            <a:avLst>
              <a:gd name="adj" fmla="val 9836"/>
            </a:avLst>
          </a:prstGeom>
          <a:solidFill>
            <a:srgbClr val="1C2558"/>
          </a:solidFill>
          <a:ln>
            <a:noFill/>
          </a:ln>
        </p:spPr>
        <p:txBody>
          <a:bodyPr rtlCol="0" anchor="ctr"/>
          <a:lstStyle/>
          <a:p>
            <a:pPr algn="ctr"/>
            <a:endParaRPr/>
          </a:p>
        </p:txBody>
      </p:sp>
      <p:sp>
        <p:nvSpPr>
          <p:cNvPr id="921" name="Rounded Rectangle 920"/>
          <p:cNvSpPr/>
          <p:nvPr/>
        </p:nvSpPr>
        <p:spPr>
          <a:xfrm>
            <a:off x="14740128" y="6492240"/>
            <a:ext cx="1783080" cy="420624"/>
          </a:xfrm>
          <a:prstGeom prst="roundRect">
            <a:avLst>
              <a:gd name="adj" fmla="val 50000"/>
            </a:avLst>
          </a:prstGeom>
          <a:solidFill>
            <a:srgbClr val="EDEAF2"/>
          </a:solidFill>
          <a:ln>
            <a:noFill/>
          </a:ln>
        </p:spPr>
        <p:txBody>
          <a:bodyPr rtlCol="0" anchor="ctr"/>
          <a:lstStyle/>
          <a:p>
            <a:pPr algn="ctr"/>
            <a:endParaRPr/>
          </a:p>
        </p:txBody>
      </p:sp>
      <p:sp>
        <p:nvSpPr>
          <p:cNvPr id="922" name="Oval 921"/>
          <p:cNvSpPr/>
          <p:nvPr/>
        </p:nvSpPr>
        <p:spPr>
          <a:xfrm>
            <a:off x="16230600" y="6638544"/>
            <a:ext cx="128016" cy="128016"/>
          </a:xfrm>
          <a:prstGeom prst="ellipse">
            <a:avLst/>
          </a:prstGeom>
          <a:solidFill>
            <a:srgbClr val="9A96AA"/>
          </a:solidFill>
          <a:ln>
            <a:noFill/>
          </a:ln>
        </p:spPr>
        <p:txBody>
          <a:bodyPr rtlCol="0" anchor="ctr"/>
          <a:lstStyle/>
          <a:p>
            <a:pPr algn="ctr"/>
            <a:endParaRPr/>
          </a:p>
        </p:txBody>
      </p:sp>
      <p:sp>
        <p:nvSpPr>
          <p:cNvPr id="923" name="TextBox 922"/>
          <p:cNvSpPr txBox="1"/>
          <p:nvPr/>
        </p:nvSpPr>
        <p:spPr>
          <a:xfrm>
            <a:off x="14849856" y="6492240"/>
            <a:ext cx="1325880" cy="420624"/>
          </a:xfrm>
          <a:prstGeom prst="rect">
            <a:avLst/>
          </a:prstGeom>
          <a:noFill/>
        </p:spPr>
        <p:txBody>
          <a:bodyPr wrap="square" lIns="0" tIns="0" rIns="0" bIns="0" anchor="ctr">
            <a:spAutoFit/>
          </a:bodyPr>
          <a:lstStyle/>
          <a:p>
            <a:pPr algn="r" rtl="1"/>
            <a:r>
              <a:rPr lang="ar-SA" sz="1600" b="1">
                <a:solidFill>
                  <a:srgbClr val="4E4A60"/>
                </a:solidFill>
                <a:latin typeface="Alexandria"/>
                <a:ea typeface="Alexandria"/>
                <a:cs typeface="Alexandria"/>
              </a:rPr>
              <a:t>لم نجد</a:t>
            </a:r>
          </a:p>
        </p:txBody>
      </p:sp>
      <p:sp>
        <p:nvSpPr>
          <p:cNvPr id="924" name="TextBox 923"/>
          <p:cNvSpPr txBox="1"/>
          <p:nvPr/>
        </p:nvSpPr>
        <p:spPr>
          <a:xfrm>
            <a:off x="12637008" y="7086600"/>
            <a:ext cx="388620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نص بلا مصدر</a:t>
            </a:r>
          </a:p>
        </p:txBody>
      </p:sp>
      <p:sp>
        <p:nvSpPr>
          <p:cNvPr id="925" name="TextBox 924"/>
          <p:cNvSpPr txBox="1"/>
          <p:nvPr/>
        </p:nvSpPr>
        <p:spPr>
          <a:xfrm>
            <a:off x="12637008" y="7635240"/>
            <a:ext cx="388620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ينسب إلى النبي ﷺ ولا يوجد في القرآن ولا في الكتب التسعة</a:t>
            </a:r>
          </a:p>
        </p:txBody>
      </p:sp>
      <p:sp>
        <p:nvSpPr>
          <p:cNvPr id="926" name="Rounded Rectangle 925"/>
          <p:cNvSpPr/>
          <p:nvPr/>
        </p:nvSpPr>
        <p:spPr>
          <a:xfrm>
            <a:off x="7790688" y="6217920"/>
            <a:ext cx="4434840" cy="2788920"/>
          </a:xfrm>
          <a:prstGeom prst="roundRect">
            <a:avLst>
              <a:gd name="adj" fmla="val 9836"/>
            </a:avLst>
          </a:prstGeom>
          <a:solidFill>
            <a:srgbClr val="1C2558"/>
          </a:solidFill>
          <a:ln>
            <a:noFill/>
          </a:ln>
        </p:spPr>
        <p:txBody>
          <a:bodyPr rtlCol="0" anchor="ctr"/>
          <a:lstStyle/>
          <a:p>
            <a:pPr algn="ctr"/>
            <a:endParaRPr/>
          </a:p>
        </p:txBody>
      </p:sp>
      <p:sp>
        <p:nvSpPr>
          <p:cNvPr id="927" name="Rounded Rectangle 926"/>
          <p:cNvSpPr/>
          <p:nvPr/>
        </p:nvSpPr>
        <p:spPr>
          <a:xfrm>
            <a:off x="9619488" y="6492240"/>
            <a:ext cx="2331720" cy="420624"/>
          </a:xfrm>
          <a:prstGeom prst="roundRect">
            <a:avLst>
              <a:gd name="adj" fmla="val 50000"/>
            </a:avLst>
          </a:prstGeom>
          <a:solidFill>
            <a:srgbClr val="FFE0C9"/>
          </a:solidFill>
          <a:ln>
            <a:noFill/>
          </a:ln>
        </p:spPr>
        <p:txBody>
          <a:bodyPr rtlCol="0" anchor="ctr"/>
          <a:lstStyle/>
          <a:p>
            <a:pPr algn="ctr"/>
            <a:endParaRPr/>
          </a:p>
        </p:txBody>
      </p:sp>
      <p:sp>
        <p:nvSpPr>
          <p:cNvPr id="928" name="Oval 927"/>
          <p:cNvSpPr/>
          <p:nvPr/>
        </p:nvSpPr>
        <p:spPr>
          <a:xfrm>
            <a:off x="11658600" y="6638544"/>
            <a:ext cx="128016" cy="128016"/>
          </a:xfrm>
          <a:prstGeom prst="ellipse">
            <a:avLst/>
          </a:prstGeom>
          <a:solidFill>
            <a:srgbClr val="F07A2A"/>
          </a:solidFill>
          <a:ln>
            <a:noFill/>
          </a:ln>
        </p:spPr>
        <p:txBody>
          <a:bodyPr rtlCol="0" anchor="ctr"/>
          <a:lstStyle/>
          <a:p>
            <a:pPr algn="ctr"/>
            <a:endParaRPr/>
          </a:p>
        </p:txBody>
      </p:sp>
      <p:sp>
        <p:nvSpPr>
          <p:cNvPr id="929" name="TextBox 928"/>
          <p:cNvSpPr txBox="1"/>
          <p:nvPr/>
        </p:nvSpPr>
        <p:spPr>
          <a:xfrm>
            <a:off x="9729215" y="6492240"/>
            <a:ext cx="1874519" cy="420624"/>
          </a:xfrm>
          <a:prstGeom prst="rect">
            <a:avLst/>
          </a:prstGeom>
          <a:noFill/>
        </p:spPr>
        <p:txBody>
          <a:bodyPr wrap="square" lIns="0" tIns="0" rIns="0" bIns="0" anchor="ctr">
            <a:spAutoFit/>
          </a:bodyPr>
          <a:lstStyle/>
          <a:p>
            <a:pPr algn="r" rtl="1"/>
            <a:r>
              <a:rPr lang="ar-SA" sz="1600" b="1">
                <a:solidFill>
                  <a:srgbClr val="9A4410"/>
                </a:solidFill>
                <a:latin typeface="Alexandria"/>
                <a:ea typeface="Alexandria"/>
                <a:cs typeface="Alexandria"/>
              </a:rPr>
              <a:t>ضغط للنشر</a:t>
            </a:r>
          </a:p>
        </p:txBody>
      </p:sp>
      <p:sp>
        <p:nvSpPr>
          <p:cNvPr id="930" name="TextBox 929"/>
          <p:cNvSpPr txBox="1"/>
          <p:nvPr/>
        </p:nvSpPr>
        <p:spPr>
          <a:xfrm>
            <a:off x="8065008" y="7086600"/>
            <a:ext cx="388620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ضغط لإعادة النشر</a:t>
            </a:r>
          </a:p>
        </p:txBody>
      </p:sp>
      <p:sp>
        <p:nvSpPr>
          <p:cNvPr id="931" name="TextBox 930"/>
          <p:cNvSpPr txBox="1"/>
          <p:nvPr/>
        </p:nvSpPr>
        <p:spPr>
          <a:xfrm>
            <a:off x="8065008" y="7635240"/>
            <a:ext cx="388620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«أمانة في رقبتك» — علامة شائعة على رسالة غير موثقة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5</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المشكلة</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من يتأثر… وكيف يتحقق اليوم؟</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الحاجة حقيقية، والبدائل الحالية بطيئة أو غير مضمونة</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sp>
        <p:nvSpPr>
          <p:cNvPr id="913" name="TextBox 912"/>
          <p:cNvSpPr txBox="1"/>
          <p:nvPr/>
        </p:nvSpPr>
        <p:spPr>
          <a:xfrm>
            <a:off x="9326880" y="3246120"/>
            <a:ext cx="7516368" cy="457200"/>
          </a:xfrm>
          <a:prstGeom prst="rect">
            <a:avLst/>
          </a:prstGeom>
          <a:noFill/>
        </p:spPr>
        <p:txBody>
          <a:bodyPr wrap="square" lIns="0" tIns="0" rIns="0" bIns="0" anchor="t">
            <a:spAutoFit/>
          </a:bodyPr>
          <a:lstStyle/>
          <a:p>
            <a:pPr algn="r" rtl="1"/>
            <a:r>
              <a:rPr lang="ar-SA" sz="2200" b="1">
                <a:solidFill>
                  <a:srgbClr val="6150EA"/>
                </a:solidFill>
                <a:latin typeface="Alexandria"/>
                <a:ea typeface="Alexandria"/>
                <a:cs typeface="Alexandria"/>
              </a:rPr>
              <a:t>المستفيدون</a:t>
            </a:r>
          </a:p>
        </p:txBody>
      </p:sp>
      <p:sp>
        <p:nvSpPr>
          <p:cNvPr id="914" name="Rounded Rectangle 913"/>
          <p:cNvSpPr/>
          <p:nvPr/>
        </p:nvSpPr>
        <p:spPr>
          <a:xfrm>
            <a:off x="9326880" y="3840480"/>
            <a:ext cx="7516368" cy="1600200"/>
          </a:xfrm>
          <a:prstGeom prst="roundRect">
            <a:avLst>
              <a:gd name="adj" fmla="val 17142"/>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5" name="Oval 914"/>
          <p:cNvSpPr/>
          <p:nvPr/>
        </p:nvSpPr>
        <p:spPr>
          <a:xfrm>
            <a:off x="16047720" y="4343400"/>
            <a:ext cx="566928" cy="566928"/>
          </a:xfrm>
          <a:prstGeom prst="ellipse">
            <a:avLst/>
          </a:prstGeom>
          <a:solidFill>
            <a:srgbClr val="6150EA"/>
          </a:solidFill>
          <a:ln>
            <a:noFill/>
          </a:ln>
        </p:spPr>
        <p:txBody>
          <a:bodyPr rtlCol="0" anchor="ctr"/>
          <a:lstStyle/>
          <a:p>
            <a:pPr algn="ctr"/>
            <a:endParaRPr/>
          </a:p>
        </p:txBody>
      </p:sp>
      <p:sp>
        <p:nvSpPr>
          <p:cNvPr id="916" name="TextBox 915"/>
          <p:cNvSpPr txBox="1"/>
          <p:nvPr/>
        </p:nvSpPr>
        <p:spPr>
          <a:xfrm>
            <a:off x="16047720" y="434340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1</a:t>
            </a:r>
          </a:p>
        </p:txBody>
      </p:sp>
      <p:sp>
        <p:nvSpPr>
          <p:cNvPr id="917" name="TextBox 916"/>
          <p:cNvSpPr txBox="1"/>
          <p:nvPr/>
        </p:nvSpPr>
        <p:spPr>
          <a:xfrm>
            <a:off x="9601200" y="4069080"/>
            <a:ext cx="626364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المتلقي في مجموعة العائلة</a:t>
            </a:r>
          </a:p>
        </p:txBody>
      </p:sp>
      <p:sp>
        <p:nvSpPr>
          <p:cNvPr id="918" name="TextBox 917"/>
          <p:cNvSpPr txBox="1"/>
          <p:nvPr/>
        </p:nvSpPr>
        <p:spPr>
          <a:xfrm>
            <a:off x="9601200" y="4617720"/>
            <a:ext cx="6263640" cy="731520"/>
          </a:xfrm>
          <a:prstGeom prst="rect">
            <a:avLst/>
          </a:prstGeom>
          <a:noFill/>
        </p:spPr>
        <p:txBody>
          <a:bodyPr wrap="square" lIns="0" tIns="0" rIns="0" bIns="0" anchor="t">
            <a:spAutoFit/>
          </a:bodyPr>
          <a:lstStyle/>
          <a:p>
            <a:pPr algn="r" rtl="1"/>
            <a:r>
              <a:rPr lang="ar-SA" sz="1600" b="0">
                <a:solidFill>
                  <a:srgbClr val="4B5383"/>
                </a:solidFill>
                <a:latin typeface="Alexandria"/>
                <a:ea typeface="Alexandria"/>
                <a:cs typeface="Alexandria"/>
              </a:rPr>
              <a:t>يريد أن يعرف: هل أنشرها؟ — في ثوان ودون خبرة</a:t>
            </a:r>
          </a:p>
        </p:txBody>
      </p:sp>
      <p:sp>
        <p:nvSpPr>
          <p:cNvPr id="919" name="Rounded Rectangle 918"/>
          <p:cNvSpPr/>
          <p:nvPr/>
        </p:nvSpPr>
        <p:spPr>
          <a:xfrm>
            <a:off x="9326880" y="5623560"/>
            <a:ext cx="7516368" cy="1600200"/>
          </a:xfrm>
          <a:prstGeom prst="roundRect">
            <a:avLst>
              <a:gd name="adj" fmla="val 17142"/>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0" name="Oval 919"/>
          <p:cNvSpPr/>
          <p:nvPr/>
        </p:nvSpPr>
        <p:spPr>
          <a:xfrm>
            <a:off x="16047720" y="6126480"/>
            <a:ext cx="566928" cy="566928"/>
          </a:xfrm>
          <a:prstGeom prst="ellipse">
            <a:avLst/>
          </a:prstGeom>
          <a:solidFill>
            <a:srgbClr val="6150EA"/>
          </a:solidFill>
          <a:ln>
            <a:noFill/>
          </a:ln>
        </p:spPr>
        <p:txBody>
          <a:bodyPr rtlCol="0" anchor="ctr"/>
          <a:lstStyle/>
          <a:p>
            <a:pPr algn="ctr"/>
            <a:endParaRPr/>
          </a:p>
        </p:txBody>
      </p:sp>
      <p:sp>
        <p:nvSpPr>
          <p:cNvPr id="921" name="TextBox 920"/>
          <p:cNvSpPr txBox="1"/>
          <p:nvPr/>
        </p:nvSpPr>
        <p:spPr>
          <a:xfrm>
            <a:off x="16047720" y="612648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2</a:t>
            </a:r>
          </a:p>
        </p:txBody>
      </p:sp>
      <p:sp>
        <p:nvSpPr>
          <p:cNvPr id="922" name="TextBox 921"/>
          <p:cNvSpPr txBox="1"/>
          <p:nvPr/>
        </p:nvSpPr>
        <p:spPr>
          <a:xfrm>
            <a:off x="9601200" y="5852160"/>
            <a:ext cx="626364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الإمام والمعلم والداعية</a:t>
            </a:r>
          </a:p>
        </p:txBody>
      </p:sp>
      <p:sp>
        <p:nvSpPr>
          <p:cNvPr id="923" name="TextBox 922"/>
          <p:cNvSpPr txBox="1"/>
          <p:nvPr/>
        </p:nvSpPr>
        <p:spPr>
          <a:xfrm>
            <a:off x="9601200" y="6400800"/>
            <a:ext cx="6263640" cy="731520"/>
          </a:xfrm>
          <a:prstGeom prst="rect">
            <a:avLst/>
          </a:prstGeom>
          <a:noFill/>
        </p:spPr>
        <p:txBody>
          <a:bodyPr wrap="square" lIns="0" tIns="0" rIns="0" bIns="0" anchor="t">
            <a:spAutoFit/>
          </a:bodyPr>
          <a:lstStyle/>
          <a:p>
            <a:pPr algn="r" rtl="1"/>
            <a:r>
              <a:rPr lang="ar-SA" sz="1600" b="0">
                <a:solidFill>
                  <a:srgbClr val="4B5383"/>
                </a:solidFill>
                <a:latin typeface="Alexandria"/>
                <a:ea typeface="Alexandria"/>
                <a:cs typeface="Alexandria"/>
              </a:rPr>
              <a:t>تصله أسئلة «هل هذا صحيح؟» يوميا ويحتاج المصدر والحكم بالأسماء</a:t>
            </a:r>
          </a:p>
        </p:txBody>
      </p:sp>
      <p:sp>
        <p:nvSpPr>
          <p:cNvPr id="924" name="Rounded Rectangle 923"/>
          <p:cNvSpPr/>
          <p:nvPr/>
        </p:nvSpPr>
        <p:spPr>
          <a:xfrm>
            <a:off x="9326880" y="7406640"/>
            <a:ext cx="7516368" cy="1600200"/>
          </a:xfrm>
          <a:prstGeom prst="roundRect">
            <a:avLst>
              <a:gd name="adj" fmla="val 17142"/>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5" name="Oval 924"/>
          <p:cNvSpPr/>
          <p:nvPr/>
        </p:nvSpPr>
        <p:spPr>
          <a:xfrm>
            <a:off x="16047720" y="7909560"/>
            <a:ext cx="566928" cy="566928"/>
          </a:xfrm>
          <a:prstGeom prst="ellipse">
            <a:avLst/>
          </a:prstGeom>
          <a:solidFill>
            <a:srgbClr val="6150EA"/>
          </a:solidFill>
          <a:ln>
            <a:noFill/>
          </a:ln>
        </p:spPr>
        <p:txBody>
          <a:bodyPr rtlCol="0" anchor="ctr"/>
          <a:lstStyle/>
          <a:p>
            <a:pPr algn="ctr"/>
            <a:endParaRPr/>
          </a:p>
        </p:txBody>
      </p:sp>
      <p:sp>
        <p:nvSpPr>
          <p:cNvPr id="926" name="TextBox 925"/>
          <p:cNvSpPr txBox="1"/>
          <p:nvPr/>
        </p:nvSpPr>
        <p:spPr>
          <a:xfrm>
            <a:off x="16047720" y="790956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3</a:t>
            </a:r>
          </a:p>
        </p:txBody>
      </p:sp>
      <p:sp>
        <p:nvSpPr>
          <p:cNvPr id="927" name="TextBox 926"/>
          <p:cNvSpPr txBox="1"/>
          <p:nvPr/>
        </p:nvSpPr>
        <p:spPr>
          <a:xfrm>
            <a:off x="9601200" y="7635240"/>
            <a:ext cx="626364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مشرف المجموعة</a:t>
            </a:r>
          </a:p>
        </p:txBody>
      </p:sp>
      <p:sp>
        <p:nvSpPr>
          <p:cNvPr id="928" name="TextBox 927"/>
          <p:cNvSpPr txBox="1"/>
          <p:nvPr/>
        </p:nvSpPr>
        <p:spPr>
          <a:xfrm>
            <a:off x="9601200" y="8183879"/>
            <a:ext cx="6263640" cy="731520"/>
          </a:xfrm>
          <a:prstGeom prst="rect">
            <a:avLst/>
          </a:prstGeom>
          <a:noFill/>
        </p:spPr>
        <p:txBody>
          <a:bodyPr wrap="square" lIns="0" tIns="0" rIns="0" bIns="0" anchor="t">
            <a:spAutoFit/>
          </a:bodyPr>
          <a:lstStyle/>
          <a:p>
            <a:pPr algn="r" rtl="1"/>
            <a:r>
              <a:rPr lang="ar-SA" sz="1600" b="0">
                <a:solidFill>
                  <a:srgbClr val="4B5383"/>
                </a:solidFill>
                <a:latin typeface="Alexandria"/>
                <a:ea typeface="Alexandria"/>
                <a:cs typeface="Alexandria"/>
              </a:rPr>
              <a:t>يريد ردا لطيفا يصحح دون أن يحرج المرسل</a:t>
            </a:r>
          </a:p>
        </p:txBody>
      </p:sp>
      <p:sp>
        <p:nvSpPr>
          <p:cNvPr id="929" name="TextBox 928"/>
          <p:cNvSpPr txBox="1"/>
          <p:nvPr/>
        </p:nvSpPr>
        <p:spPr>
          <a:xfrm>
            <a:off x="1408176" y="3246120"/>
            <a:ext cx="7498079" cy="457200"/>
          </a:xfrm>
          <a:prstGeom prst="rect">
            <a:avLst/>
          </a:prstGeom>
          <a:noFill/>
        </p:spPr>
        <p:txBody>
          <a:bodyPr wrap="square" lIns="0" tIns="0" rIns="0" bIns="0" anchor="t">
            <a:spAutoFit/>
          </a:bodyPr>
          <a:lstStyle/>
          <a:p>
            <a:pPr algn="r" rtl="1"/>
            <a:r>
              <a:rPr lang="ar-SA" sz="2200" b="1">
                <a:solidFill>
                  <a:srgbClr val="6150EA"/>
                </a:solidFill>
                <a:latin typeface="Alexandria"/>
                <a:ea typeface="Alexandria"/>
                <a:cs typeface="Alexandria"/>
              </a:rPr>
              <a:t>البدائل الحالية</a:t>
            </a:r>
          </a:p>
        </p:txBody>
      </p:sp>
      <p:sp>
        <p:nvSpPr>
          <p:cNvPr id="930" name="Rounded Rectangle 929"/>
          <p:cNvSpPr/>
          <p:nvPr/>
        </p:nvSpPr>
        <p:spPr>
          <a:xfrm>
            <a:off x="1408176" y="3840480"/>
            <a:ext cx="7498079" cy="1600200"/>
          </a:xfrm>
          <a:prstGeom prst="roundRect">
            <a:avLst>
              <a:gd name="adj" fmla="val 17142"/>
            </a:avLst>
          </a:prstGeom>
          <a:solidFill>
            <a:srgbClr val="E9EBFF"/>
          </a:solidFill>
          <a:ln>
            <a:noFill/>
          </a:ln>
        </p:spPr>
        <p:txBody>
          <a:bodyPr rtlCol="0" anchor="ctr"/>
          <a:lstStyle/>
          <a:p>
            <a:pPr algn="ctr"/>
            <a:endParaRPr/>
          </a:p>
        </p:txBody>
      </p:sp>
      <p:sp>
        <p:nvSpPr>
          <p:cNvPr id="931" name="TextBox 930"/>
          <p:cNvSpPr txBox="1"/>
          <p:nvPr/>
        </p:nvSpPr>
        <p:spPr>
          <a:xfrm>
            <a:off x="1682496" y="4069080"/>
            <a:ext cx="694944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البحث اليدوي في المواقع الحديثية</a:t>
            </a:r>
          </a:p>
        </p:txBody>
      </p:sp>
      <p:sp>
        <p:nvSpPr>
          <p:cNvPr id="932" name="TextBox 931"/>
          <p:cNvSpPr txBox="1"/>
          <p:nvPr/>
        </p:nvSpPr>
        <p:spPr>
          <a:xfrm>
            <a:off x="1682496" y="4617720"/>
            <a:ext cx="6949440" cy="731520"/>
          </a:xfrm>
          <a:prstGeom prst="rect">
            <a:avLst/>
          </a:prstGeom>
          <a:noFill/>
        </p:spPr>
        <p:txBody>
          <a:bodyPr wrap="square" lIns="0" tIns="0" rIns="0" bIns="0" anchor="t">
            <a:spAutoFit/>
          </a:bodyPr>
          <a:lstStyle/>
          <a:p>
            <a:pPr algn="r" rtl="1"/>
            <a:r>
              <a:rPr lang="ar-SA" sz="1600" b="0">
                <a:solidFill>
                  <a:srgbClr val="4B5383"/>
                </a:solidFill>
                <a:latin typeface="Alexandria"/>
                <a:ea typeface="Alexandria"/>
                <a:cs typeface="Alexandria"/>
              </a:rPr>
              <a:t>نصا نصا، ويحتاج لفظا دقيقا ووقتا وخبرة</a:t>
            </a:r>
          </a:p>
        </p:txBody>
      </p:sp>
      <p:sp>
        <p:nvSpPr>
          <p:cNvPr id="933" name="Rounded Rectangle 932"/>
          <p:cNvSpPr/>
          <p:nvPr/>
        </p:nvSpPr>
        <p:spPr>
          <a:xfrm>
            <a:off x="1408176" y="5623560"/>
            <a:ext cx="7498079" cy="1600200"/>
          </a:xfrm>
          <a:prstGeom prst="roundRect">
            <a:avLst>
              <a:gd name="adj" fmla="val 17142"/>
            </a:avLst>
          </a:prstGeom>
          <a:solidFill>
            <a:srgbClr val="E9EBFF"/>
          </a:solidFill>
          <a:ln>
            <a:noFill/>
          </a:ln>
        </p:spPr>
        <p:txBody>
          <a:bodyPr rtlCol="0" anchor="ctr"/>
          <a:lstStyle/>
          <a:p>
            <a:pPr algn="ctr"/>
            <a:endParaRPr/>
          </a:p>
        </p:txBody>
      </p:sp>
      <p:sp>
        <p:nvSpPr>
          <p:cNvPr id="934" name="TextBox 933"/>
          <p:cNvSpPr txBox="1"/>
          <p:nvPr/>
        </p:nvSpPr>
        <p:spPr>
          <a:xfrm>
            <a:off x="1682496" y="5852160"/>
            <a:ext cx="694944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روبوتات المحادثة العامة</a:t>
            </a:r>
          </a:p>
        </p:txBody>
      </p:sp>
      <p:sp>
        <p:nvSpPr>
          <p:cNvPr id="935" name="TextBox 934"/>
          <p:cNvSpPr txBox="1"/>
          <p:nvPr/>
        </p:nvSpPr>
        <p:spPr>
          <a:xfrm>
            <a:off x="1682496" y="6400800"/>
            <a:ext cx="6949440" cy="731520"/>
          </a:xfrm>
          <a:prstGeom prst="rect">
            <a:avLst/>
          </a:prstGeom>
          <a:noFill/>
        </p:spPr>
        <p:txBody>
          <a:bodyPr wrap="square" lIns="0" tIns="0" rIns="0" bIns="0" anchor="t">
            <a:spAutoFit/>
          </a:bodyPr>
          <a:lstStyle/>
          <a:p>
            <a:pPr algn="r" rtl="1"/>
            <a:r>
              <a:rPr lang="ar-SA" sz="1600" b="0">
                <a:solidFill>
                  <a:srgbClr val="4B5383"/>
                </a:solidFill>
                <a:latin typeface="Alexandria"/>
                <a:ea typeface="Alexandria"/>
                <a:cs typeface="Alexandria"/>
              </a:rPr>
              <a:t>قد تخترع مرجعا، ونتائجها لا تتكرر من مرة لأخرى</a:t>
            </a:r>
          </a:p>
        </p:txBody>
      </p:sp>
      <p:sp>
        <p:nvSpPr>
          <p:cNvPr id="936" name="Rounded Rectangle 935"/>
          <p:cNvSpPr/>
          <p:nvPr/>
        </p:nvSpPr>
        <p:spPr>
          <a:xfrm>
            <a:off x="1408176" y="7406640"/>
            <a:ext cx="7498079" cy="1600200"/>
          </a:xfrm>
          <a:prstGeom prst="roundRect">
            <a:avLst>
              <a:gd name="adj" fmla="val 17142"/>
            </a:avLst>
          </a:prstGeom>
          <a:solidFill>
            <a:srgbClr val="E9EBFF"/>
          </a:solidFill>
          <a:ln>
            <a:noFill/>
          </a:ln>
        </p:spPr>
        <p:txBody>
          <a:bodyPr rtlCol="0" anchor="ctr"/>
          <a:lstStyle/>
          <a:p>
            <a:pPr algn="ctr"/>
            <a:endParaRPr/>
          </a:p>
        </p:txBody>
      </p:sp>
      <p:sp>
        <p:nvSpPr>
          <p:cNvPr id="937" name="TextBox 936"/>
          <p:cNvSpPr txBox="1"/>
          <p:nvPr/>
        </p:nvSpPr>
        <p:spPr>
          <a:xfrm>
            <a:off x="1682496" y="7635240"/>
            <a:ext cx="694944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سؤال مختص</a:t>
            </a:r>
          </a:p>
        </p:txBody>
      </p:sp>
      <p:sp>
        <p:nvSpPr>
          <p:cNvPr id="938" name="TextBox 937"/>
          <p:cNvSpPr txBox="1"/>
          <p:nvPr/>
        </p:nvSpPr>
        <p:spPr>
          <a:xfrm>
            <a:off x="1682496" y="8183879"/>
            <a:ext cx="6949440" cy="731520"/>
          </a:xfrm>
          <a:prstGeom prst="rect">
            <a:avLst/>
          </a:prstGeom>
          <a:noFill/>
        </p:spPr>
        <p:txBody>
          <a:bodyPr wrap="square" lIns="0" tIns="0" rIns="0" bIns="0" anchor="t">
            <a:spAutoFit/>
          </a:bodyPr>
          <a:lstStyle/>
          <a:p>
            <a:pPr algn="r" rtl="1"/>
            <a:r>
              <a:rPr lang="ar-SA" sz="1600" b="0">
                <a:solidFill>
                  <a:srgbClr val="4B5383"/>
                </a:solidFill>
                <a:latin typeface="Alexandria"/>
                <a:ea typeface="Alexandria"/>
                <a:cs typeface="Alexandria"/>
              </a:rPr>
              <a:t>موثوق… لكنه بطيء ولا يتسع لكل رسالة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6</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المشكلة</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معيار النجاح… كما يحدده المسار</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المسار 04 — أدوات المعرفة والتحقق لتمكين المعرفين بالإسلام</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408176" y="3246120"/>
            <a:ext cx="15435072" cy="1783080"/>
          </a:xfrm>
          <a:prstGeom prst="roundRect">
            <a:avLst>
              <a:gd name="adj" fmla="val 15384"/>
            </a:avLst>
          </a:prstGeom>
          <a:solidFill>
            <a:srgbClr val="1C2558"/>
          </a:solidFill>
          <a:ln>
            <a:noFill/>
          </a:ln>
        </p:spPr>
        <p:txBody>
          <a:bodyPr rtlCol="0" anchor="ctr"/>
          <a:lstStyle/>
          <a:p>
            <a:pPr algn="ctr"/>
            <a:endParaRPr/>
          </a:p>
        </p:txBody>
      </p:sp>
      <p:sp>
        <p:nvSpPr>
          <p:cNvPr id="906" name="TextBox 905"/>
          <p:cNvSpPr txBox="1"/>
          <p:nvPr/>
        </p:nvSpPr>
        <p:spPr>
          <a:xfrm>
            <a:off x="1773936" y="3474720"/>
            <a:ext cx="14721840" cy="1371600"/>
          </a:xfrm>
          <a:prstGeom prst="rect">
            <a:avLst/>
          </a:prstGeom>
          <a:noFill/>
        </p:spPr>
        <p:txBody>
          <a:bodyPr wrap="square" lIns="0" tIns="0" rIns="0" bIns="0" anchor="t">
            <a:spAutoFit/>
          </a:bodyPr>
          <a:lstStyle/>
          <a:p>
            <a:pPr algn="r" rtl="1">
              <a:lnSpc>
                <a:spcPct val="115000"/>
              </a:lnSpc>
            </a:pPr>
            <a:r>
              <a:rPr lang="ar-SA" sz="2100" b="0">
                <a:solidFill>
                  <a:srgbClr val="F2F4FF"/>
                </a:solidFill>
                <a:latin typeface="Alexandria"/>
                <a:ea typeface="Alexandria"/>
                <a:cs typeface="Alexandria"/>
              </a:rPr>
              <a:t>«هل حسن الحل دقة الوصول إلى المعرفة أو التحقق منها، وأظهر المصدر وحالة الدليل بصورة واضحة وقابلة للتتبع، وميز بين ما تؤيده المصادر وما يتطلب مزيدا من التحقق أو الإحالة؟»</a:t>
            </a:r>
          </a:p>
        </p:txBody>
      </p:sp>
      <p:sp>
        <p:nvSpPr>
          <p:cNvPr id="907" name="TextBox 906"/>
          <p:cNvSpPr txBox="1"/>
          <p:nvPr/>
        </p:nvSpPr>
        <p:spPr>
          <a:xfrm>
            <a:off x="1773936" y="4617720"/>
            <a:ext cx="14721840" cy="365760"/>
          </a:xfrm>
          <a:prstGeom prst="rect">
            <a:avLst/>
          </a:prstGeom>
          <a:noFill/>
        </p:spPr>
        <p:txBody>
          <a:bodyPr wrap="square" lIns="0" tIns="0" rIns="0" bIns="0" anchor="t">
            <a:spAutoFit/>
          </a:bodyPr>
          <a:lstStyle/>
          <a:p>
            <a:pPr algn="r" rtl="1"/>
            <a:r>
              <a:rPr lang="ar-SA" sz="1400" b="0">
                <a:solidFill>
                  <a:srgbClr val="AEB4DA"/>
                </a:solidFill>
                <a:latin typeface="Alexandria"/>
                <a:ea typeface="Alexandria"/>
                <a:cs typeface="Alexandria"/>
              </a:rPr>
              <a:t>— معيار النجاح في المسار، دليل المشارك</a:t>
            </a:r>
          </a:p>
        </p:txBody>
      </p:sp>
      <p:sp>
        <p:nvSpPr>
          <p:cNvPr id="908" name="Rounded Rectangle 907"/>
          <p:cNvSpPr/>
          <p:nvPr/>
        </p:nvSpPr>
        <p:spPr>
          <a:xfrm>
            <a:off x="13075920" y="5349240"/>
            <a:ext cx="3721608" cy="3703320"/>
          </a:xfrm>
          <a:prstGeom prst="roundRect">
            <a:avLst>
              <a:gd name="adj" fmla="val 7407"/>
            </a:avLst>
          </a:prstGeom>
          <a:solidFill>
            <a:srgbClr val="1C2558"/>
          </a:solidFill>
          <a:ln>
            <a:noFill/>
          </a:ln>
        </p:spPr>
        <p:txBody>
          <a:bodyPr rtlCol="0" anchor="ctr"/>
          <a:lstStyle/>
          <a:p>
            <a:pPr algn="ctr"/>
            <a:endParaRPr/>
          </a:p>
        </p:txBody>
      </p:sp>
      <p:sp>
        <p:nvSpPr>
          <p:cNvPr id="909" name="TextBox 908"/>
          <p:cNvSpPr txBox="1"/>
          <p:nvPr/>
        </p:nvSpPr>
        <p:spPr>
          <a:xfrm>
            <a:off x="13350240" y="5577840"/>
            <a:ext cx="3200400" cy="914400"/>
          </a:xfrm>
          <a:prstGeom prst="rect">
            <a:avLst/>
          </a:prstGeom>
          <a:noFill/>
        </p:spPr>
        <p:txBody>
          <a:bodyPr wrap="square" lIns="0" tIns="0" rIns="0" bIns="0" anchor="t">
            <a:spAutoFit/>
          </a:bodyPr>
          <a:lstStyle/>
          <a:p>
            <a:pPr algn="r" rtl="1"/>
            <a:r>
              <a:rPr lang="ar-SA" sz="4000" b="1">
                <a:solidFill>
                  <a:srgbClr val="2EF2C2"/>
                </a:solidFill>
                <a:latin typeface="Alexandria"/>
                <a:ea typeface="Alexandria"/>
                <a:cs typeface="Alexandria"/>
              </a:rPr>
              <a:t>الدقة</a:t>
            </a:r>
          </a:p>
        </p:txBody>
      </p:sp>
      <p:sp>
        <p:nvSpPr>
          <p:cNvPr id="910" name="TextBox 909"/>
          <p:cNvSpPr txBox="1"/>
          <p:nvPr/>
        </p:nvSpPr>
        <p:spPr>
          <a:xfrm>
            <a:off x="13350240" y="6492240"/>
            <a:ext cx="3200400" cy="822960"/>
          </a:xfrm>
          <a:prstGeom prst="rect">
            <a:avLst/>
          </a:prstGeom>
          <a:noFill/>
        </p:spPr>
        <p:txBody>
          <a:bodyPr wrap="square" lIns="0" tIns="0" rIns="0" bIns="0" anchor="t">
            <a:spAutoFit/>
          </a:bodyPr>
          <a:lstStyle/>
          <a:p>
            <a:pPr algn="r" rtl="1">
              <a:lnSpc>
                <a:spcPct val="100000"/>
              </a:lnSpc>
            </a:pPr>
            <a:r>
              <a:rPr lang="ar-SA" sz="1800" b="1">
                <a:solidFill>
                  <a:srgbClr val="F2F4FF"/>
                </a:solidFill>
                <a:latin typeface="Alexandria"/>
                <a:ea typeface="Alexandria"/>
                <a:cs typeface="Alexandria"/>
              </a:rPr>
              <a:t>صحة المصدر والحكم</a:t>
            </a:r>
          </a:p>
        </p:txBody>
      </p:sp>
      <p:sp>
        <p:nvSpPr>
          <p:cNvPr id="911" name="TextBox 910"/>
          <p:cNvSpPr txBox="1"/>
          <p:nvPr/>
        </p:nvSpPr>
        <p:spPr>
          <a:xfrm>
            <a:off x="13350240" y="7406640"/>
            <a:ext cx="3200400" cy="1600200"/>
          </a:xfrm>
          <a:prstGeom prst="rect">
            <a:avLst/>
          </a:prstGeom>
          <a:noFill/>
        </p:spPr>
        <p:txBody>
          <a:bodyPr wrap="square" lIns="0" tIns="0" rIns="0" bIns="0" anchor="t">
            <a:spAutoFit/>
          </a:bodyPr>
          <a:lstStyle/>
          <a:p>
            <a:pPr algn="r" rtl="1">
              <a:lnSpc>
                <a:spcPct val="110000"/>
              </a:lnSpc>
            </a:pPr>
            <a:r>
              <a:rPr lang="ar-SA" sz="1400" b="0">
                <a:solidFill>
                  <a:srgbClr val="AEB4DA"/>
                </a:solidFill>
                <a:latin typeface="Alexandria"/>
                <a:ea typeface="Alexandria"/>
                <a:cs typeface="Alexandria"/>
              </a:rPr>
              <a:t>على حالات اختبار تشمل أنواع اختبارات الحزمة العلمية، ومجموعة مستقلة يكتبها مختص</a:t>
            </a:r>
          </a:p>
        </p:txBody>
      </p:sp>
      <p:sp>
        <p:nvSpPr>
          <p:cNvPr id="912" name="Rounded Rectangle 911"/>
          <p:cNvSpPr/>
          <p:nvPr/>
        </p:nvSpPr>
        <p:spPr>
          <a:xfrm>
            <a:off x="9217152" y="5349240"/>
            <a:ext cx="3721608" cy="3703320"/>
          </a:xfrm>
          <a:prstGeom prst="roundRect">
            <a:avLst>
              <a:gd name="adj" fmla="val 7407"/>
            </a:avLst>
          </a:prstGeom>
          <a:solidFill>
            <a:srgbClr val="1C2558"/>
          </a:solidFill>
          <a:ln>
            <a:noFill/>
          </a:ln>
        </p:spPr>
        <p:txBody>
          <a:bodyPr rtlCol="0" anchor="ctr"/>
          <a:lstStyle/>
          <a:p>
            <a:pPr algn="ctr"/>
            <a:endParaRPr/>
          </a:p>
        </p:txBody>
      </p:sp>
      <p:sp>
        <p:nvSpPr>
          <p:cNvPr id="913" name="TextBox 912"/>
          <p:cNvSpPr txBox="1"/>
          <p:nvPr/>
        </p:nvSpPr>
        <p:spPr>
          <a:xfrm>
            <a:off x="9491472" y="5577840"/>
            <a:ext cx="3200400" cy="914400"/>
          </a:xfrm>
          <a:prstGeom prst="rect">
            <a:avLst/>
          </a:prstGeom>
          <a:noFill/>
        </p:spPr>
        <p:txBody>
          <a:bodyPr wrap="square" lIns="0" tIns="0" rIns="0" bIns="0" anchor="t">
            <a:spAutoFit/>
          </a:bodyPr>
          <a:lstStyle/>
          <a:p>
            <a:pPr algn="r" rtl="1"/>
            <a:r>
              <a:rPr lang="ar-SA" sz="4000" b="1">
                <a:solidFill>
                  <a:srgbClr val="2EF2C2"/>
                </a:solidFill>
                <a:latin typeface="Alexandria"/>
                <a:ea typeface="Alexandria"/>
                <a:cs typeface="Alexandria"/>
              </a:rPr>
              <a:t>صفر</a:t>
            </a:r>
          </a:p>
        </p:txBody>
      </p:sp>
      <p:sp>
        <p:nvSpPr>
          <p:cNvPr id="914" name="TextBox 913"/>
          <p:cNvSpPr txBox="1"/>
          <p:nvPr/>
        </p:nvSpPr>
        <p:spPr>
          <a:xfrm>
            <a:off x="9491472" y="6492240"/>
            <a:ext cx="3200400" cy="822960"/>
          </a:xfrm>
          <a:prstGeom prst="rect">
            <a:avLst/>
          </a:prstGeom>
          <a:noFill/>
        </p:spPr>
        <p:txBody>
          <a:bodyPr wrap="square" lIns="0" tIns="0" rIns="0" bIns="0" anchor="t">
            <a:spAutoFit/>
          </a:bodyPr>
          <a:lstStyle/>
          <a:p>
            <a:pPr algn="r" rtl="1">
              <a:lnSpc>
                <a:spcPct val="100000"/>
              </a:lnSpc>
            </a:pPr>
            <a:r>
              <a:rPr lang="ar-SA" sz="1800" b="1">
                <a:solidFill>
                  <a:srgbClr val="F2F4FF"/>
                </a:solidFill>
                <a:latin typeface="Alexandria"/>
                <a:ea typeface="Alexandria"/>
                <a:cs typeface="Alexandria"/>
              </a:rPr>
              <a:t>أخطاء حرجة</a:t>
            </a:r>
          </a:p>
        </p:txBody>
      </p:sp>
      <p:sp>
        <p:nvSpPr>
          <p:cNvPr id="915" name="TextBox 914"/>
          <p:cNvSpPr txBox="1"/>
          <p:nvPr/>
        </p:nvSpPr>
        <p:spPr>
          <a:xfrm>
            <a:off x="9491472" y="7406640"/>
            <a:ext cx="3200400" cy="1600200"/>
          </a:xfrm>
          <a:prstGeom prst="rect">
            <a:avLst/>
          </a:prstGeom>
          <a:noFill/>
        </p:spPr>
        <p:txBody>
          <a:bodyPr wrap="square" lIns="0" tIns="0" rIns="0" bIns="0" anchor="t">
            <a:spAutoFit/>
          </a:bodyPr>
          <a:lstStyle/>
          <a:p>
            <a:pPr algn="r" rtl="1">
              <a:lnSpc>
                <a:spcPct val="110000"/>
              </a:lnSpc>
            </a:pPr>
            <a:r>
              <a:rPr lang="ar-SA" sz="1400" b="0">
                <a:solidFill>
                  <a:srgbClr val="AEB4DA"/>
                </a:solidFill>
                <a:latin typeface="Alexandria"/>
                <a:ea typeface="Alexandria"/>
                <a:cs typeface="Alexandria"/>
              </a:rPr>
              <a:t>لا يوصف ما لا يثبت بأنه ثابت، ولا العكس، ولا يخترع دليل</a:t>
            </a:r>
          </a:p>
        </p:txBody>
      </p:sp>
      <p:sp>
        <p:nvSpPr>
          <p:cNvPr id="916" name="Rounded Rectangle 915"/>
          <p:cNvSpPr/>
          <p:nvPr/>
        </p:nvSpPr>
        <p:spPr>
          <a:xfrm>
            <a:off x="5358384" y="5349240"/>
            <a:ext cx="3721608" cy="3703320"/>
          </a:xfrm>
          <a:prstGeom prst="roundRect">
            <a:avLst>
              <a:gd name="adj" fmla="val 7407"/>
            </a:avLst>
          </a:prstGeom>
          <a:solidFill>
            <a:srgbClr val="1C2558"/>
          </a:solidFill>
          <a:ln>
            <a:noFill/>
          </a:ln>
        </p:spPr>
        <p:txBody>
          <a:bodyPr rtlCol="0" anchor="ctr"/>
          <a:lstStyle/>
          <a:p>
            <a:pPr algn="ctr"/>
            <a:endParaRPr/>
          </a:p>
        </p:txBody>
      </p:sp>
      <p:sp>
        <p:nvSpPr>
          <p:cNvPr id="917" name="TextBox 916"/>
          <p:cNvSpPr txBox="1"/>
          <p:nvPr/>
        </p:nvSpPr>
        <p:spPr>
          <a:xfrm>
            <a:off x="5632704" y="5577840"/>
            <a:ext cx="3200400" cy="914400"/>
          </a:xfrm>
          <a:prstGeom prst="rect">
            <a:avLst/>
          </a:prstGeom>
          <a:noFill/>
        </p:spPr>
        <p:txBody>
          <a:bodyPr wrap="square" lIns="0" tIns="0" rIns="0" bIns="0" anchor="t">
            <a:spAutoFit/>
          </a:bodyPr>
          <a:lstStyle/>
          <a:p>
            <a:pPr algn="r" rtl="1"/>
            <a:r>
              <a:rPr lang="ar-SA" sz="4000" b="1">
                <a:solidFill>
                  <a:srgbClr val="2EF2C2"/>
                </a:solidFill>
                <a:latin typeface="Alexandria"/>
                <a:ea typeface="Alexandria"/>
                <a:cs typeface="Alexandria"/>
              </a:rPr>
              <a:t>ثوان</a:t>
            </a:r>
          </a:p>
        </p:txBody>
      </p:sp>
      <p:sp>
        <p:nvSpPr>
          <p:cNvPr id="918" name="TextBox 917"/>
          <p:cNvSpPr txBox="1"/>
          <p:nvPr/>
        </p:nvSpPr>
        <p:spPr>
          <a:xfrm>
            <a:off x="5632704" y="6492240"/>
            <a:ext cx="3200400" cy="822960"/>
          </a:xfrm>
          <a:prstGeom prst="rect">
            <a:avLst/>
          </a:prstGeom>
          <a:noFill/>
        </p:spPr>
        <p:txBody>
          <a:bodyPr wrap="square" lIns="0" tIns="0" rIns="0" bIns="0" anchor="t">
            <a:spAutoFit/>
          </a:bodyPr>
          <a:lstStyle/>
          <a:p>
            <a:pPr algn="r" rtl="1">
              <a:lnSpc>
                <a:spcPct val="100000"/>
              </a:lnSpc>
            </a:pPr>
            <a:r>
              <a:rPr lang="ar-SA" sz="1800" b="1">
                <a:solidFill>
                  <a:srgbClr val="F2F4FF"/>
                </a:solidFill>
                <a:latin typeface="Alexandria"/>
                <a:ea typeface="Alexandria"/>
                <a:cs typeface="Alexandria"/>
              </a:rPr>
              <a:t>زمن الوصول إلى حكم موثق</a:t>
            </a:r>
          </a:p>
        </p:txBody>
      </p:sp>
      <p:sp>
        <p:nvSpPr>
          <p:cNvPr id="919" name="TextBox 918"/>
          <p:cNvSpPr txBox="1"/>
          <p:nvPr/>
        </p:nvSpPr>
        <p:spPr>
          <a:xfrm>
            <a:off x="5632704" y="7406640"/>
            <a:ext cx="3200400" cy="1600200"/>
          </a:xfrm>
          <a:prstGeom prst="rect">
            <a:avLst/>
          </a:prstGeom>
          <a:noFill/>
        </p:spPr>
        <p:txBody>
          <a:bodyPr wrap="square" lIns="0" tIns="0" rIns="0" bIns="0" anchor="t">
            <a:spAutoFit/>
          </a:bodyPr>
          <a:lstStyle/>
          <a:p>
            <a:pPr algn="r" rtl="1">
              <a:lnSpc>
                <a:spcPct val="110000"/>
              </a:lnSpc>
            </a:pPr>
            <a:r>
              <a:rPr lang="ar-SA" sz="1400" b="0">
                <a:solidFill>
                  <a:srgbClr val="AEB4DA"/>
                </a:solidFill>
                <a:latin typeface="Alexandria"/>
                <a:ea typeface="Alexandria"/>
                <a:cs typeface="Alexandria"/>
              </a:rPr>
              <a:t>رسالة كاملة بعدة نصوص… مقابل دقائق من البحث اليدوي لكل نص</a:t>
            </a:r>
          </a:p>
        </p:txBody>
      </p:sp>
      <p:sp>
        <p:nvSpPr>
          <p:cNvPr id="920" name="Rounded Rectangle 919"/>
          <p:cNvSpPr/>
          <p:nvPr/>
        </p:nvSpPr>
        <p:spPr>
          <a:xfrm>
            <a:off x="1499616" y="5349240"/>
            <a:ext cx="3721608" cy="3703320"/>
          </a:xfrm>
          <a:prstGeom prst="roundRect">
            <a:avLst>
              <a:gd name="adj" fmla="val 7407"/>
            </a:avLst>
          </a:prstGeom>
          <a:solidFill>
            <a:srgbClr val="1C2558"/>
          </a:solidFill>
          <a:ln>
            <a:noFill/>
          </a:ln>
        </p:spPr>
        <p:txBody>
          <a:bodyPr rtlCol="0" anchor="ctr"/>
          <a:lstStyle/>
          <a:p>
            <a:pPr algn="ctr"/>
            <a:endParaRPr/>
          </a:p>
        </p:txBody>
      </p:sp>
      <p:sp>
        <p:nvSpPr>
          <p:cNvPr id="921" name="TextBox 920"/>
          <p:cNvSpPr txBox="1"/>
          <p:nvPr/>
        </p:nvSpPr>
        <p:spPr>
          <a:xfrm>
            <a:off x="1773936" y="5577840"/>
            <a:ext cx="3200400" cy="914400"/>
          </a:xfrm>
          <a:prstGeom prst="rect">
            <a:avLst/>
          </a:prstGeom>
          <a:noFill/>
        </p:spPr>
        <p:txBody>
          <a:bodyPr wrap="square" lIns="0" tIns="0" rIns="0" bIns="0" anchor="t">
            <a:spAutoFit/>
          </a:bodyPr>
          <a:lstStyle/>
          <a:p>
            <a:pPr algn="r" rtl="1"/>
            <a:r>
              <a:rPr lang="ar-SA" sz="4000" b="1">
                <a:solidFill>
                  <a:srgbClr val="2EF2C2"/>
                </a:solidFill>
                <a:latin typeface="Alexandria"/>
                <a:ea typeface="Alexandria"/>
                <a:cs typeface="Alexandria"/>
              </a:rPr>
              <a:t>التتبع</a:t>
            </a:r>
          </a:p>
        </p:txBody>
      </p:sp>
      <p:sp>
        <p:nvSpPr>
          <p:cNvPr id="922" name="TextBox 921"/>
          <p:cNvSpPr txBox="1"/>
          <p:nvPr/>
        </p:nvSpPr>
        <p:spPr>
          <a:xfrm>
            <a:off x="1773936" y="6492240"/>
            <a:ext cx="3200400" cy="822960"/>
          </a:xfrm>
          <a:prstGeom prst="rect">
            <a:avLst/>
          </a:prstGeom>
          <a:noFill/>
        </p:spPr>
        <p:txBody>
          <a:bodyPr wrap="square" lIns="0" tIns="0" rIns="0" bIns="0" anchor="t">
            <a:spAutoFit/>
          </a:bodyPr>
          <a:lstStyle/>
          <a:p>
            <a:pPr algn="r" rtl="1">
              <a:lnSpc>
                <a:spcPct val="100000"/>
              </a:lnSpc>
            </a:pPr>
            <a:r>
              <a:rPr lang="ar-SA" sz="1800" b="1">
                <a:solidFill>
                  <a:srgbClr val="F2F4FF"/>
                </a:solidFill>
                <a:latin typeface="Alexandria"/>
                <a:ea typeface="Alexandria"/>
                <a:cs typeface="Alexandria"/>
              </a:rPr>
              <a:t>مصدر وحالة دليل لكل نص</a:t>
            </a:r>
          </a:p>
        </p:txBody>
      </p:sp>
      <p:sp>
        <p:nvSpPr>
          <p:cNvPr id="923" name="TextBox 922"/>
          <p:cNvSpPr txBox="1"/>
          <p:nvPr/>
        </p:nvSpPr>
        <p:spPr>
          <a:xfrm>
            <a:off x="1773936" y="7406640"/>
            <a:ext cx="3200400" cy="1600200"/>
          </a:xfrm>
          <a:prstGeom prst="rect">
            <a:avLst/>
          </a:prstGeom>
          <a:noFill/>
        </p:spPr>
        <p:txBody>
          <a:bodyPr wrap="square" lIns="0" tIns="0" rIns="0" bIns="0" anchor="t">
            <a:spAutoFit/>
          </a:bodyPr>
          <a:lstStyle/>
          <a:p>
            <a:pPr algn="r" rtl="1">
              <a:lnSpc>
                <a:spcPct val="110000"/>
              </a:lnSpc>
            </a:pPr>
            <a:r>
              <a:rPr lang="ar-SA" sz="1400" b="0">
                <a:solidFill>
                  <a:srgbClr val="AEB4DA"/>
                </a:solidFill>
                <a:latin typeface="Alexandria"/>
                <a:ea typeface="Alexandria"/>
                <a:cs typeface="Alexandria"/>
              </a:rPr>
              <a:t>الكتاب والرقم والرابط، وحكم كل محقق باسمه، ومستوى المحتوى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a:spLocks noGrp="1"/>
          </p:cNvSpPr>
          <p:nvPr>
            <p:ph type="body" idx="1"/>
          </p:nvPr>
        </p:nvSpPr>
        <p:spPr>
          <a:xfrm>
            <a:off x="13125450" y="3143250"/>
            <a:ext cx="3619500" cy="12384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8400"/>
              <a:buNone/>
            </a:pPr>
            <a:r>
              <a:rPr lang="en-US" sz="8400" b="1">
                <a:solidFill>
                  <a:srgbClr val="2EF2C2"/>
                </a:solidFill>
                <a:latin typeface="Alexandria"/>
                <a:ea typeface="Alexandria"/>
                <a:cs typeface="Alexandria"/>
                <a:sym typeface="Readex Pro"/>
              </a:rPr>
              <a:t>02</a:t>
            </a:r>
            <a:endParaRPr/>
          </a:p>
        </p:txBody>
      </p:sp>
      <p:sp>
        <p:nvSpPr>
          <p:cNvPr id="528" name="Google Shape;528;p10"/>
          <p:cNvSpPr txBox="1">
            <a:spLocks noGrp="1"/>
          </p:cNvSpPr>
          <p:nvPr>
            <p:ph type="title"/>
          </p:nvPr>
        </p:nvSpPr>
        <p:spPr>
          <a:xfrm>
            <a:off x="9179000" y="4810125"/>
            <a:ext cx="7566000" cy="1238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000"/>
              <a:buNone/>
            </a:pPr>
            <a:r>
              <a:rPr lang="ar-SA" sz="6000" b="1">
                <a:solidFill>
                  <a:srgbClr val="F2F4FF"/>
                </a:solidFill>
                <a:latin typeface="Alexandria"/>
                <a:ea typeface="Alexandria"/>
                <a:cs typeface="Alexandria"/>
                <a:sym typeface="Readex Pro"/>
              </a:rPr>
              <a:t>الحل</a:t>
            </a:r>
            <a:endParaRPr/>
          </a:p>
        </p:txBody>
      </p:sp>
      <p:sp>
        <p:nvSpPr>
          <p:cNvPr id="529" name="Google Shape;529;p10"/>
          <p:cNvSpPr txBox="1">
            <a:spLocks noGrp="1"/>
          </p:cNvSpPr>
          <p:nvPr>
            <p:ph type="body" idx="2"/>
          </p:nvPr>
        </p:nvSpPr>
        <p:spPr>
          <a:xfrm>
            <a:off x="9729275" y="6572250"/>
            <a:ext cx="7015500" cy="675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0">
                <a:solidFill>
                  <a:srgbClr val="CBCFE6"/>
                </a:solidFill>
                <a:latin typeface="Alexandria"/>
                <a:ea typeface="Alexandria"/>
                <a:cs typeface="Alexandria"/>
                <a:sym typeface="Readex Pro"/>
              </a:rPr>
              <a:t>الصق الرسالة… واعرف مصدر كل نص فيها</a:t>
            </a:r>
            <a:endParaRPr/>
          </a:p>
        </p:txBody>
      </p:sp>
      <p:pic>
        <p:nvPicPr>
          <p:cNvPr id="530" name="Google Shape;530;p10"/>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8</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الحل</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ثبت: وصلتك رسالة؟ ثبتها.</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خدمة مجانية على الحاسوب والجوال، تعيد كل آية وحديث إلى مصدره</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pic>
        <p:nvPicPr>
          <p:cNvPr id="905" name="Picture 904" descr="home_0.png"/>
          <p:cNvPicPr>
            <a:picLocks noChangeAspect="1"/>
          </p:cNvPicPr>
          <p:nvPr/>
        </p:nvPicPr>
        <p:blipFill>
          <a:blip r:embed="rId5"/>
          <a:stretch>
            <a:fillRect/>
          </a:stretch>
        </p:blipFill>
        <p:spPr>
          <a:xfrm>
            <a:off x="1408176" y="3246120"/>
            <a:ext cx="9784080" cy="5503545"/>
          </a:xfrm>
          <a:prstGeom prst="roundRect">
            <a:avLst>
              <a:gd name="adj" fmla="val 2990"/>
            </a:avLst>
          </a:prstGeom>
          <a:effectLst>
            <a:outerShdw blurRad="380000" dist="120000" dir="5400000" algn="t" rotWithShape="0">
              <a:srgbClr val="000000">
                <a:alpha val="40000"/>
              </a:srgbClr>
            </a:outerShdw>
          </a:effectLst>
        </p:spPr>
      </p:pic>
      <p:sp>
        <p:nvSpPr>
          <p:cNvPr id="906" name="Oval 905"/>
          <p:cNvSpPr/>
          <p:nvPr/>
        </p:nvSpPr>
        <p:spPr>
          <a:xfrm>
            <a:off x="16276320" y="3291839"/>
            <a:ext cx="566928" cy="566928"/>
          </a:xfrm>
          <a:prstGeom prst="ellipse">
            <a:avLst/>
          </a:prstGeom>
          <a:solidFill>
            <a:srgbClr val="2EF2C2"/>
          </a:solidFill>
          <a:ln>
            <a:noFill/>
          </a:ln>
        </p:spPr>
        <p:txBody>
          <a:bodyPr rtlCol="0" anchor="ctr"/>
          <a:lstStyle/>
          <a:p>
            <a:pPr algn="ctr"/>
            <a:endParaRPr/>
          </a:p>
        </p:txBody>
      </p:sp>
      <p:sp>
        <p:nvSpPr>
          <p:cNvPr id="907" name="TextBox 906"/>
          <p:cNvSpPr txBox="1"/>
          <p:nvPr/>
        </p:nvSpPr>
        <p:spPr>
          <a:xfrm>
            <a:off x="16276320" y="3291839"/>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1</a:t>
            </a:r>
          </a:p>
        </p:txBody>
      </p:sp>
      <p:sp>
        <p:nvSpPr>
          <p:cNvPr id="908" name="TextBox 907"/>
          <p:cNvSpPr txBox="1"/>
          <p:nvPr/>
        </p:nvSpPr>
        <p:spPr>
          <a:xfrm>
            <a:off x="11521440" y="3246120"/>
            <a:ext cx="4572000"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المصدر بالكتاب والرقم</a:t>
            </a:r>
          </a:p>
        </p:txBody>
      </p:sp>
      <p:sp>
        <p:nvSpPr>
          <p:cNvPr id="909" name="TextBox 908"/>
          <p:cNvSpPr txBox="1"/>
          <p:nvPr/>
        </p:nvSpPr>
        <p:spPr>
          <a:xfrm>
            <a:off x="11521440" y="3776472"/>
            <a:ext cx="4572000" cy="822960"/>
          </a:xfrm>
          <a:prstGeom prst="rect">
            <a:avLst/>
          </a:prstGeom>
          <a:noFill/>
        </p:spPr>
        <p:txBody>
          <a:bodyPr wrap="square" lIns="0" tIns="0" rIns="0" bIns="0" anchor="t">
            <a:spAutoFit/>
          </a:bodyPr>
          <a:lstStyle/>
          <a:p>
            <a:pPr algn="r" rtl="1"/>
            <a:r>
              <a:rPr lang="ar-SA" sz="1500" b="0">
                <a:solidFill>
                  <a:srgbClr val="AEB4DA"/>
                </a:solidFill>
                <a:latin typeface="Alexandria"/>
                <a:ea typeface="Alexandria"/>
                <a:cs typeface="Alexandria"/>
              </a:rPr>
              <a:t>مع رابط للتحقق المستقل من المصدر</a:t>
            </a:r>
          </a:p>
        </p:txBody>
      </p:sp>
      <p:sp>
        <p:nvSpPr>
          <p:cNvPr id="910" name="Oval 909"/>
          <p:cNvSpPr/>
          <p:nvPr/>
        </p:nvSpPr>
        <p:spPr>
          <a:xfrm>
            <a:off x="16276320" y="4709159"/>
            <a:ext cx="566928" cy="566928"/>
          </a:xfrm>
          <a:prstGeom prst="ellipse">
            <a:avLst/>
          </a:prstGeom>
          <a:solidFill>
            <a:srgbClr val="2EF2C2"/>
          </a:solidFill>
          <a:ln>
            <a:noFill/>
          </a:ln>
        </p:spPr>
        <p:txBody>
          <a:bodyPr rtlCol="0" anchor="ctr"/>
          <a:lstStyle/>
          <a:p>
            <a:pPr algn="ctr"/>
            <a:endParaRPr/>
          </a:p>
        </p:txBody>
      </p:sp>
      <p:sp>
        <p:nvSpPr>
          <p:cNvPr id="911" name="TextBox 910"/>
          <p:cNvSpPr txBox="1"/>
          <p:nvPr/>
        </p:nvSpPr>
        <p:spPr>
          <a:xfrm>
            <a:off x="16276320" y="4709159"/>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2</a:t>
            </a:r>
          </a:p>
        </p:txBody>
      </p:sp>
      <p:sp>
        <p:nvSpPr>
          <p:cNvPr id="912" name="TextBox 911"/>
          <p:cNvSpPr txBox="1"/>
          <p:nvPr/>
        </p:nvSpPr>
        <p:spPr>
          <a:xfrm>
            <a:off x="11521440" y="4663440"/>
            <a:ext cx="4572000"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حكم كل محقق باسمه</a:t>
            </a:r>
          </a:p>
        </p:txBody>
      </p:sp>
      <p:sp>
        <p:nvSpPr>
          <p:cNvPr id="913" name="TextBox 912"/>
          <p:cNvSpPr txBox="1"/>
          <p:nvPr/>
        </p:nvSpPr>
        <p:spPr>
          <a:xfrm>
            <a:off x="11521440" y="5193792"/>
            <a:ext cx="4572000" cy="822960"/>
          </a:xfrm>
          <a:prstGeom prst="rect">
            <a:avLst/>
          </a:prstGeom>
          <a:noFill/>
        </p:spPr>
        <p:txBody>
          <a:bodyPr wrap="square" lIns="0" tIns="0" rIns="0" bIns="0" anchor="t">
            <a:spAutoFit/>
          </a:bodyPr>
          <a:lstStyle/>
          <a:p>
            <a:pPr algn="r" rtl="1"/>
            <a:r>
              <a:rPr lang="ar-SA" sz="1500" b="0">
                <a:solidFill>
                  <a:srgbClr val="AEB4DA"/>
                </a:solidFill>
                <a:latin typeface="Alexandria"/>
                <a:ea typeface="Alexandria"/>
                <a:cs typeface="Alexandria"/>
              </a:rPr>
              <a:t>كما نشر — وإن اختلفوا عرضنا أحكامهم كلها</a:t>
            </a:r>
          </a:p>
        </p:txBody>
      </p:sp>
      <p:sp>
        <p:nvSpPr>
          <p:cNvPr id="914" name="Oval 913"/>
          <p:cNvSpPr/>
          <p:nvPr/>
        </p:nvSpPr>
        <p:spPr>
          <a:xfrm>
            <a:off x="16276320" y="6126480"/>
            <a:ext cx="566928" cy="566928"/>
          </a:xfrm>
          <a:prstGeom prst="ellipse">
            <a:avLst/>
          </a:prstGeom>
          <a:solidFill>
            <a:srgbClr val="2EF2C2"/>
          </a:solidFill>
          <a:ln>
            <a:noFill/>
          </a:ln>
        </p:spPr>
        <p:txBody>
          <a:bodyPr rtlCol="0" anchor="ctr"/>
          <a:lstStyle/>
          <a:p>
            <a:pPr algn="ctr"/>
            <a:endParaRPr/>
          </a:p>
        </p:txBody>
      </p:sp>
      <p:sp>
        <p:nvSpPr>
          <p:cNvPr id="915" name="TextBox 914"/>
          <p:cNvSpPr txBox="1"/>
          <p:nvPr/>
        </p:nvSpPr>
        <p:spPr>
          <a:xfrm>
            <a:off x="16276320" y="612648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3</a:t>
            </a:r>
          </a:p>
        </p:txBody>
      </p:sp>
      <p:sp>
        <p:nvSpPr>
          <p:cNvPr id="916" name="TextBox 915"/>
          <p:cNvSpPr txBox="1"/>
          <p:nvPr/>
        </p:nvSpPr>
        <p:spPr>
          <a:xfrm>
            <a:off x="11521440" y="6080760"/>
            <a:ext cx="4572000"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الآية كلمة كلمة</a:t>
            </a:r>
          </a:p>
        </p:txBody>
      </p:sp>
      <p:sp>
        <p:nvSpPr>
          <p:cNvPr id="917" name="TextBox 916"/>
          <p:cNvSpPr txBox="1"/>
          <p:nvPr/>
        </p:nvSpPr>
        <p:spPr>
          <a:xfrm>
            <a:off x="11521440" y="6611112"/>
            <a:ext cx="4572000" cy="822960"/>
          </a:xfrm>
          <a:prstGeom prst="rect">
            <a:avLst/>
          </a:prstGeom>
          <a:noFill/>
        </p:spPr>
        <p:txBody>
          <a:bodyPr wrap="square" lIns="0" tIns="0" rIns="0" bIns="0" anchor="t">
            <a:spAutoFit/>
          </a:bodyPr>
          <a:lstStyle/>
          <a:p>
            <a:pPr algn="r" rtl="1"/>
            <a:r>
              <a:rPr lang="ar-SA" sz="1500" b="0">
                <a:solidFill>
                  <a:srgbClr val="AEB4DA"/>
                </a:solidFill>
                <a:latin typeface="Alexandria"/>
                <a:ea typeface="Alexandria"/>
                <a:cs typeface="Alexandria"/>
              </a:rPr>
              <a:t>مقابل نص المصحف، مع موضع كل اختلاف</a:t>
            </a:r>
          </a:p>
        </p:txBody>
      </p:sp>
      <p:sp>
        <p:nvSpPr>
          <p:cNvPr id="918" name="Oval 917"/>
          <p:cNvSpPr/>
          <p:nvPr/>
        </p:nvSpPr>
        <p:spPr>
          <a:xfrm>
            <a:off x="16276320" y="7543800"/>
            <a:ext cx="566928" cy="566928"/>
          </a:xfrm>
          <a:prstGeom prst="ellipse">
            <a:avLst/>
          </a:prstGeom>
          <a:solidFill>
            <a:srgbClr val="2EF2C2"/>
          </a:solidFill>
          <a:ln>
            <a:noFill/>
          </a:ln>
        </p:spPr>
        <p:txBody>
          <a:bodyPr rtlCol="0" anchor="ctr"/>
          <a:lstStyle/>
          <a:p>
            <a:pPr algn="ctr"/>
            <a:endParaRPr/>
          </a:p>
        </p:txBody>
      </p:sp>
      <p:sp>
        <p:nvSpPr>
          <p:cNvPr id="919" name="TextBox 918"/>
          <p:cNvSpPr txBox="1"/>
          <p:nvPr/>
        </p:nvSpPr>
        <p:spPr>
          <a:xfrm>
            <a:off x="16276320" y="754380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4</a:t>
            </a:r>
          </a:p>
        </p:txBody>
      </p:sp>
      <p:sp>
        <p:nvSpPr>
          <p:cNvPr id="920" name="TextBox 919"/>
          <p:cNvSpPr txBox="1"/>
          <p:nvPr/>
        </p:nvSpPr>
        <p:spPr>
          <a:xfrm>
            <a:off x="11521440" y="7498079"/>
            <a:ext cx="4572000"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«لم نجد» بصراحة</a:t>
            </a:r>
          </a:p>
        </p:txBody>
      </p:sp>
      <p:sp>
        <p:nvSpPr>
          <p:cNvPr id="921" name="TextBox 920"/>
          <p:cNvSpPr txBox="1"/>
          <p:nvPr/>
        </p:nvSpPr>
        <p:spPr>
          <a:xfrm>
            <a:off x="11521440" y="8028431"/>
            <a:ext cx="4572000" cy="822960"/>
          </a:xfrm>
          <a:prstGeom prst="rect">
            <a:avLst/>
          </a:prstGeom>
          <a:noFill/>
        </p:spPr>
        <p:txBody>
          <a:bodyPr wrap="square" lIns="0" tIns="0" rIns="0" bIns="0" anchor="t">
            <a:spAutoFit/>
          </a:bodyPr>
          <a:lstStyle/>
          <a:p>
            <a:pPr algn="r" rtl="1"/>
            <a:r>
              <a:rPr lang="ar-SA" sz="1500" b="0">
                <a:solidFill>
                  <a:srgbClr val="AEB4DA"/>
                </a:solidFill>
                <a:latin typeface="Alexandria"/>
                <a:ea typeface="Alexandria"/>
                <a:cs typeface="Alexandria"/>
              </a:rPr>
              <a:t>لا نخترع مرجعا، ونحيل إلى مختص</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9</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الحل</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على الحاسوب: أداة التحقق الكاملة</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islamicaich.vercel.app/verify — رسالة، فنتائج، فتفاصيل… في شاشة واحدة</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pic>
        <p:nvPicPr>
          <p:cNvPr id="913" name="Picture 912" descr="v0_0.png"/>
          <p:cNvPicPr>
            <a:picLocks noChangeAspect="1"/>
          </p:cNvPicPr>
          <p:nvPr/>
        </p:nvPicPr>
        <p:blipFill>
          <a:blip r:embed="rId5"/>
          <a:stretch>
            <a:fillRect/>
          </a:stretch>
        </p:blipFill>
        <p:spPr>
          <a:xfrm>
            <a:off x="1408176" y="3200400"/>
            <a:ext cx="10424160" cy="5863590"/>
          </a:xfrm>
          <a:prstGeom prst="roundRect">
            <a:avLst>
              <a:gd name="adj" fmla="val 2807"/>
            </a:avLst>
          </a:prstGeom>
          <a:effectLst>
            <a:outerShdw blurRad="380000" dist="120000" dir="5400000" algn="t" rotWithShape="0">
              <a:srgbClr val="000000">
                <a:alpha val="40000"/>
              </a:srgbClr>
            </a:outerShdw>
          </a:effectLst>
        </p:spPr>
      </p:pic>
      <p:sp>
        <p:nvSpPr>
          <p:cNvPr id="914" name="Oval 913"/>
          <p:cNvSpPr/>
          <p:nvPr/>
        </p:nvSpPr>
        <p:spPr>
          <a:xfrm>
            <a:off x="16276320" y="3246120"/>
            <a:ext cx="566928" cy="566928"/>
          </a:xfrm>
          <a:prstGeom prst="ellipse">
            <a:avLst/>
          </a:prstGeom>
          <a:solidFill>
            <a:srgbClr val="6150EA"/>
          </a:solidFill>
          <a:ln>
            <a:noFill/>
          </a:ln>
        </p:spPr>
        <p:txBody>
          <a:bodyPr rtlCol="0" anchor="ctr"/>
          <a:lstStyle/>
          <a:p>
            <a:pPr algn="ctr"/>
            <a:endParaRPr/>
          </a:p>
        </p:txBody>
      </p:sp>
      <p:sp>
        <p:nvSpPr>
          <p:cNvPr id="915" name="TextBox 914"/>
          <p:cNvSpPr txBox="1"/>
          <p:nvPr/>
        </p:nvSpPr>
        <p:spPr>
          <a:xfrm>
            <a:off x="16276320" y="324612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1</a:t>
            </a:r>
          </a:p>
        </p:txBody>
      </p:sp>
      <p:sp>
        <p:nvSpPr>
          <p:cNvPr id="916" name="TextBox 915"/>
          <p:cNvSpPr txBox="1"/>
          <p:nvPr/>
        </p:nvSpPr>
        <p:spPr>
          <a:xfrm>
            <a:off x="12161520" y="3200400"/>
            <a:ext cx="393192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الرسالة</a:t>
            </a:r>
          </a:p>
        </p:txBody>
      </p:sp>
      <p:sp>
        <p:nvSpPr>
          <p:cNvPr id="917" name="TextBox 916"/>
          <p:cNvSpPr txBox="1"/>
          <p:nvPr/>
        </p:nvSpPr>
        <p:spPr>
          <a:xfrm>
            <a:off x="12161520" y="3730752"/>
            <a:ext cx="3931920" cy="868680"/>
          </a:xfrm>
          <a:prstGeom prst="rect">
            <a:avLst/>
          </a:prstGeom>
          <a:noFill/>
        </p:spPr>
        <p:txBody>
          <a:bodyPr wrap="square" lIns="0" tIns="0" rIns="0" bIns="0" anchor="t">
            <a:spAutoFit/>
          </a:bodyPr>
          <a:lstStyle/>
          <a:p>
            <a:pPr algn="r" rtl="1"/>
            <a:r>
              <a:rPr lang="ar-SA" sz="1500" b="0">
                <a:solidFill>
                  <a:srgbClr val="4B5383"/>
                </a:solidFill>
                <a:latin typeface="Alexandria"/>
                <a:ea typeface="Alexandria"/>
                <a:cs typeface="Alexandria"/>
              </a:rPr>
              <a:t>لصق، أو لقطة شاشة تقرأ على جهازك، أو أحد الأمثلة</a:t>
            </a:r>
          </a:p>
        </p:txBody>
      </p:sp>
      <p:sp>
        <p:nvSpPr>
          <p:cNvPr id="918" name="Oval 917"/>
          <p:cNvSpPr/>
          <p:nvPr/>
        </p:nvSpPr>
        <p:spPr>
          <a:xfrm>
            <a:off x="16276320" y="4709159"/>
            <a:ext cx="566928" cy="566928"/>
          </a:xfrm>
          <a:prstGeom prst="ellipse">
            <a:avLst/>
          </a:prstGeom>
          <a:solidFill>
            <a:srgbClr val="6150EA"/>
          </a:solidFill>
          <a:ln>
            <a:noFill/>
          </a:ln>
        </p:spPr>
        <p:txBody>
          <a:bodyPr rtlCol="0" anchor="ctr"/>
          <a:lstStyle/>
          <a:p>
            <a:pPr algn="ctr"/>
            <a:endParaRPr/>
          </a:p>
        </p:txBody>
      </p:sp>
      <p:sp>
        <p:nvSpPr>
          <p:cNvPr id="919" name="TextBox 918"/>
          <p:cNvSpPr txBox="1"/>
          <p:nvPr/>
        </p:nvSpPr>
        <p:spPr>
          <a:xfrm>
            <a:off x="16276320" y="4709159"/>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2</a:t>
            </a:r>
          </a:p>
        </p:txBody>
      </p:sp>
      <p:sp>
        <p:nvSpPr>
          <p:cNvPr id="920" name="TextBox 919"/>
          <p:cNvSpPr txBox="1"/>
          <p:nvPr/>
        </p:nvSpPr>
        <p:spPr>
          <a:xfrm>
            <a:off x="12161520" y="4663440"/>
            <a:ext cx="393192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النتائج</a:t>
            </a:r>
          </a:p>
        </p:txBody>
      </p:sp>
      <p:sp>
        <p:nvSpPr>
          <p:cNvPr id="921" name="TextBox 920"/>
          <p:cNvSpPr txBox="1"/>
          <p:nvPr/>
        </p:nvSpPr>
        <p:spPr>
          <a:xfrm>
            <a:off x="12161520" y="5193792"/>
            <a:ext cx="3931920" cy="868680"/>
          </a:xfrm>
          <a:prstGeom prst="rect">
            <a:avLst/>
          </a:prstGeom>
          <a:noFill/>
        </p:spPr>
        <p:txBody>
          <a:bodyPr wrap="square" lIns="0" tIns="0" rIns="0" bIns="0" anchor="t">
            <a:spAutoFit/>
          </a:bodyPr>
          <a:lstStyle/>
          <a:p>
            <a:pPr algn="r" rtl="1"/>
            <a:r>
              <a:rPr lang="ar-SA" sz="1500" b="0">
                <a:solidFill>
                  <a:srgbClr val="4B5383"/>
                </a:solidFill>
                <a:latin typeface="Alexandria"/>
                <a:ea typeface="Alexandria"/>
                <a:cs typeface="Alexandria"/>
              </a:rPr>
              <a:t>عدد النصوص وما يثبت منها، وحكم كل نص ونوعه ومستواه</a:t>
            </a:r>
          </a:p>
        </p:txBody>
      </p:sp>
      <p:sp>
        <p:nvSpPr>
          <p:cNvPr id="922" name="Oval 921"/>
          <p:cNvSpPr/>
          <p:nvPr/>
        </p:nvSpPr>
        <p:spPr>
          <a:xfrm>
            <a:off x="16276320" y="6172200"/>
            <a:ext cx="566928" cy="566928"/>
          </a:xfrm>
          <a:prstGeom prst="ellipse">
            <a:avLst/>
          </a:prstGeom>
          <a:solidFill>
            <a:srgbClr val="6150EA"/>
          </a:solidFill>
          <a:ln>
            <a:noFill/>
          </a:ln>
        </p:spPr>
        <p:txBody>
          <a:bodyPr rtlCol="0" anchor="ctr"/>
          <a:lstStyle/>
          <a:p>
            <a:pPr algn="ctr"/>
            <a:endParaRPr/>
          </a:p>
        </p:txBody>
      </p:sp>
      <p:sp>
        <p:nvSpPr>
          <p:cNvPr id="923" name="TextBox 922"/>
          <p:cNvSpPr txBox="1"/>
          <p:nvPr/>
        </p:nvSpPr>
        <p:spPr>
          <a:xfrm>
            <a:off x="16276320" y="617220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3</a:t>
            </a:r>
          </a:p>
        </p:txBody>
      </p:sp>
      <p:sp>
        <p:nvSpPr>
          <p:cNvPr id="924" name="TextBox 923"/>
          <p:cNvSpPr txBox="1"/>
          <p:nvPr/>
        </p:nvSpPr>
        <p:spPr>
          <a:xfrm>
            <a:off x="12161520" y="6126480"/>
            <a:ext cx="393192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التفاصيل</a:t>
            </a:r>
          </a:p>
        </p:txBody>
      </p:sp>
      <p:sp>
        <p:nvSpPr>
          <p:cNvPr id="925" name="TextBox 924"/>
          <p:cNvSpPr txBox="1"/>
          <p:nvPr/>
        </p:nvSpPr>
        <p:spPr>
          <a:xfrm>
            <a:off x="12161520" y="6656832"/>
            <a:ext cx="3931920" cy="868680"/>
          </a:xfrm>
          <a:prstGeom prst="rect">
            <a:avLst/>
          </a:prstGeom>
          <a:noFill/>
        </p:spPr>
        <p:txBody>
          <a:bodyPr wrap="square" lIns="0" tIns="0" rIns="0" bIns="0" anchor="t">
            <a:spAutoFit/>
          </a:bodyPr>
          <a:lstStyle/>
          <a:p>
            <a:pPr algn="r" rtl="1"/>
            <a:r>
              <a:rPr lang="ar-SA" sz="1500" b="0">
                <a:solidFill>
                  <a:srgbClr val="4B5383"/>
                </a:solidFill>
                <a:latin typeface="Alexandria"/>
                <a:ea typeface="Alexandria"/>
                <a:cs typeface="Alexandria"/>
              </a:rPr>
              <a:t>المصدر والمحققون والبديل الصحيح، والإبلاغ عن خطأ</a:t>
            </a:r>
          </a:p>
        </p:txBody>
      </p:sp>
      <p:sp>
        <p:nvSpPr>
          <p:cNvPr id="926" name="Oval 925"/>
          <p:cNvSpPr/>
          <p:nvPr/>
        </p:nvSpPr>
        <p:spPr>
          <a:xfrm>
            <a:off x="16276320" y="7635240"/>
            <a:ext cx="566928" cy="566928"/>
          </a:xfrm>
          <a:prstGeom prst="ellipse">
            <a:avLst/>
          </a:prstGeom>
          <a:solidFill>
            <a:srgbClr val="6150EA"/>
          </a:solidFill>
          <a:ln>
            <a:noFill/>
          </a:ln>
        </p:spPr>
        <p:txBody>
          <a:bodyPr rtlCol="0" anchor="ctr"/>
          <a:lstStyle/>
          <a:p>
            <a:pPr algn="ctr"/>
            <a:endParaRPr/>
          </a:p>
        </p:txBody>
      </p:sp>
      <p:sp>
        <p:nvSpPr>
          <p:cNvPr id="927" name="TextBox 926"/>
          <p:cNvSpPr txBox="1"/>
          <p:nvPr/>
        </p:nvSpPr>
        <p:spPr>
          <a:xfrm>
            <a:off x="16276320" y="763524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4</a:t>
            </a:r>
          </a:p>
        </p:txBody>
      </p:sp>
      <p:sp>
        <p:nvSpPr>
          <p:cNvPr id="928" name="TextBox 927"/>
          <p:cNvSpPr txBox="1"/>
          <p:nvPr/>
        </p:nvSpPr>
        <p:spPr>
          <a:xfrm>
            <a:off x="12161520" y="7589520"/>
            <a:ext cx="3931920" cy="502920"/>
          </a:xfrm>
          <a:prstGeom prst="rect">
            <a:avLst/>
          </a:prstGeom>
          <a:noFill/>
        </p:spPr>
        <p:txBody>
          <a:bodyPr wrap="square" lIns="0" tIns="0" rIns="0" bIns="0" anchor="t">
            <a:spAutoFit/>
          </a:bodyPr>
          <a:lstStyle/>
          <a:p>
            <a:pPr algn="r" rtl="1"/>
            <a:r>
              <a:rPr lang="ar-SA" sz="2100" b="1">
                <a:solidFill>
                  <a:srgbClr val="12183F"/>
                </a:solidFill>
                <a:latin typeface="Alexandria"/>
                <a:ea typeface="Alexandria"/>
                <a:cs typeface="Alexandria"/>
              </a:rPr>
              <a:t>المشاركة</a:t>
            </a:r>
          </a:p>
        </p:txBody>
      </p:sp>
      <p:sp>
        <p:nvSpPr>
          <p:cNvPr id="929" name="TextBox 928"/>
          <p:cNvSpPr txBox="1"/>
          <p:nvPr/>
        </p:nvSpPr>
        <p:spPr>
          <a:xfrm>
            <a:off x="12161520" y="8119872"/>
            <a:ext cx="3931920" cy="868680"/>
          </a:xfrm>
          <a:prstGeom prst="rect">
            <a:avLst/>
          </a:prstGeom>
          <a:noFill/>
        </p:spPr>
        <p:txBody>
          <a:bodyPr wrap="square" lIns="0" tIns="0" rIns="0" bIns="0" anchor="t">
            <a:spAutoFit/>
          </a:bodyPr>
          <a:lstStyle/>
          <a:p>
            <a:pPr algn="r" rtl="1"/>
            <a:r>
              <a:rPr lang="ar-SA" sz="1500" b="0">
                <a:solidFill>
                  <a:srgbClr val="4B5383"/>
                </a:solidFill>
                <a:latin typeface="Alexandria"/>
                <a:ea typeface="Alexandria"/>
                <a:cs typeface="Alexandria"/>
              </a:rPr>
              <a:t>رد لطيف بخمس لغات، وبطاقة صورة، ورابط النتيجة</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10</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الحل</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كل حكم… منسوب إلى قائله</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مثال حي: «إنما الأعمال بالنيات»</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pic>
        <p:nvPicPr>
          <p:cNvPr id="905" name="Picture 904" descr="detail_hadith.png"/>
          <p:cNvPicPr>
            <a:picLocks noChangeAspect="1"/>
          </p:cNvPicPr>
          <p:nvPr/>
        </p:nvPicPr>
        <p:blipFill>
          <a:blip r:embed="rId5"/>
          <a:stretch>
            <a:fillRect/>
          </a:stretch>
        </p:blipFill>
        <p:spPr>
          <a:xfrm>
            <a:off x="10972800" y="3108960"/>
            <a:ext cx="4297680" cy="5735179"/>
          </a:xfrm>
          <a:prstGeom prst="roundRect">
            <a:avLst>
              <a:gd name="adj" fmla="val 5319"/>
            </a:avLst>
          </a:prstGeom>
          <a:effectLst>
            <a:outerShdw blurRad="380000" dist="120000" dir="5400000" algn="t" rotWithShape="0">
              <a:srgbClr val="000000">
                <a:alpha val="40000"/>
              </a:srgbClr>
            </a:outerShdw>
          </a:effectLst>
        </p:spPr>
      </p:pic>
      <p:sp>
        <p:nvSpPr>
          <p:cNvPr id="906" name="Rounded Rectangle 905"/>
          <p:cNvSpPr/>
          <p:nvPr/>
        </p:nvSpPr>
        <p:spPr>
          <a:xfrm>
            <a:off x="1408176" y="3246120"/>
            <a:ext cx="9052560" cy="1298448"/>
          </a:xfrm>
          <a:prstGeom prst="roundRect">
            <a:avLst>
              <a:gd name="adj" fmla="val 21126"/>
            </a:avLst>
          </a:prstGeom>
          <a:solidFill>
            <a:srgbClr val="1C2558"/>
          </a:solidFill>
          <a:ln>
            <a:noFill/>
          </a:ln>
        </p:spPr>
        <p:txBody>
          <a:bodyPr rtlCol="0" anchor="ctr"/>
          <a:lstStyle/>
          <a:p>
            <a:pPr algn="ctr"/>
            <a:endParaRPr/>
          </a:p>
        </p:txBody>
      </p:sp>
      <p:sp>
        <p:nvSpPr>
          <p:cNvPr id="907" name="TextBox 906"/>
          <p:cNvSpPr txBox="1"/>
          <p:nvPr/>
        </p:nvSpPr>
        <p:spPr>
          <a:xfrm>
            <a:off x="1682496" y="3410712"/>
            <a:ext cx="8503920"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النص من المصدر نفسه</a:t>
            </a:r>
          </a:p>
        </p:txBody>
      </p:sp>
      <p:sp>
        <p:nvSpPr>
          <p:cNvPr id="908" name="TextBox 907"/>
          <p:cNvSpPr txBox="1"/>
          <p:nvPr/>
        </p:nvSpPr>
        <p:spPr>
          <a:xfrm>
            <a:off x="1682496" y="3904487"/>
            <a:ext cx="8503920" cy="59436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يعرض الحديث من الكتاب مع تظليل موضع الاقتباس — لا يكتب يدويا أبدا</a:t>
            </a:r>
          </a:p>
        </p:txBody>
      </p:sp>
      <p:sp>
        <p:nvSpPr>
          <p:cNvPr id="909" name="Rounded Rectangle 908"/>
          <p:cNvSpPr/>
          <p:nvPr/>
        </p:nvSpPr>
        <p:spPr>
          <a:xfrm>
            <a:off x="1408176" y="4709160"/>
            <a:ext cx="9052560" cy="1298448"/>
          </a:xfrm>
          <a:prstGeom prst="roundRect">
            <a:avLst>
              <a:gd name="adj" fmla="val 21126"/>
            </a:avLst>
          </a:prstGeom>
          <a:solidFill>
            <a:srgbClr val="1C2558"/>
          </a:solidFill>
          <a:ln>
            <a:noFill/>
          </a:ln>
        </p:spPr>
        <p:txBody>
          <a:bodyPr rtlCol="0" anchor="ctr"/>
          <a:lstStyle/>
          <a:p>
            <a:pPr algn="ctr"/>
            <a:endParaRPr/>
          </a:p>
        </p:txBody>
      </p:sp>
      <p:sp>
        <p:nvSpPr>
          <p:cNvPr id="910" name="TextBox 909"/>
          <p:cNvSpPr txBox="1"/>
          <p:nvPr/>
        </p:nvSpPr>
        <p:spPr>
          <a:xfrm>
            <a:off x="1682496" y="4873752"/>
            <a:ext cx="8503920"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المحققون بأسمائهم</a:t>
            </a:r>
          </a:p>
        </p:txBody>
      </p:sp>
      <p:sp>
        <p:nvSpPr>
          <p:cNvPr id="911" name="TextBox 910"/>
          <p:cNvSpPr txBox="1"/>
          <p:nvPr/>
        </p:nvSpPr>
        <p:spPr>
          <a:xfrm>
            <a:off x="1682496" y="5367528"/>
            <a:ext cx="8503920" cy="59436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أحكام الألباني وشعيب الأرناؤوط وغيرهما كما نشرت، أو «في الصحيحين»</a:t>
            </a:r>
          </a:p>
        </p:txBody>
      </p:sp>
      <p:sp>
        <p:nvSpPr>
          <p:cNvPr id="912" name="Rounded Rectangle 911"/>
          <p:cNvSpPr/>
          <p:nvPr/>
        </p:nvSpPr>
        <p:spPr>
          <a:xfrm>
            <a:off x="1408176" y="6172200"/>
            <a:ext cx="9052560" cy="1298448"/>
          </a:xfrm>
          <a:prstGeom prst="roundRect">
            <a:avLst>
              <a:gd name="adj" fmla="val 21126"/>
            </a:avLst>
          </a:prstGeom>
          <a:solidFill>
            <a:srgbClr val="1C2558"/>
          </a:solidFill>
          <a:ln>
            <a:noFill/>
          </a:ln>
        </p:spPr>
        <p:txBody>
          <a:bodyPr rtlCol="0" anchor="ctr"/>
          <a:lstStyle/>
          <a:p>
            <a:pPr algn="ctr"/>
            <a:endParaRPr/>
          </a:p>
        </p:txBody>
      </p:sp>
      <p:sp>
        <p:nvSpPr>
          <p:cNvPr id="913" name="TextBox 912"/>
          <p:cNvSpPr txBox="1"/>
          <p:nvPr/>
        </p:nvSpPr>
        <p:spPr>
          <a:xfrm>
            <a:off x="1682496" y="6336792"/>
            <a:ext cx="8503920"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الروايات المكررة تجمع</a:t>
            </a:r>
          </a:p>
        </p:txBody>
      </p:sp>
      <p:sp>
        <p:nvSpPr>
          <p:cNvPr id="914" name="TextBox 913"/>
          <p:cNvSpPr txBox="1"/>
          <p:nvPr/>
        </p:nvSpPr>
        <p:spPr>
          <a:xfrm>
            <a:off x="1682496" y="6830568"/>
            <a:ext cx="8503920" cy="59436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«ورد أيضا في…» بدل تكرار النتيجة</a:t>
            </a:r>
          </a:p>
        </p:txBody>
      </p:sp>
      <p:sp>
        <p:nvSpPr>
          <p:cNvPr id="915" name="Rounded Rectangle 914"/>
          <p:cNvSpPr/>
          <p:nvPr/>
        </p:nvSpPr>
        <p:spPr>
          <a:xfrm>
            <a:off x="1408176" y="7635240"/>
            <a:ext cx="9052560" cy="1298448"/>
          </a:xfrm>
          <a:prstGeom prst="roundRect">
            <a:avLst>
              <a:gd name="adj" fmla="val 21126"/>
            </a:avLst>
          </a:prstGeom>
          <a:solidFill>
            <a:srgbClr val="1C2558"/>
          </a:solidFill>
          <a:ln>
            <a:noFill/>
          </a:ln>
        </p:spPr>
        <p:txBody>
          <a:bodyPr rtlCol="0" anchor="ctr"/>
          <a:lstStyle/>
          <a:p>
            <a:pPr algn="ctr"/>
            <a:endParaRPr/>
          </a:p>
        </p:txBody>
      </p:sp>
      <p:sp>
        <p:nvSpPr>
          <p:cNvPr id="916" name="TextBox 915"/>
          <p:cNvSpPr txBox="1"/>
          <p:nvPr/>
        </p:nvSpPr>
        <p:spPr>
          <a:xfrm>
            <a:off x="1682496" y="7799832"/>
            <a:ext cx="8503920"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مستوى المحتوى والشفافية</a:t>
            </a:r>
          </a:p>
        </p:txBody>
      </p:sp>
      <p:sp>
        <p:nvSpPr>
          <p:cNvPr id="917" name="TextBox 916"/>
          <p:cNvSpPr txBox="1"/>
          <p:nvPr/>
        </p:nvSpPr>
        <p:spPr>
          <a:xfrm>
            <a:off x="1682496" y="8293608"/>
            <a:ext cx="8503920" cy="59436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كل نتيجة تحمل مستواها (أ/ب/ج/د) وتنبيه: نتيجة آلية وليست فتوى</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11</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الحل</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الآية… كلمة كلمة مقابل المصحف</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«وقل ربي زدني علما» — وفي المصحف «وقل رب زدني علما» (سورة طه، الآية 114)</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pic>
        <p:nvPicPr>
          <p:cNvPr id="913" name="Picture 912" descr="detail_quran.png"/>
          <p:cNvPicPr>
            <a:picLocks noChangeAspect="1"/>
          </p:cNvPicPr>
          <p:nvPr/>
        </p:nvPicPr>
        <p:blipFill>
          <a:blip r:embed="rId5"/>
          <a:stretch>
            <a:fillRect/>
          </a:stretch>
        </p:blipFill>
        <p:spPr>
          <a:xfrm>
            <a:off x="10972800" y="3108960"/>
            <a:ext cx="4297680" cy="5735179"/>
          </a:xfrm>
          <a:prstGeom prst="roundRect">
            <a:avLst>
              <a:gd name="adj" fmla="val 5319"/>
            </a:avLst>
          </a:prstGeom>
          <a:effectLst>
            <a:outerShdw blurRad="380000" dist="120000" dir="5400000" algn="t" rotWithShape="0">
              <a:srgbClr val="000000">
                <a:alpha val="40000"/>
              </a:srgbClr>
            </a:outerShdw>
          </a:effectLst>
        </p:spPr>
      </p:pic>
      <p:sp>
        <p:nvSpPr>
          <p:cNvPr id="914" name="Rounded Rectangle 913"/>
          <p:cNvSpPr/>
          <p:nvPr/>
        </p:nvSpPr>
        <p:spPr>
          <a:xfrm>
            <a:off x="1408176" y="3246120"/>
            <a:ext cx="9052560" cy="1298448"/>
          </a:xfrm>
          <a:prstGeom prst="roundRect">
            <a:avLst>
              <a:gd name="adj" fmla="val 21126"/>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5" name="TextBox 914"/>
          <p:cNvSpPr txBox="1"/>
          <p:nvPr/>
        </p:nvSpPr>
        <p:spPr>
          <a:xfrm>
            <a:off x="1682496" y="3410712"/>
            <a:ext cx="8503920" cy="45720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مطابقة مع نص المصحف</a:t>
            </a:r>
          </a:p>
        </p:txBody>
      </p:sp>
      <p:sp>
        <p:nvSpPr>
          <p:cNvPr id="916" name="TextBox 915"/>
          <p:cNvSpPr txBox="1"/>
          <p:nvPr/>
        </p:nvSpPr>
        <p:spPr>
          <a:xfrm>
            <a:off x="1682496" y="3904487"/>
            <a:ext cx="8503920" cy="594360"/>
          </a:xfrm>
          <a:prstGeom prst="rect">
            <a:avLst/>
          </a:prstGeom>
          <a:noFill/>
        </p:spPr>
        <p:txBody>
          <a:bodyPr wrap="square" lIns="0" tIns="0" rIns="0" bIns="0" anchor="t">
            <a:spAutoFit/>
          </a:bodyPr>
          <a:lstStyle/>
          <a:p>
            <a:pPr algn="r" rtl="1"/>
            <a:r>
              <a:rPr lang="ar-SA" sz="1500" b="0">
                <a:solidFill>
                  <a:srgbClr val="12183F"/>
                </a:solidFill>
                <a:latin typeface="Alexandria"/>
                <a:ea typeface="Alexandria"/>
                <a:cs typeface="Alexandria"/>
              </a:rPr>
              <a:t>نص Tanzil بالرسم العثماني، يعرض حرفيا ولا يعدل</a:t>
            </a:r>
          </a:p>
        </p:txBody>
      </p:sp>
      <p:sp>
        <p:nvSpPr>
          <p:cNvPr id="917" name="Rounded Rectangle 916"/>
          <p:cNvSpPr/>
          <p:nvPr/>
        </p:nvSpPr>
        <p:spPr>
          <a:xfrm>
            <a:off x="1408176" y="4709160"/>
            <a:ext cx="9052560" cy="1298448"/>
          </a:xfrm>
          <a:prstGeom prst="roundRect">
            <a:avLst>
              <a:gd name="adj" fmla="val 21126"/>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8" name="TextBox 917"/>
          <p:cNvSpPr txBox="1"/>
          <p:nvPr/>
        </p:nvSpPr>
        <p:spPr>
          <a:xfrm>
            <a:off x="1682496" y="4873752"/>
            <a:ext cx="8503920" cy="45720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كل كلمة مختلفة ظاهرة</a:t>
            </a:r>
          </a:p>
        </p:txBody>
      </p:sp>
      <p:sp>
        <p:nvSpPr>
          <p:cNvPr id="919" name="TextBox 918"/>
          <p:cNvSpPr txBox="1"/>
          <p:nvPr/>
        </p:nvSpPr>
        <p:spPr>
          <a:xfrm>
            <a:off x="1682496" y="5367528"/>
            <a:ext cx="8503920" cy="594360"/>
          </a:xfrm>
          <a:prstGeom prst="rect">
            <a:avLst/>
          </a:prstGeom>
          <a:noFill/>
        </p:spPr>
        <p:txBody>
          <a:bodyPr wrap="square" lIns="0" tIns="0" rIns="0" bIns="0" anchor="t">
            <a:spAutoFit/>
          </a:bodyPr>
          <a:lstStyle/>
          <a:p>
            <a:pPr algn="r" rtl="1"/>
            <a:r>
              <a:rPr lang="ar-SA" sz="1500" b="0">
                <a:solidFill>
                  <a:srgbClr val="12183F"/>
                </a:solidFill>
                <a:latin typeface="Alexandria"/>
                <a:ea typeface="Alexandria"/>
                <a:cs typeface="Alexandria"/>
              </a:rPr>
              <a:t>الكلمة كما في الرسالة تحت كلمة المصحف، مع نوع الاختلاف وعدد الكلمات</a:t>
            </a:r>
          </a:p>
        </p:txBody>
      </p:sp>
      <p:sp>
        <p:nvSpPr>
          <p:cNvPr id="920" name="Rounded Rectangle 919"/>
          <p:cNvSpPr/>
          <p:nvPr/>
        </p:nvSpPr>
        <p:spPr>
          <a:xfrm>
            <a:off x="1408176" y="6172200"/>
            <a:ext cx="9052560" cy="1298448"/>
          </a:xfrm>
          <a:prstGeom prst="roundRect">
            <a:avLst>
              <a:gd name="adj" fmla="val 21126"/>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1" name="TextBox 920"/>
          <p:cNvSpPr txBox="1"/>
          <p:nvPr/>
        </p:nvSpPr>
        <p:spPr>
          <a:xfrm>
            <a:off x="1682496" y="6336792"/>
            <a:ext cx="8503920" cy="45720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تصحيح بلا لوم</a:t>
            </a:r>
          </a:p>
        </p:txBody>
      </p:sp>
      <p:sp>
        <p:nvSpPr>
          <p:cNvPr id="922" name="TextBox 921"/>
          <p:cNvSpPr txBox="1"/>
          <p:nvPr/>
        </p:nvSpPr>
        <p:spPr>
          <a:xfrm>
            <a:off x="1682496" y="6830568"/>
            <a:ext cx="8503920" cy="594360"/>
          </a:xfrm>
          <a:prstGeom prst="rect">
            <a:avLst/>
          </a:prstGeom>
          <a:noFill/>
        </p:spPr>
        <p:txBody>
          <a:bodyPr wrap="square" lIns="0" tIns="0" rIns="0" bIns="0" anchor="t">
            <a:spAutoFit/>
          </a:bodyPr>
          <a:lstStyle/>
          <a:p>
            <a:pPr algn="r" rtl="1"/>
            <a:r>
              <a:rPr lang="ar-SA" sz="1500" b="0">
                <a:solidFill>
                  <a:srgbClr val="12183F"/>
                </a:solidFill>
                <a:latin typeface="Alexandria"/>
                <a:ea typeface="Alexandria"/>
                <a:cs typeface="Alexandria"/>
              </a:rPr>
              <a:t>«تنقل الآية بلفظ المصحف» — مع الاستماع إلى التلاوة</a:t>
            </a:r>
          </a:p>
        </p:txBody>
      </p:sp>
      <p:sp>
        <p:nvSpPr>
          <p:cNvPr id="923" name="Rounded Rectangle 922"/>
          <p:cNvSpPr/>
          <p:nvPr/>
        </p:nvSpPr>
        <p:spPr>
          <a:xfrm>
            <a:off x="1408176" y="7635240"/>
            <a:ext cx="9052560" cy="1298448"/>
          </a:xfrm>
          <a:prstGeom prst="roundRect">
            <a:avLst>
              <a:gd name="adj" fmla="val 21126"/>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4" name="TextBox 923"/>
          <p:cNvSpPr txBox="1"/>
          <p:nvPr/>
        </p:nvSpPr>
        <p:spPr>
          <a:xfrm>
            <a:off x="1682496" y="7799832"/>
            <a:ext cx="8503920" cy="45720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إذا نسبت الآية حديثا</a:t>
            </a:r>
          </a:p>
        </p:txBody>
      </p:sp>
      <p:sp>
        <p:nvSpPr>
          <p:cNvPr id="925" name="TextBox 924"/>
          <p:cNvSpPr txBox="1"/>
          <p:nvPr/>
        </p:nvSpPr>
        <p:spPr>
          <a:xfrm>
            <a:off x="1682496" y="8293608"/>
            <a:ext cx="8503920" cy="594360"/>
          </a:xfrm>
          <a:prstGeom prst="rect">
            <a:avLst/>
          </a:prstGeom>
          <a:noFill/>
        </p:spPr>
        <p:txBody>
          <a:bodyPr wrap="square" lIns="0" tIns="0" rIns="0" bIns="0" anchor="t">
            <a:spAutoFit/>
          </a:bodyPr>
          <a:lstStyle/>
          <a:p>
            <a:pPr algn="r" rtl="1"/>
            <a:r>
              <a:rPr lang="ar-SA" sz="1500" b="0">
                <a:solidFill>
                  <a:srgbClr val="12183F"/>
                </a:solidFill>
                <a:latin typeface="Alexandria"/>
                <a:ea typeface="Alexandria"/>
                <a:cs typeface="Alexandria"/>
              </a:rPr>
              <a:t>ننبه: هذا نص قرآني وليس حديثا</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12</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الحل</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الصدق قبل الإجابة</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حين لا نجد مصدرا، أو حين يكون السؤال طلب فتوى</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pic>
        <p:nvPicPr>
          <p:cNvPr id="905" name="Picture 904" descr="detail_nf.png"/>
          <p:cNvPicPr>
            <a:picLocks noChangeAspect="1"/>
          </p:cNvPicPr>
          <p:nvPr/>
        </p:nvPicPr>
        <p:blipFill>
          <a:blip r:embed="rId5"/>
          <a:stretch>
            <a:fillRect/>
          </a:stretch>
        </p:blipFill>
        <p:spPr>
          <a:xfrm>
            <a:off x="1408176" y="3108960"/>
            <a:ext cx="4023360" cy="5369104"/>
          </a:xfrm>
          <a:prstGeom prst="roundRect">
            <a:avLst>
              <a:gd name="adj" fmla="val 5681"/>
            </a:avLst>
          </a:prstGeom>
          <a:effectLst>
            <a:outerShdw blurRad="380000" dist="120000" dir="5400000" algn="t" rotWithShape="0">
              <a:srgbClr val="000000">
                <a:alpha val="40000"/>
              </a:srgbClr>
            </a:outerShdw>
          </a:effectLst>
        </p:spPr>
      </p:pic>
      <p:pic>
        <p:nvPicPr>
          <p:cNvPr id="906" name="Picture 905" descr="fatwa.png"/>
          <p:cNvPicPr>
            <a:picLocks noChangeAspect="1"/>
          </p:cNvPicPr>
          <p:nvPr/>
        </p:nvPicPr>
        <p:blipFill>
          <a:blip r:embed="rId6"/>
          <a:stretch>
            <a:fillRect/>
          </a:stretch>
        </p:blipFill>
        <p:spPr>
          <a:xfrm>
            <a:off x="5943600" y="3154680"/>
            <a:ext cx="10881360" cy="2720340"/>
          </a:xfrm>
          <a:prstGeom prst="roundRect">
            <a:avLst>
              <a:gd name="adj" fmla="val 6722"/>
            </a:avLst>
          </a:prstGeom>
          <a:effectLst>
            <a:outerShdw blurRad="380000" dist="120000" dir="5400000" algn="t" rotWithShape="0">
              <a:srgbClr val="000000">
                <a:alpha val="40000"/>
              </a:srgbClr>
            </a:outerShdw>
          </a:effectLst>
        </p:spPr>
      </p:pic>
      <p:sp>
        <p:nvSpPr>
          <p:cNvPr id="907" name="Rounded Rectangle 906"/>
          <p:cNvSpPr/>
          <p:nvPr/>
        </p:nvSpPr>
        <p:spPr>
          <a:xfrm>
            <a:off x="11448288" y="6172200"/>
            <a:ext cx="5394960" cy="1325880"/>
          </a:xfrm>
          <a:prstGeom prst="roundRect">
            <a:avLst>
              <a:gd name="adj" fmla="val 20689"/>
            </a:avLst>
          </a:prstGeom>
          <a:solidFill>
            <a:srgbClr val="1C2558"/>
          </a:solidFill>
          <a:ln>
            <a:noFill/>
          </a:ln>
        </p:spPr>
        <p:txBody>
          <a:bodyPr rtlCol="0" anchor="ctr"/>
          <a:lstStyle/>
          <a:p>
            <a:pPr algn="ctr"/>
            <a:endParaRPr/>
          </a:p>
        </p:txBody>
      </p:sp>
      <p:sp>
        <p:nvSpPr>
          <p:cNvPr id="908" name="TextBox 907"/>
          <p:cNvSpPr txBox="1"/>
          <p:nvPr/>
        </p:nvSpPr>
        <p:spPr>
          <a:xfrm>
            <a:off x="11676888" y="6309360"/>
            <a:ext cx="4937760" cy="41148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«لم نجد» ليست «موضوع»</a:t>
            </a:r>
          </a:p>
        </p:txBody>
      </p:sp>
      <p:sp>
        <p:nvSpPr>
          <p:cNvPr id="909" name="TextBox 908"/>
          <p:cNvSpPr txBox="1"/>
          <p:nvPr/>
        </p:nvSpPr>
        <p:spPr>
          <a:xfrm>
            <a:off x="11676888" y="6739128"/>
            <a:ext cx="4937760" cy="731520"/>
          </a:xfrm>
          <a:prstGeom prst="rect">
            <a:avLst/>
          </a:prstGeom>
          <a:noFill/>
        </p:spPr>
        <p:txBody>
          <a:bodyPr wrap="square" lIns="0" tIns="0" rIns="0" bIns="0" anchor="t">
            <a:spAutoFit/>
          </a:bodyPr>
          <a:lstStyle/>
          <a:p>
            <a:pPr algn="r" rtl="1">
              <a:lnSpc>
                <a:spcPct val="105000"/>
              </a:lnSpc>
            </a:pPr>
            <a:r>
              <a:rPr lang="ar-SA" sz="1400" b="0">
                <a:solidFill>
                  <a:srgbClr val="F2F4FF"/>
                </a:solidFill>
                <a:latin typeface="Alexandria"/>
                <a:ea typeface="Alexandria"/>
                <a:cs typeface="Alexandria"/>
              </a:rPr>
              <a:t>نبحث في القرآن والكتب التسعة، فإن لم نجد قلنا ذلك، ولا نحكم بالوضع إلا بحكم منشور</a:t>
            </a:r>
          </a:p>
        </p:txBody>
      </p:sp>
      <p:sp>
        <p:nvSpPr>
          <p:cNvPr id="910" name="Rounded Rectangle 909"/>
          <p:cNvSpPr/>
          <p:nvPr/>
        </p:nvSpPr>
        <p:spPr>
          <a:xfrm>
            <a:off x="6007608" y="6172200"/>
            <a:ext cx="5394960" cy="1325880"/>
          </a:xfrm>
          <a:prstGeom prst="roundRect">
            <a:avLst>
              <a:gd name="adj" fmla="val 20689"/>
            </a:avLst>
          </a:prstGeom>
          <a:solidFill>
            <a:srgbClr val="1C2558"/>
          </a:solidFill>
          <a:ln>
            <a:noFill/>
          </a:ln>
        </p:spPr>
        <p:txBody>
          <a:bodyPr rtlCol="0" anchor="ctr"/>
          <a:lstStyle/>
          <a:p>
            <a:pPr algn="ctr"/>
            <a:endParaRPr/>
          </a:p>
        </p:txBody>
      </p:sp>
      <p:sp>
        <p:nvSpPr>
          <p:cNvPr id="911" name="TextBox 910"/>
          <p:cNvSpPr txBox="1"/>
          <p:nvPr/>
        </p:nvSpPr>
        <p:spPr>
          <a:xfrm>
            <a:off x="6236208" y="6309360"/>
            <a:ext cx="4937760" cy="41148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اطلب مراجعة… أو أعرف مصدره</a:t>
            </a:r>
          </a:p>
        </p:txBody>
      </p:sp>
      <p:sp>
        <p:nvSpPr>
          <p:cNvPr id="912" name="TextBox 911"/>
          <p:cNvSpPr txBox="1"/>
          <p:nvPr/>
        </p:nvSpPr>
        <p:spPr>
          <a:xfrm>
            <a:off x="6236208" y="6739128"/>
            <a:ext cx="4937760" cy="731520"/>
          </a:xfrm>
          <a:prstGeom prst="rect">
            <a:avLst/>
          </a:prstGeom>
          <a:noFill/>
        </p:spPr>
        <p:txBody>
          <a:bodyPr wrap="square" lIns="0" tIns="0" rIns="0" bIns="0" anchor="t">
            <a:spAutoFit/>
          </a:bodyPr>
          <a:lstStyle/>
          <a:p>
            <a:pPr algn="r" rtl="1">
              <a:lnSpc>
                <a:spcPct val="105000"/>
              </a:lnSpc>
            </a:pPr>
            <a:r>
              <a:rPr lang="ar-SA" sz="1400" b="0">
                <a:solidFill>
                  <a:srgbClr val="F2F4FF"/>
                </a:solidFill>
                <a:latin typeface="Alexandria"/>
                <a:ea typeface="Alexandria"/>
                <a:cs typeface="Alexandria"/>
              </a:rPr>
              <a:t>يصل البلاغ إلى المراجعين المختصين</a:t>
            </a:r>
          </a:p>
        </p:txBody>
      </p:sp>
      <p:sp>
        <p:nvSpPr>
          <p:cNvPr id="913" name="Rounded Rectangle 912"/>
          <p:cNvSpPr/>
          <p:nvPr/>
        </p:nvSpPr>
        <p:spPr>
          <a:xfrm>
            <a:off x="11448288" y="7635240"/>
            <a:ext cx="5394960" cy="1325880"/>
          </a:xfrm>
          <a:prstGeom prst="roundRect">
            <a:avLst>
              <a:gd name="adj" fmla="val 20689"/>
            </a:avLst>
          </a:prstGeom>
          <a:solidFill>
            <a:srgbClr val="1C2558"/>
          </a:solidFill>
          <a:ln>
            <a:noFill/>
          </a:ln>
        </p:spPr>
        <p:txBody>
          <a:bodyPr rtlCol="0" anchor="ctr"/>
          <a:lstStyle/>
          <a:p>
            <a:pPr algn="ctr"/>
            <a:endParaRPr/>
          </a:p>
        </p:txBody>
      </p:sp>
      <p:sp>
        <p:nvSpPr>
          <p:cNvPr id="914" name="TextBox 913"/>
          <p:cNvSpPr txBox="1"/>
          <p:nvPr/>
        </p:nvSpPr>
        <p:spPr>
          <a:xfrm>
            <a:off x="11676888" y="7772400"/>
            <a:ext cx="4937760" cy="41148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طلب فتوى ← المستوى د</a:t>
            </a:r>
          </a:p>
        </p:txBody>
      </p:sp>
      <p:sp>
        <p:nvSpPr>
          <p:cNvPr id="915" name="TextBox 914"/>
          <p:cNvSpPr txBox="1"/>
          <p:nvPr/>
        </p:nvSpPr>
        <p:spPr>
          <a:xfrm>
            <a:off x="11676888" y="8202167"/>
            <a:ext cx="4937760" cy="731520"/>
          </a:xfrm>
          <a:prstGeom prst="rect">
            <a:avLst/>
          </a:prstGeom>
          <a:noFill/>
        </p:spPr>
        <p:txBody>
          <a:bodyPr wrap="square" lIns="0" tIns="0" rIns="0" bIns="0" anchor="t">
            <a:spAutoFit/>
          </a:bodyPr>
          <a:lstStyle/>
          <a:p>
            <a:pPr algn="r" rtl="1">
              <a:lnSpc>
                <a:spcPct val="105000"/>
              </a:lnSpc>
            </a:pPr>
            <a:r>
              <a:rPr lang="ar-SA" sz="1400" b="0">
                <a:solidFill>
                  <a:srgbClr val="F2F4FF"/>
                </a:solidFill>
                <a:latin typeface="Alexandria"/>
                <a:ea typeface="Alexandria"/>
                <a:cs typeface="Alexandria"/>
              </a:rPr>
              <a:t>لا حكم مستقل؛ إحالة إلى جهة فتوى مؤهلة</a:t>
            </a:r>
          </a:p>
        </p:txBody>
      </p:sp>
      <p:sp>
        <p:nvSpPr>
          <p:cNvPr id="916" name="Rounded Rectangle 915"/>
          <p:cNvSpPr/>
          <p:nvPr/>
        </p:nvSpPr>
        <p:spPr>
          <a:xfrm>
            <a:off x="6007608" y="7635240"/>
            <a:ext cx="5394960" cy="1325880"/>
          </a:xfrm>
          <a:prstGeom prst="roundRect">
            <a:avLst>
              <a:gd name="adj" fmla="val 20689"/>
            </a:avLst>
          </a:prstGeom>
          <a:solidFill>
            <a:srgbClr val="1C2558"/>
          </a:solidFill>
          <a:ln>
            <a:noFill/>
          </a:ln>
        </p:spPr>
        <p:txBody>
          <a:bodyPr rtlCol="0" anchor="ctr"/>
          <a:lstStyle/>
          <a:p>
            <a:pPr algn="ctr"/>
            <a:endParaRPr/>
          </a:p>
        </p:txBody>
      </p:sp>
      <p:sp>
        <p:nvSpPr>
          <p:cNvPr id="917" name="TextBox 916"/>
          <p:cNvSpPr txBox="1"/>
          <p:nvPr/>
        </p:nvSpPr>
        <p:spPr>
          <a:xfrm>
            <a:off x="6236208" y="7772400"/>
            <a:ext cx="4937760" cy="41148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مسألة خلافية ← المستوى ج</a:t>
            </a:r>
          </a:p>
        </p:txBody>
      </p:sp>
      <p:sp>
        <p:nvSpPr>
          <p:cNvPr id="918" name="TextBox 917"/>
          <p:cNvSpPr txBox="1"/>
          <p:nvPr/>
        </p:nvSpPr>
        <p:spPr>
          <a:xfrm>
            <a:off x="6236208" y="8202167"/>
            <a:ext cx="4937760" cy="731520"/>
          </a:xfrm>
          <a:prstGeom prst="rect">
            <a:avLst/>
          </a:prstGeom>
          <a:noFill/>
        </p:spPr>
        <p:txBody>
          <a:bodyPr wrap="square" lIns="0" tIns="0" rIns="0" bIns="0" anchor="t">
            <a:spAutoFit/>
          </a:bodyPr>
          <a:lstStyle/>
          <a:p>
            <a:pPr algn="r" rtl="1">
              <a:lnSpc>
                <a:spcPct val="105000"/>
              </a:lnSpc>
            </a:pPr>
            <a:r>
              <a:rPr lang="ar-SA" sz="1400" b="0">
                <a:solidFill>
                  <a:srgbClr val="F2F4FF"/>
                </a:solidFill>
                <a:latin typeface="Alexandria"/>
                <a:ea typeface="Alexandria"/>
                <a:cs typeface="Alexandria"/>
              </a:rPr>
              <a:t>بيان الخلاف أو الامتناع والإحالة</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13</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الحل</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الآيات المتكررة والمتشابهة… لا تختلط</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بعض الآيات تتكرر بلفظها، وكثير منها متشابه بكلمة أو كلمتين</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pic>
        <p:nvPicPr>
          <p:cNvPr id="913" name="Picture 912" descr="similar.png"/>
          <p:cNvPicPr>
            <a:picLocks noChangeAspect="1"/>
          </p:cNvPicPr>
          <p:nvPr/>
        </p:nvPicPr>
        <p:blipFill>
          <a:blip r:embed="rId5"/>
          <a:stretch>
            <a:fillRect/>
          </a:stretch>
        </p:blipFill>
        <p:spPr>
          <a:xfrm>
            <a:off x="1408176" y="3154680"/>
            <a:ext cx="8503920" cy="5323592"/>
          </a:xfrm>
          <a:prstGeom prst="roundRect">
            <a:avLst>
              <a:gd name="adj" fmla="val 4294"/>
            </a:avLst>
          </a:prstGeom>
          <a:effectLst>
            <a:outerShdw blurRad="380000" dist="120000" dir="5400000" algn="t" rotWithShape="0">
              <a:srgbClr val="000000">
                <a:alpha val="40000"/>
              </a:srgbClr>
            </a:outerShdw>
          </a:effectLst>
        </p:spPr>
      </p:pic>
      <p:sp>
        <p:nvSpPr>
          <p:cNvPr id="914" name="Rounded Rectangle 913"/>
          <p:cNvSpPr/>
          <p:nvPr/>
        </p:nvSpPr>
        <p:spPr>
          <a:xfrm>
            <a:off x="10241280" y="3246120"/>
            <a:ext cx="6601968" cy="1737360"/>
          </a:xfrm>
          <a:prstGeom prst="roundRect">
            <a:avLst>
              <a:gd name="adj" fmla="val 15789"/>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5" name="Oval 914"/>
          <p:cNvSpPr/>
          <p:nvPr/>
        </p:nvSpPr>
        <p:spPr>
          <a:xfrm>
            <a:off x="16002000" y="3520439"/>
            <a:ext cx="566928" cy="566928"/>
          </a:xfrm>
          <a:prstGeom prst="ellipse">
            <a:avLst/>
          </a:prstGeom>
          <a:solidFill>
            <a:srgbClr val="6150EA"/>
          </a:solidFill>
          <a:ln>
            <a:noFill/>
          </a:ln>
        </p:spPr>
        <p:txBody>
          <a:bodyPr rtlCol="0" anchor="ctr"/>
          <a:lstStyle/>
          <a:p>
            <a:pPr algn="ctr"/>
            <a:endParaRPr/>
          </a:p>
        </p:txBody>
      </p:sp>
      <p:sp>
        <p:nvSpPr>
          <p:cNvPr id="916" name="TextBox 915"/>
          <p:cNvSpPr txBox="1"/>
          <p:nvPr/>
        </p:nvSpPr>
        <p:spPr>
          <a:xfrm>
            <a:off x="16002000" y="3520439"/>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1</a:t>
            </a:r>
          </a:p>
        </p:txBody>
      </p:sp>
      <p:sp>
        <p:nvSpPr>
          <p:cNvPr id="917" name="TextBox 916"/>
          <p:cNvSpPr txBox="1"/>
          <p:nvPr/>
        </p:nvSpPr>
        <p:spPr>
          <a:xfrm>
            <a:off x="10515600" y="3474720"/>
            <a:ext cx="5394960" cy="502920"/>
          </a:xfrm>
          <a:prstGeom prst="rect">
            <a:avLst/>
          </a:prstGeom>
          <a:noFill/>
        </p:spPr>
        <p:txBody>
          <a:bodyPr wrap="square" lIns="0" tIns="0" rIns="0" bIns="0" anchor="t">
            <a:spAutoFit/>
          </a:bodyPr>
          <a:lstStyle/>
          <a:p>
            <a:pPr algn="r" rtl="1"/>
            <a:r>
              <a:rPr lang="ar-SA" sz="2000" b="1">
                <a:solidFill>
                  <a:srgbClr val="12183F"/>
                </a:solidFill>
                <a:latin typeface="Alexandria"/>
                <a:ea typeface="Alexandria"/>
                <a:cs typeface="Alexandria"/>
              </a:rPr>
              <a:t>كل المواضع، لا موضع واحد</a:t>
            </a:r>
          </a:p>
        </p:txBody>
      </p:sp>
      <p:sp>
        <p:nvSpPr>
          <p:cNvPr id="918" name="TextBox 917"/>
          <p:cNvSpPr txBox="1"/>
          <p:nvPr/>
        </p:nvSpPr>
        <p:spPr>
          <a:xfrm>
            <a:off x="10515600" y="4023359"/>
            <a:ext cx="5394960" cy="91440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مسح كلمة كلمة للآيات الـ6,236 — «فبأي آلاء ربكما تكذبان»: 31 موضعا</a:t>
            </a:r>
          </a:p>
        </p:txBody>
      </p:sp>
      <p:sp>
        <p:nvSpPr>
          <p:cNvPr id="919" name="Rounded Rectangle 918"/>
          <p:cNvSpPr/>
          <p:nvPr/>
        </p:nvSpPr>
        <p:spPr>
          <a:xfrm>
            <a:off x="10241280" y="5166360"/>
            <a:ext cx="6601968" cy="1737360"/>
          </a:xfrm>
          <a:prstGeom prst="roundRect">
            <a:avLst>
              <a:gd name="adj" fmla="val 15789"/>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0" name="Oval 919"/>
          <p:cNvSpPr/>
          <p:nvPr/>
        </p:nvSpPr>
        <p:spPr>
          <a:xfrm>
            <a:off x="16002000" y="5440680"/>
            <a:ext cx="566928" cy="566928"/>
          </a:xfrm>
          <a:prstGeom prst="ellipse">
            <a:avLst/>
          </a:prstGeom>
          <a:solidFill>
            <a:srgbClr val="6150EA"/>
          </a:solidFill>
          <a:ln>
            <a:noFill/>
          </a:ln>
        </p:spPr>
        <p:txBody>
          <a:bodyPr rtlCol="0" anchor="ctr"/>
          <a:lstStyle/>
          <a:p>
            <a:pPr algn="ctr"/>
            <a:endParaRPr/>
          </a:p>
        </p:txBody>
      </p:sp>
      <p:sp>
        <p:nvSpPr>
          <p:cNvPr id="921" name="TextBox 920"/>
          <p:cNvSpPr txBox="1"/>
          <p:nvPr/>
        </p:nvSpPr>
        <p:spPr>
          <a:xfrm>
            <a:off x="16002000" y="544068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2</a:t>
            </a:r>
          </a:p>
        </p:txBody>
      </p:sp>
      <p:sp>
        <p:nvSpPr>
          <p:cNvPr id="922" name="TextBox 921"/>
          <p:cNvSpPr txBox="1"/>
          <p:nvPr/>
        </p:nvSpPr>
        <p:spPr>
          <a:xfrm>
            <a:off x="10515600" y="5394960"/>
            <a:ext cx="5394960" cy="502920"/>
          </a:xfrm>
          <a:prstGeom prst="rect">
            <a:avLst/>
          </a:prstGeom>
          <a:noFill/>
        </p:spPr>
        <p:txBody>
          <a:bodyPr wrap="square" lIns="0" tIns="0" rIns="0" bIns="0" anchor="t">
            <a:spAutoFit/>
          </a:bodyPr>
          <a:lstStyle/>
          <a:p>
            <a:pPr algn="r" rtl="1"/>
            <a:r>
              <a:rPr lang="ar-SA" sz="2000" b="1">
                <a:solidFill>
                  <a:srgbClr val="12183F"/>
                </a:solidFill>
                <a:latin typeface="Alexandria"/>
                <a:ea typeface="Alexandria"/>
                <a:cs typeface="Alexandria"/>
              </a:rPr>
              <a:t>الأقرب لفظا هو الحكم</a:t>
            </a:r>
          </a:p>
        </p:txBody>
      </p:sp>
      <p:sp>
        <p:nvSpPr>
          <p:cNvPr id="923" name="TextBox 922"/>
          <p:cNvSpPr txBox="1"/>
          <p:nvPr/>
        </p:nvSpPr>
        <p:spPr>
          <a:xfrm>
            <a:off x="10515600" y="5943600"/>
            <a:ext cx="5394960" cy="91440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بين المرشحات تختار الأقل اختلافا، فلا تقاس الآية على شبيهتها</a:t>
            </a:r>
          </a:p>
        </p:txBody>
      </p:sp>
      <p:sp>
        <p:nvSpPr>
          <p:cNvPr id="924" name="Rounded Rectangle 923"/>
          <p:cNvSpPr/>
          <p:nvPr/>
        </p:nvSpPr>
        <p:spPr>
          <a:xfrm>
            <a:off x="10241280" y="7086600"/>
            <a:ext cx="6601968" cy="1737360"/>
          </a:xfrm>
          <a:prstGeom prst="roundRect">
            <a:avLst>
              <a:gd name="adj" fmla="val 15789"/>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5" name="Oval 924"/>
          <p:cNvSpPr/>
          <p:nvPr/>
        </p:nvSpPr>
        <p:spPr>
          <a:xfrm>
            <a:off x="16002000" y="7360920"/>
            <a:ext cx="566928" cy="566928"/>
          </a:xfrm>
          <a:prstGeom prst="ellipse">
            <a:avLst/>
          </a:prstGeom>
          <a:solidFill>
            <a:srgbClr val="6150EA"/>
          </a:solidFill>
          <a:ln>
            <a:noFill/>
          </a:ln>
        </p:spPr>
        <p:txBody>
          <a:bodyPr rtlCol="0" anchor="ctr"/>
          <a:lstStyle/>
          <a:p>
            <a:pPr algn="ctr"/>
            <a:endParaRPr/>
          </a:p>
        </p:txBody>
      </p:sp>
      <p:sp>
        <p:nvSpPr>
          <p:cNvPr id="926" name="TextBox 925"/>
          <p:cNvSpPr txBox="1"/>
          <p:nvPr/>
        </p:nvSpPr>
        <p:spPr>
          <a:xfrm>
            <a:off x="16002000" y="7360920"/>
            <a:ext cx="566928" cy="566928"/>
          </a:xfrm>
          <a:prstGeom prst="rect">
            <a:avLst/>
          </a:prstGeom>
          <a:noFill/>
        </p:spPr>
        <p:txBody>
          <a:bodyPr wrap="square" lIns="0" tIns="0" rIns="0" bIns="0" anchor="ctr">
            <a:spAutoFit/>
          </a:bodyPr>
          <a:lstStyle/>
          <a:p>
            <a:pPr algn="ctr" rtl="0"/>
            <a:r>
              <a:rPr lang="en-US" sz="2000" b="1">
                <a:solidFill>
                  <a:srgbClr val="FFFFFF"/>
                </a:solidFill>
                <a:latin typeface="Alexandria"/>
                <a:ea typeface="Alexandria"/>
                <a:cs typeface="Alexandria"/>
              </a:rPr>
              <a:t>3</a:t>
            </a:r>
          </a:p>
        </p:txBody>
      </p:sp>
      <p:sp>
        <p:nvSpPr>
          <p:cNvPr id="927" name="TextBox 926"/>
          <p:cNvSpPr txBox="1"/>
          <p:nvPr/>
        </p:nvSpPr>
        <p:spPr>
          <a:xfrm>
            <a:off x="10515600" y="7315200"/>
            <a:ext cx="5394960" cy="502920"/>
          </a:xfrm>
          <a:prstGeom prst="rect">
            <a:avLst/>
          </a:prstGeom>
          <a:noFill/>
        </p:spPr>
        <p:txBody>
          <a:bodyPr wrap="square" lIns="0" tIns="0" rIns="0" bIns="0" anchor="t">
            <a:spAutoFit/>
          </a:bodyPr>
          <a:lstStyle/>
          <a:p>
            <a:pPr algn="r" rtl="1"/>
            <a:r>
              <a:rPr lang="ar-SA" sz="2000" b="1">
                <a:solidFill>
                  <a:srgbClr val="12183F"/>
                </a:solidFill>
                <a:latin typeface="Alexandria"/>
                <a:ea typeface="Alexandria"/>
                <a:cs typeface="Alexandria"/>
              </a:rPr>
              <a:t>المتشابهات جنبا إلى جنب</a:t>
            </a:r>
          </a:p>
        </p:txBody>
      </p:sp>
      <p:sp>
        <p:nvSpPr>
          <p:cNvPr id="928" name="TextBox 927"/>
          <p:cNvSpPr txBox="1"/>
          <p:nvPr/>
        </p:nvSpPr>
        <p:spPr>
          <a:xfrm>
            <a:off x="10515600" y="7863840"/>
            <a:ext cx="5394960" cy="91440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«وما الحياة الدنيا إلا لهو ولعب» ← الأقرب العنكبوت 64، والمتشابهة الأنعام 32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14</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الحل</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رد لطيف… لا يحرج المرسل</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لأن الهدف أن تتوقف الرسالة، لا أن يحرج صاحبها</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pic>
        <p:nvPicPr>
          <p:cNvPr id="905" name="Picture 904" descr="reply.png"/>
          <p:cNvPicPr>
            <a:picLocks noChangeAspect="1"/>
          </p:cNvPicPr>
          <p:nvPr/>
        </p:nvPicPr>
        <p:blipFill>
          <a:blip r:embed="rId5"/>
          <a:stretch>
            <a:fillRect/>
          </a:stretch>
        </p:blipFill>
        <p:spPr>
          <a:xfrm>
            <a:off x="1408176" y="3200400"/>
            <a:ext cx="9509760" cy="5349240"/>
          </a:xfrm>
          <a:prstGeom prst="roundRect">
            <a:avLst>
              <a:gd name="adj" fmla="val 4273"/>
            </a:avLst>
          </a:prstGeom>
          <a:effectLst>
            <a:outerShdw blurRad="380000" dist="120000" dir="5400000" algn="t" rotWithShape="0">
              <a:srgbClr val="000000">
                <a:alpha val="40000"/>
              </a:srgbClr>
            </a:outerShdw>
          </a:effectLst>
        </p:spPr>
      </p:pic>
      <p:pic>
        <p:nvPicPr>
          <p:cNvPr id="906" name="Picture 905" descr="appres_2.png"/>
          <p:cNvPicPr>
            <a:picLocks noChangeAspect="1"/>
          </p:cNvPicPr>
          <p:nvPr/>
        </p:nvPicPr>
        <p:blipFill>
          <a:blip r:embed="rId6"/>
          <a:stretch>
            <a:fillRect/>
          </a:stretch>
        </p:blipFill>
        <p:spPr>
          <a:xfrm>
            <a:off x="11430000" y="3200400"/>
            <a:ext cx="2721934" cy="5852160"/>
          </a:xfrm>
          <a:prstGeom prst="roundRect">
            <a:avLst>
              <a:gd name="adj" fmla="val 10078"/>
            </a:avLst>
          </a:prstGeom>
          <a:effectLst>
            <a:outerShdw blurRad="380000" dist="120000" dir="5400000" algn="t" rotWithShape="0">
              <a:srgbClr val="000000">
                <a:alpha val="40000"/>
              </a:srgbClr>
            </a:outerShdw>
          </a:effectLst>
        </p:spPr>
      </p:pic>
      <p:sp>
        <p:nvSpPr>
          <p:cNvPr id="907" name="TextBox 906"/>
          <p:cNvSpPr txBox="1"/>
          <p:nvPr/>
        </p:nvSpPr>
        <p:spPr>
          <a:xfrm>
            <a:off x="14264640" y="3291840"/>
            <a:ext cx="2578608"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خمس لغات</a:t>
            </a:r>
          </a:p>
        </p:txBody>
      </p:sp>
      <p:sp>
        <p:nvSpPr>
          <p:cNvPr id="908" name="Rounded Rectangle 907"/>
          <p:cNvSpPr/>
          <p:nvPr/>
        </p:nvSpPr>
        <p:spPr>
          <a:xfrm>
            <a:off x="14264640" y="3886200"/>
            <a:ext cx="2578608" cy="457200"/>
          </a:xfrm>
          <a:prstGeom prst="roundRect">
            <a:avLst>
              <a:gd name="adj" fmla="val 50000"/>
            </a:avLst>
          </a:prstGeom>
          <a:solidFill>
            <a:srgbClr val="243070"/>
          </a:solidFill>
          <a:ln>
            <a:noFill/>
          </a:ln>
        </p:spPr>
        <p:txBody>
          <a:bodyPr rtlCol="0" anchor="ctr"/>
          <a:lstStyle/>
          <a:p>
            <a:pPr algn="ctr"/>
            <a:endParaRPr/>
          </a:p>
        </p:txBody>
      </p:sp>
      <p:sp>
        <p:nvSpPr>
          <p:cNvPr id="909" name="TextBox 908"/>
          <p:cNvSpPr txBox="1"/>
          <p:nvPr/>
        </p:nvSpPr>
        <p:spPr>
          <a:xfrm>
            <a:off x="14264640" y="3886200"/>
            <a:ext cx="2578608" cy="457200"/>
          </a:xfrm>
          <a:prstGeom prst="rect">
            <a:avLst/>
          </a:prstGeom>
          <a:noFill/>
        </p:spPr>
        <p:txBody>
          <a:bodyPr wrap="square" lIns="0" tIns="0" rIns="0" bIns="0" anchor="ctr">
            <a:spAutoFit/>
          </a:bodyPr>
          <a:lstStyle/>
          <a:p>
            <a:pPr algn="ctr" rtl="1"/>
            <a:r>
              <a:rPr lang="ar-SA" sz="1600" b="1">
                <a:solidFill>
                  <a:srgbClr val="F2F4FF"/>
                </a:solidFill>
                <a:latin typeface="Alexandria"/>
                <a:ea typeface="Alexandria"/>
                <a:cs typeface="Alexandria"/>
              </a:rPr>
              <a:t>العربية</a:t>
            </a:r>
          </a:p>
        </p:txBody>
      </p:sp>
      <p:sp>
        <p:nvSpPr>
          <p:cNvPr id="910" name="Rounded Rectangle 909"/>
          <p:cNvSpPr/>
          <p:nvPr/>
        </p:nvSpPr>
        <p:spPr>
          <a:xfrm>
            <a:off x="14264640" y="4453128"/>
            <a:ext cx="2578608" cy="457200"/>
          </a:xfrm>
          <a:prstGeom prst="roundRect">
            <a:avLst>
              <a:gd name="adj" fmla="val 50000"/>
            </a:avLst>
          </a:prstGeom>
          <a:solidFill>
            <a:srgbClr val="243070"/>
          </a:solidFill>
          <a:ln>
            <a:noFill/>
          </a:ln>
        </p:spPr>
        <p:txBody>
          <a:bodyPr rtlCol="0" anchor="ctr"/>
          <a:lstStyle/>
          <a:p>
            <a:pPr algn="ctr"/>
            <a:endParaRPr/>
          </a:p>
        </p:txBody>
      </p:sp>
      <p:sp>
        <p:nvSpPr>
          <p:cNvPr id="911" name="TextBox 910"/>
          <p:cNvSpPr txBox="1"/>
          <p:nvPr/>
        </p:nvSpPr>
        <p:spPr>
          <a:xfrm>
            <a:off x="14264640" y="4453128"/>
            <a:ext cx="2578608" cy="457200"/>
          </a:xfrm>
          <a:prstGeom prst="rect">
            <a:avLst/>
          </a:prstGeom>
          <a:noFill/>
        </p:spPr>
        <p:txBody>
          <a:bodyPr wrap="square" lIns="0" tIns="0" rIns="0" bIns="0" anchor="ctr">
            <a:spAutoFit/>
          </a:bodyPr>
          <a:lstStyle/>
          <a:p>
            <a:pPr algn="ctr" rtl="0"/>
            <a:r>
              <a:rPr lang="en-US" sz="1600" b="1">
                <a:solidFill>
                  <a:srgbClr val="F2F4FF"/>
                </a:solidFill>
                <a:latin typeface="Alexandria"/>
                <a:ea typeface="Alexandria"/>
                <a:cs typeface="Alexandria"/>
              </a:rPr>
              <a:t>English</a:t>
            </a:r>
          </a:p>
        </p:txBody>
      </p:sp>
      <p:sp>
        <p:nvSpPr>
          <p:cNvPr id="912" name="Rounded Rectangle 911"/>
          <p:cNvSpPr/>
          <p:nvPr/>
        </p:nvSpPr>
        <p:spPr>
          <a:xfrm>
            <a:off x="14264640" y="5020056"/>
            <a:ext cx="2578608" cy="457200"/>
          </a:xfrm>
          <a:prstGeom prst="roundRect">
            <a:avLst>
              <a:gd name="adj" fmla="val 50000"/>
            </a:avLst>
          </a:prstGeom>
          <a:solidFill>
            <a:srgbClr val="243070"/>
          </a:solidFill>
          <a:ln>
            <a:noFill/>
          </a:ln>
        </p:spPr>
        <p:txBody>
          <a:bodyPr rtlCol="0" anchor="ctr"/>
          <a:lstStyle/>
          <a:p>
            <a:pPr algn="ctr"/>
            <a:endParaRPr/>
          </a:p>
        </p:txBody>
      </p:sp>
      <p:sp>
        <p:nvSpPr>
          <p:cNvPr id="913" name="TextBox 912"/>
          <p:cNvSpPr txBox="1"/>
          <p:nvPr/>
        </p:nvSpPr>
        <p:spPr>
          <a:xfrm>
            <a:off x="14264640" y="5020056"/>
            <a:ext cx="2578608" cy="457200"/>
          </a:xfrm>
          <a:prstGeom prst="rect">
            <a:avLst/>
          </a:prstGeom>
          <a:noFill/>
        </p:spPr>
        <p:txBody>
          <a:bodyPr wrap="square" lIns="0" tIns="0" rIns="0" bIns="0" anchor="ctr">
            <a:spAutoFit/>
          </a:bodyPr>
          <a:lstStyle/>
          <a:p>
            <a:pPr algn="ctr" rtl="0"/>
            <a:r>
              <a:rPr lang="en-US" sz="1600" b="1">
                <a:solidFill>
                  <a:srgbClr val="F2F4FF"/>
                </a:solidFill>
                <a:latin typeface="Alexandria"/>
                <a:ea typeface="Alexandria"/>
                <a:cs typeface="Alexandria"/>
              </a:rPr>
              <a:t>Français</a:t>
            </a:r>
          </a:p>
        </p:txBody>
      </p:sp>
      <p:sp>
        <p:nvSpPr>
          <p:cNvPr id="914" name="Rounded Rectangle 913"/>
          <p:cNvSpPr/>
          <p:nvPr/>
        </p:nvSpPr>
        <p:spPr>
          <a:xfrm>
            <a:off x="14264640" y="5586983"/>
            <a:ext cx="2578608" cy="457200"/>
          </a:xfrm>
          <a:prstGeom prst="roundRect">
            <a:avLst>
              <a:gd name="adj" fmla="val 50000"/>
            </a:avLst>
          </a:prstGeom>
          <a:solidFill>
            <a:srgbClr val="243070"/>
          </a:solidFill>
          <a:ln>
            <a:noFill/>
          </a:ln>
        </p:spPr>
        <p:txBody>
          <a:bodyPr rtlCol="0" anchor="ctr"/>
          <a:lstStyle/>
          <a:p>
            <a:pPr algn="ctr"/>
            <a:endParaRPr/>
          </a:p>
        </p:txBody>
      </p:sp>
      <p:sp>
        <p:nvSpPr>
          <p:cNvPr id="915" name="TextBox 914"/>
          <p:cNvSpPr txBox="1"/>
          <p:nvPr/>
        </p:nvSpPr>
        <p:spPr>
          <a:xfrm>
            <a:off x="14264640" y="5586983"/>
            <a:ext cx="2578608" cy="457200"/>
          </a:xfrm>
          <a:prstGeom prst="rect">
            <a:avLst/>
          </a:prstGeom>
          <a:noFill/>
        </p:spPr>
        <p:txBody>
          <a:bodyPr wrap="square" lIns="0" tIns="0" rIns="0" bIns="0" anchor="ctr">
            <a:spAutoFit/>
          </a:bodyPr>
          <a:lstStyle/>
          <a:p>
            <a:pPr algn="ctr" rtl="0"/>
            <a:r>
              <a:rPr lang="en-US" sz="1600" b="1">
                <a:solidFill>
                  <a:srgbClr val="F2F4FF"/>
                </a:solidFill>
                <a:latin typeface="Alexandria"/>
                <a:ea typeface="Alexandria"/>
                <a:cs typeface="Alexandria"/>
              </a:rPr>
              <a:t>Indonesia</a:t>
            </a:r>
          </a:p>
        </p:txBody>
      </p:sp>
      <p:sp>
        <p:nvSpPr>
          <p:cNvPr id="916" name="Rounded Rectangle 915"/>
          <p:cNvSpPr/>
          <p:nvPr/>
        </p:nvSpPr>
        <p:spPr>
          <a:xfrm>
            <a:off x="14264640" y="6153912"/>
            <a:ext cx="2578608" cy="457200"/>
          </a:xfrm>
          <a:prstGeom prst="roundRect">
            <a:avLst>
              <a:gd name="adj" fmla="val 50000"/>
            </a:avLst>
          </a:prstGeom>
          <a:solidFill>
            <a:srgbClr val="243070"/>
          </a:solidFill>
          <a:ln>
            <a:noFill/>
          </a:ln>
        </p:spPr>
        <p:txBody>
          <a:bodyPr rtlCol="0" anchor="ctr"/>
          <a:lstStyle/>
          <a:p>
            <a:pPr algn="ctr"/>
            <a:endParaRPr/>
          </a:p>
        </p:txBody>
      </p:sp>
      <p:sp>
        <p:nvSpPr>
          <p:cNvPr id="917" name="TextBox 916"/>
          <p:cNvSpPr txBox="1"/>
          <p:nvPr/>
        </p:nvSpPr>
        <p:spPr>
          <a:xfrm>
            <a:off x="14264640" y="6153912"/>
            <a:ext cx="2578608" cy="457200"/>
          </a:xfrm>
          <a:prstGeom prst="rect">
            <a:avLst/>
          </a:prstGeom>
          <a:noFill/>
        </p:spPr>
        <p:txBody>
          <a:bodyPr wrap="square" lIns="0" tIns="0" rIns="0" bIns="0" anchor="ctr">
            <a:spAutoFit/>
          </a:bodyPr>
          <a:lstStyle/>
          <a:p>
            <a:pPr algn="ctr" rtl="0"/>
            <a:r>
              <a:rPr lang="en-US" sz="1600" b="1">
                <a:solidFill>
                  <a:srgbClr val="F2F4FF"/>
                </a:solidFill>
                <a:latin typeface="Alexandria"/>
                <a:ea typeface="Alexandria"/>
                <a:cs typeface="Alexandria"/>
              </a:rPr>
              <a:t>Türkçe</a:t>
            </a:r>
          </a:p>
        </p:txBody>
      </p:sp>
      <p:sp>
        <p:nvSpPr>
          <p:cNvPr id="918" name="TextBox 917"/>
          <p:cNvSpPr txBox="1"/>
          <p:nvPr/>
        </p:nvSpPr>
        <p:spPr>
          <a:xfrm>
            <a:off x="14264640" y="6858000"/>
            <a:ext cx="2578608" cy="2194560"/>
          </a:xfrm>
          <a:prstGeom prst="rect">
            <a:avLst/>
          </a:prstGeom>
          <a:noFill/>
        </p:spPr>
        <p:txBody>
          <a:bodyPr wrap="square" lIns="0" tIns="0" rIns="0" bIns="0" anchor="t">
            <a:spAutoFit/>
          </a:bodyPr>
          <a:lstStyle/>
          <a:p>
            <a:pPr algn="r" rtl="1">
              <a:lnSpc>
                <a:spcPct val="110000"/>
              </a:lnSpc>
            </a:pPr>
            <a:r>
              <a:rPr lang="ar-SA" sz="1500" b="0">
                <a:solidFill>
                  <a:srgbClr val="AEB4DA"/>
                </a:solidFill>
                <a:latin typeface="Alexandria"/>
                <a:ea typeface="Alexandria"/>
                <a:cs typeface="Alexandria"/>
              </a:rPr>
              <a:t>بطاقة صورة للمجموعة، ورابط للنتيجة، وإرسال مباشر إلى واتساب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15</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الحل</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على الجوال: تطبيق يثبت بلمسة</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تطبيق ويب تقدمي لأجهزة Android و iPhone — ومحاك للجنة داخل إطار هاتف</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pic>
        <p:nvPicPr>
          <p:cNvPr id="913" name="Picture 912" descr="app_0.png"/>
          <p:cNvPicPr>
            <a:picLocks noChangeAspect="1"/>
          </p:cNvPicPr>
          <p:nvPr/>
        </p:nvPicPr>
        <p:blipFill>
          <a:blip r:embed="rId5"/>
          <a:stretch>
            <a:fillRect/>
          </a:stretch>
        </p:blipFill>
        <p:spPr>
          <a:xfrm>
            <a:off x="1408176" y="3154680"/>
            <a:ext cx="2743200" cy="5897880"/>
          </a:xfrm>
          <a:prstGeom prst="roundRect">
            <a:avLst>
              <a:gd name="adj" fmla="val 10000"/>
            </a:avLst>
          </a:prstGeom>
          <a:effectLst>
            <a:outerShdw blurRad="380000" dist="120000" dir="5400000" algn="t" rotWithShape="0">
              <a:srgbClr val="000000">
                <a:alpha val="40000"/>
              </a:srgbClr>
            </a:outerShdw>
          </a:effectLst>
        </p:spPr>
      </p:pic>
      <p:pic>
        <p:nvPicPr>
          <p:cNvPr id="914" name="Picture 913" descr="appres_1.png"/>
          <p:cNvPicPr>
            <a:picLocks noChangeAspect="1"/>
          </p:cNvPicPr>
          <p:nvPr/>
        </p:nvPicPr>
        <p:blipFill>
          <a:blip r:embed="rId6"/>
          <a:stretch>
            <a:fillRect/>
          </a:stretch>
        </p:blipFill>
        <p:spPr>
          <a:xfrm>
            <a:off x="4434840" y="3154680"/>
            <a:ext cx="2743200" cy="5897880"/>
          </a:xfrm>
          <a:prstGeom prst="roundRect">
            <a:avLst>
              <a:gd name="adj" fmla="val 10000"/>
            </a:avLst>
          </a:prstGeom>
          <a:effectLst>
            <a:outerShdw blurRad="380000" dist="120000" dir="5400000" algn="t" rotWithShape="0">
              <a:srgbClr val="000000">
                <a:alpha val="40000"/>
              </a:srgbClr>
            </a:outerShdw>
          </a:effectLst>
        </p:spPr>
      </p:pic>
      <p:sp>
        <p:nvSpPr>
          <p:cNvPr id="915" name="TextBox 914"/>
          <p:cNvSpPr txBox="1"/>
          <p:nvPr/>
        </p:nvSpPr>
        <p:spPr>
          <a:xfrm>
            <a:off x="7863840" y="3246120"/>
            <a:ext cx="8979408" cy="457200"/>
          </a:xfrm>
          <a:prstGeom prst="rect">
            <a:avLst/>
          </a:prstGeom>
          <a:noFill/>
        </p:spPr>
        <p:txBody>
          <a:bodyPr wrap="square" lIns="0" tIns="0" rIns="0" bIns="0" anchor="t">
            <a:spAutoFit/>
          </a:bodyPr>
          <a:lstStyle/>
          <a:p>
            <a:pPr algn="r" rtl="1"/>
            <a:r>
              <a:rPr lang="ar-SA" sz="2100" b="1">
                <a:solidFill>
                  <a:srgbClr val="6150EA"/>
                </a:solidFill>
                <a:latin typeface="Alexandria"/>
                <a:ea typeface="Alexandria"/>
                <a:cs typeface="Alexandria"/>
              </a:rPr>
              <a:t>يعمل الآن</a:t>
            </a:r>
          </a:p>
        </p:txBody>
      </p:sp>
      <p:sp>
        <p:nvSpPr>
          <p:cNvPr id="916" name="Oval 915"/>
          <p:cNvSpPr/>
          <p:nvPr/>
        </p:nvSpPr>
        <p:spPr>
          <a:xfrm>
            <a:off x="16440912" y="3904488"/>
            <a:ext cx="274320" cy="274320"/>
          </a:xfrm>
          <a:prstGeom prst="ellipse">
            <a:avLst/>
          </a:prstGeom>
          <a:solidFill>
            <a:srgbClr val="22B07D"/>
          </a:solidFill>
          <a:ln>
            <a:noFill/>
          </a:ln>
        </p:spPr>
        <p:txBody>
          <a:bodyPr rtlCol="0" anchor="ctr"/>
          <a:lstStyle/>
          <a:p>
            <a:pPr algn="ctr"/>
            <a:endParaRPr/>
          </a:p>
        </p:txBody>
      </p:sp>
      <p:sp>
        <p:nvSpPr>
          <p:cNvPr id="917" name="TextBox 916"/>
          <p:cNvSpPr txBox="1"/>
          <p:nvPr/>
        </p:nvSpPr>
        <p:spPr>
          <a:xfrm>
            <a:off x="7863840" y="3794760"/>
            <a:ext cx="8412480" cy="502920"/>
          </a:xfrm>
          <a:prstGeom prst="rect">
            <a:avLst/>
          </a:prstGeom>
          <a:noFill/>
        </p:spPr>
        <p:txBody>
          <a:bodyPr wrap="square" lIns="0" tIns="0" rIns="0" bIns="0" anchor="t">
            <a:spAutoFit/>
          </a:bodyPr>
          <a:lstStyle/>
          <a:p>
            <a:pPr algn="r" rtl="1"/>
            <a:r>
              <a:rPr lang="ar-SA" sz="1700" b="0">
                <a:solidFill>
                  <a:srgbClr val="12183F"/>
                </a:solidFill>
                <a:latin typeface="Alexandria"/>
                <a:ea typeface="Alexandria"/>
                <a:cs typeface="Alexandria"/>
              </a:rPr>
              <a:t>تثبيت على الشاشة الرئيسية (Android و iPhone)</a:t>
            </a:r>
          </a:p>
        </p:txBody>
      </p:sp>
      <p:sp>
        <p:nvSpPr>
          <p:cNvPr id="918" name="Oval 917"/>
          <p:cNvSpPr/>
          <p:nvPr/>
        </p:nvSpPr>
        <p:spPr>
          <a:xfrm>
            <a:off x="16440912" y="4526280"/>
            <a:ext cx="274320" cy="274320"/>
          </a:xfrm>
          <a:prstGeom prst="ellipse">
            <a:avLst/>
          </a:prstGeom>
          <a:solidFill>
            <a:srgbClr val="22B07D"/>
          </a:solidFill>
          <a:ln>
            <a:noFill/>
          </a:ln>
        </p:spPr>
        <p:txBody>
          <a:bodyPr rtlCol="0" anchor="ctr"/>
          <a:lstStyle/>
          <a:p>
            <a:pPr algn="ctr"/>
            <a:endParaRPr/>
          </a:p>
        </p:txBody>
      </p:sp>
      <p:sp>
        <p:nvSpPr>
          <p:cNvPr id="919" name="TextBox 918"/>
          <p:cNvSpPr txBox="1"/>
          <p:nvPr/>
        </p:nvSpPr>
        <p:spPr>
          <a:xfrm>
            <a:off x="7863840" y="4416552"/>
            <a:ext cx="8412480" cy="502920"/>
          </a:xfrm>
          <a:prstGeom prst="rect">
            <a:avLst/>
          </a:prstGeom>
          <a:noFill/>
        </p:spPr>
        <p:txBody>
          <a:bodyPr wrap="square" lIns="0" tIns="0" rIns="0" bIns="0" anchor="t">
            <a:spAutoFit/>
          </a:bodyPr>
          <a:lstStyle/>
          <a:p>
            <a:pPr algn="r" rtl="1"/>
            <a:r>
              <a:rPr lang="ar-SA" sz="1700" b="0">
                <a:solidFill>
                  <a:srgbClr val="12183F"/>
                </a:solidFill>
                <a:latin typeface="Alexandria"/>
                <a:ea typeface="Alexandria"/>
                <a:cs typeface="Alexandria"/>
              </a:rPr>
              <a:t>مشاركة رسالة من واتساب إلى ثبت مباشرة (Android)</a:t>
            </a:r>
          </a:p>
        </p:txBody>
      </p:sp>
      <p:sp>
        <p:nvSpPr>
          <p:cNvPr id="920" name="Oval 919"/>
          <p:cNvSpPr/>
          <p:nvPr/>
        </p:nvSpPr>
        <p:spPr>
          <a:xfrm>
            <a:off x="16440912" y="5148072"/>
            <a:ext cx="274320" cy="274320"/>
          </a:xfrm>
          <a:prstGeom prst="ellipse">
            <a:avLst/>
          </a:prstGeom>
          <a:solidFill>
            <a:srgbClr val="22B07D"/>
          </a:solidFill>
          <a:ln>
            <a:noFill/>
          </a:ln>
        </p:spPr>
        <p:txBody>
          <a:bodyPr rtlCol="0" anchor="ctr"/>
          <a:lstStyle/>
          <a:p>
            <a:pPr algn="ctr"/>
            <a:endParaRPr/>
          </a:p>
        </p:txBody>
      </p:sp>
      <p:sp>
        <p:nvSpPr>
          <p:cNvPr id="921" name="TextBox 920"/>
          <p:cNvSpPr txBox="1"/>
          <p:nvPr/>
        </p:nvSpPr>
        <p:spPr>
          <a:xfrm>
            <a:off x="7863840" y="5038344"/>
            <a:ext cx="8412480" cy="502920"/>
          </a:xfrm>
          <a:prstGeom prst="rect">
            <a:avLst/>
          </a:prstGeom>
          <a:noFill/>
        </p:spPr>
        <p:txBody>
          <a:bodyPr wrap="square" lIns="0" tIns="0" rIns="0" bIns="0" anchor="t">
            <a:spAutoFit/>
          </a:bodyPr>
          <a:lstStyle/>
          <a:p>
            <a:pPr algn="r" rtl="1"/>
            <a:r>
              <a:rPr lang="ar-SA" sz="1700" b="0">
                <a:solidFill>
                  <a:srgbClr val="12183F"/>
                </a:solidFill>
                <a:latin typeface="Alexandria"/>
                <a:ea typeface="Alexandria"/>
                <a:cs typeface="Alexandria"/>
              </a:rPr>
              <a:t>السجل والمحفوظات على الجهاز فقط</a:t>
            </a:r>
          </a:p>
        </p:txBody>
      </p:sp>
      <p:sp>
        <p:nvSpPr>
          <p:cNvPr id="922" name="Oval 921"/>
          <p:cNvSpPr/>
          <p:nvPr/>
        </p:nvSpPr>
        <p:spPr>
          <a:xfrm>
            <a:off x="16440912" y="5769864"/>
            <a:ext cx="274320" cy="274320"/>
          </a:xfrm>
          <a:prstGeom prst="ellipse">
            <a:avLst/>
          </a:prstGeom>
          <a:solidFill>
            <a:srgbClr val="22B07D"/>
          </a:solidFill>
          <a:ln>
            <a:noFill/>
          </a:ln>
        </p:spPr>
        <p:txBody>
          <a:bodyPr rtlCol="0" anchor="ctr"/>
          <a:lstStyle/>
          <a:p>
            <a:pPr algn="ctr"/>
            <a:endParaRPr/>
          </a:p>
        </p:txBody>
      </p:sp>
      <p:sp>
        <p:nvSpPr>
          <p:cNvPr id="923" name="TextBox 922"/>
          <p:cNvSpPr txBox="1"/>
          <p:nvPr/>
        </p:nvSpPr>
        <p:spPr>
          <a:xfrm>
            <a:off x="7863840" y="5660136"/>
            <a:ext cx="8412480" cy="502920"/>
          </a:xfrm>
          <a:prstGeom prst="rect">
            <a:avLst/>
          </a:prstGeom>
          <a:noFill/>
        </p:spPr>
        <p:txBody>
          <a:bodyPr wrap="square" lIns="0" tIns="0" rIns="0" bIns="0" anchor="t">
            <a:spAutoFit/>
          </a:bodyPr>
          <a:lstStyle/>
          <a:p>
            <a:pPr algn="r" rtl="1"/>
            <a:r>
              <a:rPr lang="ar-SA" sz="1700" b="0">
                <a:solidFill>
                  <a:srgbClr val="12183F"/>
                </a:solidFill>
                <a:latin typeface="Alexandria"/>
                <a:ea typeface="Alexandria"/>
                <a:cs typeface="Alexandria"/>
              </a:rPr>
              <a:t>البحث عن دليل ثابت لموضوع</a:t>
            </a:r>
          </a:p>
        </p:txBody>
      </p:sp>
      <p:sp>
        <p:nvSpPr>
          <p:cNvPr id="924" name="TextBox 923"/>
          <p:cNvSpPr txBox="1"/>
          <p:nvPr/>
        </p:nvSpPr>
        <p:spPr>
          <a:xfrm>
            <a:off x="7863840" y="6400800"/>
            <a:ext cx="8979408" cy="457200"/>
          </a:xfrm>
          <a:prstGeom prst="rect">
            <a:avLst/>
          </a:prstGeom>
          <a:noFill/>
        </p:spPr>
        <p:txBody>
          <a:bodyPr wrap="square" lIns="0" tIns="0" rIns="0" bIns="0" anchor="t">
            <a:spAutoFit/>
          </a:bodyPr>
          <a:lstStyle/>
          <a:p>
            <a:pPr algn="r" rtl="1"/>
            <a:r>
              <a:rPr lang="ar-SA" sz="2100" b="1">
                <a:solidFill>
                  <a:srgbClr val="6150EA"/>
                </a:solidFill>
                <a:latin typeface="Alexandria"/>
                <a:ea typeface="Alexandria"/>
                <a:cs typeface="Alexandria"/>
              </a:rPr>
              <a:t>محاكاة تستخدم المحرك الحقيقي — قريبا في التطبيق الأصلي</a:t>
            </a:r>
          </a:p>
        </p:txBody>
      </p:sp>
      <p:sp>
        <p:nvSpPr>
          <p:cNvPr id="925" name="Rounded Rectangle 924"/>
          <p:cNvSpPr/>
          <p:nvPr/>
        </p:nvSpPr>
        <p:spPr>
          <a:xfrm>
            <a:off x="14694408" y="7040880"/>
            <a:ext cx="2103120" cy="566928"/>
          </a:xfrm>
          <a:prstGeom prst="roundRect">
            <a:avLst>
              <a:gd name="adj" fmla="val 50000"/>
            </a:avLst>
          </a:prstGeom>
          <a:solidFill>
            <a:srgbClr val="E4DCFF"/>
          </a:solidFill>
          <a:ln>
            <a:noFill/>
          </a:ln>
        </p:spPr>
        <p:txBody>
          <a:bodyPr rtlCol="0" anchor="ctr"/>
          <a:lstStyle/>
          <a:p>
            <a:pPr algn="ctr"/>
            <a:endParaRPr/>
          </a:p>
        </p:txBody>
      </p:sp>
      <p:sp>
        <p:nvSpPr>
          <p:cNvPr id="926" name="TextBox 925"/>
          <p:cNvSpPr txBox="1"/>
          <p:nvPr/>
        </p:nvSpPr>
        <p:spPr>
          <a:xfrm>
            <a:off x="14694408" y="7040880"/>
            <a:ext cx="2103120" cy="566928"/>
          </a:xfrm>
          <a:prstGeom prst="rect">
            <a:avLst/>
          </a:prstGeom>
          <a:noFill/>
        </p:spPr>
        <p:txBody>
          <a:bodyPr wrap="square" lIns="0" tIns="0" rIns="0" bIns="0" anchor="ctr">
            <a:spAutoFit/>
          </a:bodyPr>
          <a:lstStyle/>
          <a:p>
            <a:pPr algn="ctr" rtl="1"/>
            <a:r>
              <a:rPr lang="ar-SA" sz="1600" b="1">
                <a:solidFill>
                  <a:srgbClr val="4B3B9A"/>
                </a:solidFill>
                <a:latin typeface="Alexandria"/>
                <a:ea typeface="Alexandria"/>
                <a:cs typeface="Alexandria"/>
              </a:rPr>
              <a:t>الفقاعة العائمة</a:t>
            </a:r>
          </a:p>
        </p:txBody>
      </p:sp>
      <p:sp>
        <p:nvSpPr>
          <p:cNvPr id="927" name="Rounded Rectangle 926"/>
          <p:cNvSpPr/>
          <p:nvPr/>
        </p:nvSpPr>
        <p:spPr>
          <a:xfrm>
            <a:off x="12454128" y="7040880"/>
            <a:ext cx="2103120" cy="566928"/>
          </a:xfrm>
          <a:prstGeom prst="roundRect">
            <a:avLst>
              <a:gd name="adj" fmla="val 50000"/>
            </a:avLst>
          </a:prstGeom>
          <a:solidFill>
            <a:srgbClr val="E4DCFF"/>
          </a:solidFill>
          <a:ln>
            <a:noFill/>
          </a:ln>
        </p:spPr>
        <p:txBody>
          <a:bodyPr rtlCol="0" anchor="ctr"/>
          <a:lstStyle/>
          <a:p>
            <a:pPr algn="ctr"/>
            <a:endParaRPr/>
          </a:p>
        </p:txBody>
      </p:sp>
      <p:sp>
        <p:nvSpPr>
          <p:cNvPr id="928" name="TextBox 927"/>
          <p:cNvSpPr txBox="1"/>
          <p:nvPr/>
        </p:nvSpPr>
        <p:spPr>
          <a:xfrm>
            <a:off x="12454128" y="7040880"/>
            <a:ext cx="2103120" cy="566928"/>
          </a:xfrm>
          <a:prstGeom prst="rect">
            <a:avLst/>
          </a:prstGeom>
          <a:noFill/>
        </p:spPr>
        <p:txBody>
          <a:bodyPr wrap="square" lIns="0" tIns="0" rIns="0" bIns="0" anchor="ctr">
            <a:spAutoFit/>
          </a:bodyPr>
          <a:lstStyle/>
          <a:p>
            <a:pPr algn="ctr" rtl="1"/>
            <a:r>
              <a:rPr lang="ar-SA" sz="1600" b="1">
                <a:solidFill>
                  <a:srgbClr val="4B3B9A"/>
                </a:solidFill>
                <a:latin typeface="Alexandria"/>
                <a:ea typeface="Alexandria"/>
                <a:cs typeface="Alexandria"/>
              </a:rPr>
              <a:t>الودجت</a:t>
            </a:r>
          </a:p>
        </p:txBody>
      </p:sp>
      <p:sp>
        <p:nvSpPr>
          <p:cNvPr id="929" name="Rounded Rectangle 928"/>
          <p:cNvSpPr/>
          <p:nvPr/>
        </p:nvSpPr>
        <p:spPr>
          <a:xfrm>
            <a:off x="10213848" y="7040880"/>
            <a:ext cx="2103120" cy="566928"/>
          </a:xfrm>
          <a:prstGeom prst="roundRect">
            <a:avLst>
              <a:gd name="adj" fmla="val 50000"/>
            </a:avLst>
          </a:prstGeom>
          <a:solidFill>
            <a:srgbClr val="E4DCFF"/>
          </a:solidFill>
          <a:ln>
            <a:noFill/>
          </a:ln>
        </p:spPr>
        <p:txBody>
          <a:bodyPr rtlCol="0" anchor="ctr"/>
          <a:lstStyle/>
          <a:p>
            <a:pPr algn="ctr"/>
            <a:endParaRPr/>
          </a:p>
        </p:txBody>
      </p:sp>
      <p:sp>
        <p:nvSpPr>
          <p:cNvPr id="930" name="TextBox 929"/>
          <p:cNvSpPr txBox="1"/>
          <p:nvPr/>
        </p:nvSpPr>
        <p:spPr>
          <a:xfrm>
            <a:off x="10213848" y="7040880"/>
            <a:ext cx="2103120" cy="566928"/>
          </a:xfrm>
          <a:prstGeom prst="rect">
            <a:avLst/>
          </a:prstGeom>
          <a:noFill/>
        </p:spPr>
        <p:txBody>
          <a:bodyPr wrap="square" lIns="0" tIns="0" rIns="0" bIns="0" anchor="ctr">
            <a:spAutoFit/>
          </a:bodyPr>
          <a:lstStyle/>
          <a:p>
            <a:pPr algn="ctr" rtl="1"/>
            <a:r>
              <a:rPr lang="ar-SA" sz="1600" b="1">
                <a:solidFill>
                  <a:srgbClr val="4B3B9A"/>
                </a:solidFill>
                <a:latin typeface="Alexandria"/>
                <a:ea typeface="Alexandria"/>
                <a:cs typeface="Alexandria"/>
              </a:rPr>
              <a:t>مشاركة iOS</a:t>
            </a:r>
          </a:p>
        </p:txBody>
      </p:sp>
      <p:sp>
        <p:nvSpPr>
          <p:cNvPr id="931" name="Rounded Rectangle 930"/>
          <p:cNvSpPr/>
          <p:nvPr/>
        </p:nvSpPr>
        <p:spPr>
          <a:xfrm>
            <a:off x="7973568" y="7040880"/>
            <a:ext cx="2103120" cy="566928"/>
          </a:xfrm>
          <a:prstGeom prst="roundRect">
            <a:avLst>
              <a:gd name="adj" fmla="val 50000"/>
            </a:avLst>
          </a:prstGeom>
          <a:solidFill>
            <a:srgbClr val="E4DCFF"/>
          </a:solidFill>
          <a:ln>
            <a:noFill/>
          </a:ln>
        </p:spPr>
        <p:txBody>
          <a:bodyPr rtlCol="0" anchor="ctr"/>
          <a:lstStyle/>
          <a:p>
            <a:pPr algn="ctr"/>
            <a:endParaRPr/>
          </a:p>
        </p:txBody>
      </p:sp>
      <p:sp>
        <p:nvSpPr>
          <p:cNvPr id="932" name="TextBox 931"/>
          <p:cNvSpPr txBox="1"/>
          <p:nvPr/>
        </p:nvSpPr>
        <p:spPr>
          <a:xfrm>
            <a:off x="7973568" y="7040880"/>
            <a:ext cx="2103120" cy="566928"/>
          </a:xfrm>
          <a:prstGeom prst="rect">
            <a:avLst/>
          </a:prstGeom>
          <a:noFill/>
        </p:spPr>
        <p:txBody>
          <a:bodyPr wrap="square" lIns="0" tIns="0" rIns="0" bIns="0" anchor="ctr">
            <a:spAutoFit/>
          </a:bodyPr>
          <a:lstStyle/>
          <a:p>
            <a:pPr algn="ctr" rtl="1"/>
            <a:r>
              <a:rPr lang="ar-SA" sz="1600" b="1">
                <a:solidFill>
                  <a:srgbClr val="4B3B9A"/>
                </a:solidFill>
                <a:latin typeface="Alexandria"/>
                <a:ea typeface="Alexandria"/>
                <a:cs typeface="Alexandria"/>
              </a:rPr>
              <a:t>بوت واتساب</a:t>
            </a:r>
          </a:p>
        </p:txBody>
      </p:sp>
      <p:sp>
        <p:nvSpPr>
          <p:cNvPr id="933" name="TextBox 932"/>
          <p:cNvSpPr txBox="1"/>
          <p:nvPr/>
        </p:nvSpPr>
        <p:spPr>
          <a:xfrm>
            <a:off x="7863840" y="7863840"/>
            <a:ext cx="8979408" cy="1188720"/>
          </a:xfrm>
          <a:prstGeom prst="rect">
            <a:avLst/>
          </a:prstGeom>
          <a:noFill/>
        </p:spPr>
        <p:txBody>
          <a:bodyPr wrap="square" lIns="0" tIns="0" rIns="0" bIns="0" anchor="t">
            <a:spAutoFit/>
          </a:bodyPr>
          <a:lstStyle/>
          <a:p>
            <a:pPr algn="r" rtl="1">
              <a:lnSpc>
                <a:spcPct val="110000"/>
              </a:lnSpc>
            </a:pPr>
            <a:r>
              <a:rPr lang="ar-SA" sz="1600" b="0">
                <a:solidFill>
                  <a:srgbClr val="4B5383"/>
                </a:solidFill>
                <a:latin typeface="Alexandria"/>
                <a:ea typeface="Alexandria"/>
                <a:cs typeface="Alexandria"/>
              </a:rPr>
              <a:t>للجنة التحكيم: islamicaich.vercel.app/mobile يعرض التطبيق كاملا داخل إطار هاتف، مع رمز QR لفتحه على جوال حقيقي.</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a:spLocks noGrp="1"/>
          </p:cNvSpPr>
          <p:nvPr>
            <p:ph type="body" idx="1"/>
          </p:nvPr>
        </p:nvSpPr>
        <p:spPr>
          <a:xfrm>
            <a:off x="13125450" y="3143250"/>
            <a:ext cx="3619500" cy="12384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8400"/>
              <a:buNone/>
            </a:pPr>
            <a:r>
              <a:rPr lang="en-US" sz="8400" b="1">
                <a:solidFill>
                  <a:srgbClr val="2EF2C2"/>
                </a:solidFill>
                <a:latin typeface="Alexandria"/>
                <a:ea typeface="Alexandria"/>
                <a:cs typeface="Alexandria"/>
                <a:sym typeface="Readex Pro"/>
              </a:rPr>
              <a:t>03</a:t>
            </a:r>
            <a:endParaRPr/>
          </a:p>
        </p:txBody>
      </p:sp>
      <p:sp>
        <p:nvSpPr>
          <p:cNvPr id="528" name="Google Shape;528;p10"/>
          <p:cNvSpPr txBox="1">
            <a:spLocks noGrp="1"/>
          </p:cNvSpPr>
          <p:nvPr>
            <p:ph type="title"/>
          </p:nvPr>
        </p:nvSpPr>
        <p:spPr>
          <a:xfrm>
            <a:off x="9179000" y="4810125"/>
            <a:ext cx="7566000" cy="1238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000"/>
              <a:buNone/>
            </a:pPr>
            <a:r>
              <a:rPr lang="ar-SA" sz="6000" b="1">
                <a:solidFill>
                  <a:srgbClr val="F2F4FF"/>
                </a:solidFill>
                <a:latin typeface="Alexandria"/>
                <a:ea typeface="Alexandria"/>
                <a:cs typeface="Alexandria"/>
                <a:sym typeface="Readex Pro"/>
              </a:rPr>
              <a:t>الذكاء الاصطناعي</a:t>
            </a:r>
            <a:endParaRPr/>
          </a:p>
        </p:txBody>
      </p:sp>
      <p:sp>
        <p:nvSpPr>
          <p:cNvPr id="529" name="Google Shape;529;p10"/>
          <p:cNvSpPr txBox="1">
            <a:spLocks noGrp="1"/>
          </p:cNvSpPr>
          <p:nvPr>
            <p:ph type="body" idx="2"/>
          </p:nvPr>
        </p:nvSpPr>
        <p:spPr>
          <a:xfrm>
            <a:off x="9729275" y="6572250"/>
            <a:ext cx="7015500" cy="675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0">
                <a:solidFill>
                  <a:srgbClr val="CBCFE6"/>
                </a:solidFill>
                <a:latin typeface="Alexandria"/>
                <a:ea typeface="Alexandria"/>
                <a:cs typeface="Alexandria"/>
                <a:sym typeface="Readex Pro"/>
              </a:rPr>
              <a:t>ذكاء يجد المصدر… لا يخترعه</a:t>
            </a:r>
            <a:endParaRPr/>
          </a:p>
        </p:txBody>
      </p:sp>
      <p:pic>
        <p:nvPicPr>
          <p:cNvPr id="530" name="Google Shape;530;p10"/>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17</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الذكاء الاصطناعي</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من الرسالة إلى الحكم: ست مراحل</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تحقق قائم على الاسترجاع ومعالجة اللغة العربية — المصادر هي التي تحكم</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4328648" y="3246120"/>
            <a:ext cx="2450592" cy="3840480"/>
          </a:xfrm>
          <a:prstGeom prst="roundRect">
            <a:avLst>
              <a:gd name="adj" fmla="val 11194"/>
            </a:avLst>
          </a:prstGeom>
          <a:solidFill>
            <a:srgbClr val="1C2558"/>
          </a:solidFill>
          <a:ln>
            <a:noFill/>
          </a:ln>
        </p:spPr>
        <p:txBody>
          <a:bodyPr rtlCol="0" anchor="ctr"/>
          <a:lstStyle/>
          <a:p>
            <a:pPr algn="ctr"/>
            <a:endParaRPr/>
          </a:p>
        </p:txBody>
      </p:sp>
      <p:sp>
        <p:nvSpPr>
          <p:cNvPr id="906" name="Oval 905"/>
          <p:cNvSpPr/>
          <p:nvPr/>
        </p:nvSpPr>
        <p:spPr>
          <a:xfrm>
            <a:off x="16002000" y="3474720"/>
            <a:ext cx="566928" cy="566928"/>
          </a:xfrm>
          <a:prstGeom prst="ellipse">
            <a:avLst/>
          </a:prstGeom>
          <a:solidFill>
            <a:srgbClr val="2EF2C2"/>
          </a:solidFill>
          <a:ln>
            <a:noFill/>
          </a:ln>
        </p:spPr>
        <p:txBody>
          <a:bodyPr rtlCol="0" anchor="ctr"/>
          <a:lstStyle/>
          <a:p>
            <a:pPr algn="ctr"/>
            <a:endParaRPr/>
          </a:p>
        </p:txBody>
      </p:sp>
      <p:sp>
        <p:nvSpPr>
          <p:cNvPr id="907" name="TextBox 906"/>
          <p:cNvSpPr txBox="1"/>
          <p:nvPr/>
        </p:nvSpPr>
        <p:spPr>
          <a:xfrm>
            <a:off x="16002000"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1</a:t>
            </a:r>
          </a:p>
        </p:txBody>
      </p:sp>
      <p:sp>
        <p:nvSpPr>
          <p:cNvPr id="908" name="TextBox 907"/>
          <p:cNvSpPr txBox="1"/>
          <p:nvPr/>
        </p:nvSpPr>
        <p:spPr>
          <a:xfrm>
            <a:off x="14557248" y="4206240"/>
            <a:ext cx="201168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قراءة الصور</a:t>
            </a:r>
          </a:p>
        </p:txBody>
      </p:sp>
      <p:sp>
        <p:nvSpPr>
          <p:cNvPr id="909" name="TextBox 908"/>
          <p:cNvSpPr txBox="1"/>
          <p:nvPr/>
        </p:nvSpPr>
        <p:spPr>
          <a:xfrm>
            <a:off x="14557248" y="4709160"/>
            <a:ext cx="2011680" cy="365760"/>
          </a:xfrm>
          <a:prstGeom prst="rect">
            <a:avLst/>
          </a:prstGeom>
          <a:noFill/>
        </p:spPr>
        <p:txBody>
          <a:bodyPr wrap="square" lIns="0" tIns="0" rIns="0" bIns="0" anchor="t">
            <a:spAutoFit/>
          </a:bodyPr>
          <a:lstStyle/>
          <a:p>
            <a:pPr algn="r" rtl="0"/>
            <a:r>
              <a:rPr lang="en-US" sz="1400" b="1">
                <a:solidFill>
                  <a:srgbClr val="2EF2C2"/>
                </a:solidFill>
                <a:latin typeface="Alexandria"/>
                <a:ea typeface="Alexandria"/>
                <a:cs typeface="Alexandria"/>
              </a:rPr>
              <a:t>OCR</a:t>
            </a:r>
          </a:p>
        </p:txBody>
      </p:sp>
      <p:sp>
        <p:nvSpPr>
          <p:cNvPr id="910" name="TextBox 909"/>
          <p:cNvSpPr txBox="1"/>
          <p:nvPr/>
        </p:nvSpPr>
        <p:spPr>
          <a:xfrm>
            <a:off x="14557248" y="5166360"/>
            <a:ext cx="2011680" cy="1828800"/>
          </a:xfrm>
          <a:prstGeom prst="rect">
            <a:avLst/>
          </a:prstGeom>
          <a:noFill/>
        </p:spPr>
        <p:txBody>
          <a:bodyPr wrap="square" lIns="0" tIns="0" rIns="0" bIns="0" anchor="t">
            <a:spAutoFit/>
          </a:bodyPr>
          <a:lstStyle/>
          <a:p>
            <a:pPr algn="r" rtl="1">
              <a:lnSpc>
                <a:spcPct val="105000"/>
              </a:lnSpc>
            </a:pPr>
            <a:r>
              <a:rPr lang="ar-SA" sz="1300" b="0">
                <a:solidFill>
                  <a:srgbClr val="AEB4DA"/>
                </a:solidFill>
                <a:latin typeface="Alexandria"/>
                <a:ea typeface="Alexandria"/>
                <a:cs typeface="Alexandria"/>
              </a:rPr>
              <a:t>tesseract.js على جهاز المستخدم — الصورة لا تغادره</a:t>
            </a:r>
          </a:p>
        </p:txBody>
      </p:sp>
      <p:sp>
        <p:nvSpPr>
          <p:cNvPr id="911" name="Rounded Rectangle 910"/>
          <p:cNvSpPr/>
          <p:nvPr/>
        </p:nvSpPr>
        <p:spPr>
          <a:xfrm>
            <a:off x="11740896" y="3246120"/>
            <a:ext cx="2450592" cy="3840480"/>
          </a:xfrm>
          <a:prstGeom prst="roundRect">
            <a:avLst>
              <a:gd name="adj" fmla="val 11194"/>
            </a:avLst>
          </a:prstGeom>
          <a:solidFill>
            <a:srgbClr val="1C2558"/>
          </a:solidFill>
          <a:ln>
            <a:noFill/>
          </a:ln>
        </p:spPr>
        <p:txBody>
          <a:bodyPr rtlCol="0" anchor="ctr"/>
          <a:lstStyle/>
          <a:p>
            <a:pPr algn="ctr"/>
            <a:endParaRPr/>
          </a:p>
        </p:txBody>
      </p:sp>
      <p:sp>
        <p:nvSpPr>
          <p:cNvPr id="912" name="Oval 911"/>
          <p:cNvSpPr/>
          <p:nvPr/>
        </p:nvSpPr>
        <p:spPr>
          <a:xfrm>
            <a:off x="13414248" y="3474720"/>
            <a:ext cx="566928" cy="566928"/>
          </a:xfrm>
          <a:prstGeom prst="ellipse">
            <a:avLst/>
          </a:prstGeom>
          <a:solidFill>
            <a:srgbClr val="2EF2C2"/>
          </a:solidFill>
          <a:ln>
            <a:noFill/>
          </a:ln>
        </p:spPr>
        <p:txBody>
          <a:bodyPr rtlCol="0" anchor="ctr"/>
          <a:lstStyle/>
          <a:p>
            <a:pPr algn="ctr"/>
            <a:endParaRPr/>
          </a:p>
        </p:txBody>
      </p:sp>
      <p:sp>
        <p:nvSpPr>
          <p:cNvPr id="913" name="TextBox 912"/>
          <p:cNvSpPr txBox="1"/>
          <p:nvPr/>
        </p:nvSpPr>
        <p:spPr>
          <a:xfrm>
            <a:off x="13414248"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2</a:t>
            </a:r>
          </a:p>
        </p:txBody>
      </p:sp>
      <p:sp>
        <p:nvSpPr>
          <p:cNvPr id="914" name="TextBox 913"/>
          <p:cNvSpPr txBox="1"/>
          <p:nvPr/>
        </p:nvSpPr>
        <p:spPr>
          <a:xfrm>
            <a:off x="11969496" y="4206240"/>
            <a:ext cx="201168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فهم الرسالة</a:t>
            </a:r>
          </a:p>
        </p:txBody>
      </p:sp>
      <p:sp>
        <p:nvSpPr>
          <p:cNvPr id="915" name="TextBox 914"/>
          <p:cNvSpPr txBox="1"/>
          <p:nvPr/>
        </p:nvSpPr>
        <p:spPr>
          <a:xfrm>
            <a:off x="11969496" y="4709160"/>
            <a:ext cx="2011680" cy="365760"/>
          </a:xfrm>
          <a:prstGeom prst="rect">
            <a:avLst/>
          </a:prstGeom>
          <a:noFill/>
        </p:spPr>
        <p:txBody>
          <a:bodyPr wrap="square" lIns="0" tIns="0" rIns="0" bIns="0" anchor="t">
            <a:spAutoFit/>
          </a:bodyPr>
          <a:lstStyle/>
          <a:p>
            <a:pPr algn="r" rtl="0"/>
            <a:r>
              <a:rPr lang="en-US" sz="1400" b="1">
                <a:solidFill>
                  <a:srgbClr val="2EF2C2"/>
                </a:solidFill>
                <a:latin typeface="Alexandria"/>
                <a:ea typeface="Alexandria"/>
                <a:cs typeface="Alexandria"/>
              </a:rPr>
              <a:t>Arabic NLP</a:t>
            </a:r>
          </a:p>
        </p:txBody>
      </p:sp>
      <p:sp>
        <p:nvSpPr>
          <p:cNvPr id="916" name="TextBox 915"/>
          <p:cNvSpPr txBox="1"/>
          <p:nvPr/>
        </p:nvSpPr>
        <p:spPr>
          <a:xfrm>
            <a:off x="11969496" y="5166360"/>
            <a:ext cx="2011680" cy="1828800"/>
          </a:xfrm>
          <a:prstGeom prst="rect">
            <a:avLst/>
          </a:prstGeom>
          <a:noFill/>
        </p:spPr>
        <p:txBody>
          <a:bodyPr wrap="square" lIns="0" tIns="0" rIns="0" bIns="0" anchor="t">
            <a:spAutoFit/>
          </a:bodyPr>
          <a:lstStyle/>
          <a:p>
            <a:pPr algn="r" rtl="1">
              <a:lnSpc>
                <a:spcPct val="105000"/>
              </a:lnSpc>
            </a:pPr>
            <a:r>
              <a:rPr lang="ar-SA" sz="1300" b="0">
                <a:solidFill>
                  <a:srgbClr val="AEB4DA"/>
                </a:solidFill>
                <a:latin typeface="Alexandria"/>
                <a:ea typeface="Alexandria"/>
                <a:cs typeface="Alexandria"/>
              </a:rPr>
              <a:t>تطبيع الإملاء، فصل الإسناد عن المتن، وتجريد المقدمات وعبارات الضغط</a:t>
            </a:r>
          </a:p>
        </p:txBody>
      </p:sp>
      <p:sp>
        <p:nvSpPr>
          <p:cNvPr id="917" name="Rounded Rectangle 916"/>
          <p:cNvSpPr/>
          <p:nvPr/>
        </p:nvSpPr>
        <p:spPr>
          <a:xfrm>
            <a:off x="9153144" y="3246120"/>
            <a:ext cx="2450592" cy="3840480"/>
          </a:xfrm>
          <a:prstGeom prst="roundRect">
            <a:avLst>
              <a:gd name="adj" fmla="val 11194"/>
            </a:avLst>
          </a:prstGeom>
          <a:solidFill>
            <a:srgbClr val="1C2558"/>
          </a:solidFill>
          <a:ln>
            <a:noFill/>
          </a:ln>
        </p:spPr>
        <p:txBody>
          <a:bodyPr rtlCol="0" anchor="ctr"/>
          <a:lstStyle/>
          <a:p>
            <a:pPr algn="ctr"/>
            <a:endParaRPr/>
          </a:p>
        </p:txBody>
      </p:sp>
      <p:sp>
        <p:nvSpPr>
          <p:cNvPr id="918" name="Oval 917"/>
          <p:cNvSpPr/>
          <p:nvPr/>
        </p:nvSpPr>
        <p:spPr>
          <a:xfrm>
            <a:off x="10826496" y="3474720"/>
            <a:ext cx="566928" cy="566928"/>
          </a:xfrm>
          <a:prstGeom prst="ellipse">
            <a:avLst/>
          </a:prstGeom>
          <a:solidFill>
            <a:srgbClr val="2EF2C2"/>
          </a:solidFill>
          <a:ln>
            <a:noFill/>
          </a:ln>
        </p:spPr>
        <p:txBody>
          <a:bodyPr rtlCol="0" anchor="ctr"/>
          <a:lstStyle/>
          <a:p>
            <a:pPr algn="ctr"/>
            <a:endParaRPr/>
          </a:p>
        </p:txBody>
      </p:sp>
      <p:sp>
        <p:nvSpPr>
          <p:cNvPr id="919" name="TextBox 918"/>
          <p:cNvSpPr txBox="1"/>
          <p:nvPr/>
        </p:nvSpPr>
        <p:spPr>
          <a:xfrm>
            <a:off x="10826496"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3</a:t>
            </a:r>
          </a:p>
        </p:txBody>
      </p:sp>
      <p:sp>
        <p:nvSpPr>
          <p:cNvPr id="920" name="TextBox 919"/>
          <p:cNvSpPr txBox="1"/>
          <p:nvPr/>
        </p:nvSpPr>
        <p:spPr>
          <a:xfrm>
            <a:off x="9381744" y="4206240"/>
            <a:ext cx="201168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الاسترجاع</a:t>
            </a:r>
          </a:p>
        </p:txBody>
      </p:sp>
      <p:sp>
        <p:nvSpPr>
          <p:cNvPr id="921" name="TextBox 920"/>
          <p:cNvSpPr txBox="1"/>
          <p:nvPr/>
        </p:nvSpPr>
        <p:spPr>
          <a:xfrm>
            <a:off x="9381744" y="4709160"/>
            <a:ext cx="2011680" cy="365760"/>
          </a:xfrm>
          <a:prstGeom prst="rect">
            <a:avLst/>
          </a:prstGeom>
          <a:noFill/>
        </p:spPr>
        <p:txBody>
          <a:bodyPr wrap="square" lIns="0" tIns="0" rIns="0" bIns="0" anchor="t">
            <a:spAutoFit/>
          </a:bodyPr>
          <a:lstStyle/>
          <a:p>
            <a:pPr algn="r" rtl="0"/>
            <a:r>
              <a:rPr lang="en-US" sz="1400" b="1">
                <a:solidFill>
                  <a:srgbClr val="2EF2C2"/>
                </a:solidFill>
                <a:latin typeface="Alexandria"/>
                <a:ea typeface="Alexandria"/>
                <a:cs typeface="Alexandria"/>
              </a:rPr>
              <a:t>TF-IDF</a:t>
            </a:r>
          </a:p>
        </p:txBody>
      </p:sp>
      <p:sp>
        <p:nvSpPr>
          <p:cNvPr id="922" name="TextBox 921"/>
          <p:cNvSpPr txBox="1"/>
          <p:nvPr/>
        </p:nvSpPr>
        <p:spPr>
          <a:xfrm>
            <a:off x="9381744" y="5166360"/>
            <a:ext cx="2011680" cy="1828800"/>
          </a:xfrm>
          <a:prstGeom prst="rect">
            <a:avLst/>
          </a:prstGeom>
          <a:noFill/>
        </p:spPr>
        <p:txBody>
          <a:bodyPr wrap="square" lIns="0" tIns="0" rIns="0" bIns="0" anchor="t">
            <a:spAutoFit/>
          </a:bodyPr>
          <a:lstStyle/>
          <a:p>
            <a:pPr algn="r" rtl="1">
              <a:lnSpc>
                <a:spcPct val="105000"/>
              </a:lnSpc>
            </a:pPr>
            <a:r>
              <a:rPr lang="ar-SA" sz="1300" b="0">
                <a:solidFill>
                  <a:srgbClr val="AEB4DA"/>
                </a:solidFill>
                <a:latin typeface="Alexandria"/>
                <a:ea typeface="Alexandria"/>
                <a:cs typeface="Alexandria"/>
              </a:rPr>
              <a:t>فهرس على 36,064 رواية و6,236 آية يجد المرشحين رغم الأخطاء</a:t>
            </a:r>
          </a:p>
        </p:txBody>
      </p:sp>
      <p:sp>
        <p:nvSpPr>
          <p:cNvPr id="923" name="Rounded Rectangle 922"/>
          <p:cNvSpPr/>
          <p:nvPr/>
        </p:nvSpPr>
        <p:spPr>
          <a:xfrm>
            <a:off x="6565392" y="3246120"/>
            <a:ext cx="2450592" cy="3840480"/>
          </a:xfrm>
          <a:prstGeom prst="roundRect">
            <a:avLst>
              <a:gd name="adj" fmla="val 11194"/>
            </a:avLst>
          </a:prstGeom>
          <a:solidFill>
            <a:srgbClr val="1C2558"/>
          </a:solidFill>
          <a:ln>
            <a:noFill/>
          </a:ln>
        </p:spPr>
        <p:txBody>
          <a:bodyPr rtlCol="0" anchor="ctr"/>
          <a:lstStyle/>
          <a:p>
            <a:pPr algn="ctr"/>
            <a:endParaRPr/>
          </a:p>
        </p:txBody>
      </p:sp>
      <p:sp>
        <p:nvSpPr>
          <p:cNvPr id="924" name="Oval 923"/>
          <p:cNvSpPr/>
          <p:nvPr/>
        </p:nvSpPr>
        <p:spPr>
          <a:xfrm>
            <a:off x="8238744" y="3474720"/>
            <a:ext cx="566928" cy="566928"/>
          </a:xfrm>
          <a:prstGeom prst="ellipse">
            <a:avLst/>
          </a:prstGeom>
          <a:solidFill>
            <a:srgbClr val="2EF2C2"/>
          </a:solidFill>
          <a:ln>
            <a:noFill/>
          </a:ln>
        </p:spPr>
        <p:txBody>
          <a:bodyPr rtlCol="0" anchor="ctr"/>
          <a:lstStyle/>
          <a:p>
            <a:pPr algn="ctr"/>
            <a:endParaRPr/>
          </a:p>
        </p:txBody>
      </p:sp>
      <p:sp>
        <p:nvSpPr>
          <p:cNvPr id="925" name="TextBox 924"/>
          <p:cNvSpPr txBox="1"/>
          <p:nvPr/>
        </p:nvSpPr>
        <p:spPr>
          <a:xfrm>
            <a:off x="8238744"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4</a:t>
            </a:r>
          </a:p>
        </p:txBody>
      </p:sp>
      <p:sp>
        <p:nvSpPr>
          <p:cNvPr id="926" name="TextBox 925"/>
          <p:cNvSpPr txBox="1"/>
          <p:nvPr/>
        </p:nvSpPr>
        <p:spPr>
          <a:xfrm>
            <a:off x="6793992" y="4206240"/>
            <a:ext cx="201168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المحاذاة</a:t>
            </a:r>
          </a:p>
        </p:txBody>
      </p:sp>
      <p:sp>
        <p:nvSpPr>
          <p:cNvPr id="927" name="TextBox 926"/>
          <p:cNvSpPr txBox="1"/>
          <p:nvPr/>
        </p:nvSpPr>
        <p:spPr>
          <a:xfrm>
            <a:off x="6793992" y="4709160"/>
            <a:ext cx="2011680" cy="365760"/>
          </a:xfrm>
          <a:prstGeom prst="rect">
            <a:avLst/>
          </a:prstGeom>
          <a:noFill/>
        </p:spPr>
        <p:txBody>
          <a:bodyPr wrap="square" lIns="0" tIns="0" rIns="0" bIns="0" anchor="t">
            <a:spAutoFit/>
          </a:bodyPr>
          <a:lstStyle/>
          <a:p>
            <a:pPr algn="r" rtl="0"/>
            <a:r>
              <a:rPr lang="en-US" sz="1400" b="1">
                <a:solidFill>
                  <a:srgbClr val="2EF2C2"/>
                </a:solidFill>
                <a:latin typeface="Alexandria"/>
                <a:ea typeface="Alexandria"/>
                <a:cs typeface="Alexandria"/>
              </a:rPr>
              <a:t>Fuzzy + diff</a:t>
            </a:r>
          </a:p>
        </p:txBody>
      </p:sp>
      <p:sp>
        <p:nvSpPr>
          <p:cNvPr id="928" name="TextBox 927"/>
          <p:cNvSpPr txBox="1"/>
          <p:nvPr/>
        </p:nvSpPr>
        <p:spPr>
          <a:xfrm>
            <a:off x="6793992" y="5166360"/>
            <a:ext cx="2011680" cy="1828800"/>
          </a:xfrm>
          <a:prstGeom prst="rect">
            <a:avLst/>
          </a:prstGeom>
          <a:noFill/>
        </p:spPr>
        <p:txBody>
          <a:bodyPr wrap="square" lIns="0" tIns="0" rIns="0" bIns="0" anchor="t">
            <a:spAutoFit/>
          </a:bodyPr>
          <a:lstStyle/>
          <a:p>
            <a:pPr algn="r" rtl="1">
              <a:lnSpc>
                <a:spcPct val="105000"/>
              </a:lnSpc>
            </a:pPr>
            <a:r>
              <a:rPr lang="ar-SA" sz="1300" b="0">
                <a:solidFill>
                  <a:srgbClr val="AEB4DA"/>
                </a:solidFill>
                <a:latin typeface="Alexandria"/>
                <a:ea typeface="Alexandria"/>
                <a:cs typeface="Alexandria"/>
              </a:rPr>
              <a:t>مطابقة تقريبية (RapidFuzz) ومقارنة كلمة بكلمة مع المصحف</a:t>
            </a:r>
          </a:p>
        </p:txBody>
      </p:sp>
      <p:sp>
        <p:nvSpPr>
          <p:cNvPr id="929" name="Rounded Rectangle 928"/>
          <p:cNvSpPr/>
          <p:nvPr/>
        </p:nvSpPr>
        <p:spPr>
          <a:xfrm>
            <a:off x="3977640" y="3246120"/>
            <a:ext cx="2450592" cy="3840480"/>
          </a:xfrm>
          <a:prstGeom prst="roundRect">
            <a:avLst>
              <a:gd name="adj" fmla="val 11194"/>
            </a:avLst>
          </a:prstGeom>
          <a:solidFill>
            <a:srgbClr val="1C2558"/>
          </a:solidFill>
          <a:ln>
            <a:noFill/>
          </a:ln>
        </p:spPr>
        <p:txBody>
          <a:bodyPr rtlCol="0" anchor="ctr"/>
          <a:lstStyle/>
          <a:p>
            <a:pPr algn="ctr"/>
            <a:endParaRPr/>
          </a:p>
        </p:txBody>
      </p:sp>
      <p:sp>
        <p:nvSpPr>
          <p:cNvPr id="930" name="Oval 929"/>
          <p:cNvSpPr/>
          <p:nvPr/>
        </p:nvSpPr>
        <p:spPr>
          <a:xfrm>
            <a:off x="5650992" y="3474720"/>
            <a:ext cx="566928" cy="566928"/>
          </a:xfrm>
          <a:prstGeom prst="ellipse">
            <a:avLst/>
          </a:prstGeom>
          <a:solidFill>
            <a:srgbClr val="2EF2C2"/>
          </a:solidFill>
          <a:ln>
            <a:noFill/>
          </a:ln>
        </p:spPr>
        <p:txBody>
          <a:bodyPr rtlCol="0" anchor="ctr"/>
          <a:lstStyle/>
          <a:p>
            <a:pPr algn="ctr"/>
            <a:endParaRPr/>
          </a:p>
        </p:txBody>
      </p:sp>
      <p:sp>
        <p:nvSpPr>
          <p:cNvPr id="931" name="TextBox 930"/>
          <p:cNvSpPr txBox="1"/>
          <p:nvPr/>
        </p:nvSpPr>
        <p:spPr>
          <a:xfrm>
            <a:off x="5650992"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5</a:t>
            </a:r>
          </a:p>
        </p:txBody>
      </p:sp>
      <p:sp>
        <p:nvSpPr>
          <p:cNvPr id="932" name="TextBox 931"/>
          <p:cNvSpPr txBox="1"/>
          <p:nvPr/>
        </p:nvSpPr>
        <p:spPr>
          <a:xfrm>
            <a:off x="4206240" y="4206240"/>
            <a:ext cx="201168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الحكم</a:t>
            </a:r>
          </a:p>
        </p:txBody>
      </p:sp>
      <p:sp>
        <p:nvSpPr>
          <p:cNvPr id="933" name="TextBox 932"/>
          <p:cNvSpPr txBox="1"/>
          <p:nvPr/>
        </p:nvSpPr>
        <p:spPr>
          <a:xfrm>
            <a:off x="4206240" y="4709160"/>
            <a:ext cx="2011680" cy="365760"/>
          </a:xfrm>
          <a:prstGeom prst="rect">
            <a:avLst/>
          </a:prstGeom>
          <a:noFill/>
        </p:spPr>
        <p:txBody>
          <a:bodyPr wrap="square" lIns="0" tIns="0" rIns="0" bIns="0" anchor="t">
            <a:spAutoFit/>
          </a:bodyPr>
          <a:lstStyle/>
          <a:p>
            <a:pPr algn="r" rtl="0"/>
            <a:r>
              <a:rPr lang="en-US" sz="1400" b="1">
                <a:solidFill>
                  <a:srgbClr val="2EF2C2"/>
                </a:solidFill>
                <a:latin typeface="Alexandria"/>
                <a:ea typeface="Alexandria"/>
                <a:cs typeface="Alexandria"/>
              </a:rPr>
              <a:t>Rules</a:t>
            </a:r>
          </a:p>
        </p:txBody>
      </p:sp>
      <p:sp>
        <p:nvSpPr>
          <p:cNvPr id="934" name="TextBox 933"/>
          <p:cNvSpPr txBox="1"/>
          <p:nvPr/>
        </p:nvSpPr>
        <p:spPr>
          <a:xfrm>
            <a:off x="4206240" y="5166360"/>
            <a:ext cx="2011680" cy="1828800"/>
          </a:xfrm>
          <a:prstGeom prst="rect">
            <a:avLst/>
          </a:prstGeom>
          <a:noFill/>
        </p:spPr>
        <p:txBody>
          <a:bodyPr wrap="square" lIns="0" tIns="0" rIns="0" bIns="0" anchor="t">
            <a:spAutoFit/>
          </a:bodyPr>
          <a:lstStyle/>
          <a:p>
            <a:pPr algn="r" rtl="1">
              <a:lnSpc>
                <a:spcPct val="105000"/>
              </a:lnSpc>
            </a:pPr>
            <a:r>
              <a:rPr lang="ar-SA" sz="1300" b="0">
                <a:solidFill>
                  <a:srgbClr val="AEB4DA"/>
                </a:solidFill>
                <a:latin typeface="Alexandria"/>
                <a:ea typeface="Alexandria"/>
                <a:cs typeface="Alexandria"/>
              </a:rPr>
              <a:t>قواعد قابلة للمراجعة: أحكام المحققين، السجل، الامتناع، المستويات أ–د</a:t>
            </a:r>
          </a:p>
        </p:txBody>
      </p:sp>
      <p:sp>
        <p:nvSpPr>
          <p:cNvPr id="935" name="Rounded Rectangle 934"/>
          <p:cNvSpPr/>
          <p:nvPr/>
        </p:nvSpPr>
        <p:spPr>
          <a:xfrm>
            <a:off x="1389888" y="3246120"/>
            <a:ext cx="2450592" cy="3840480"/>
          </a:xfrm>
          <a:prstGeom prst="roundRect">
            <a:avLst>
              <a:gd name="adj" fmla="val 11194"/>
            </a:avLst>
          </a:prstGeom>
          <a:solidFill>
            <a:srgbClr val="1C2558"/>
          </a:solidFill>
          <a:ln>
            <a:noFill/>
          </a:ln>
        </p:spPr>
        <p:txBody>
          <a:bodyPr rtlCol="0" anchor="ctr"/>
          <a:lstStyle/>
          <a:p>
            <a:pPr algn="ctr"/>
            <a:endParaRPr/>
          </a:p>
        </p:txBody>
      </p:sp>
      <p:sp>
        <p:nvSpPr>
          <p:cNvPr id="936" name="Rounded Rectangle 935"/>
          <p:cNvSpPr/>
          <p:nvPr/>
        </p:nvSpPr>
        <p:spPr>
          <a:xfrm>
            <a:off x="1389888" y="3246120"/>
            <a:ext cx="2450592" cy="3840480"/>
          </a:xfrm>
          <a:prstGeom prst="roundRect">
            <a:avLst>
              <a:gd name="adj" fmla="val 11194"/>
            </a:avLst>
          </a:prstGeom>
          <a:solidFill>
            <a:srgbClr val="2EF2C2"/>
          </a:solidFill>
          <a:ln>
            <a:noFill/>
          </a:ln>
        </p:spPr>
        <p:txBody>
          <a:bodyPr rtlCol="0" anchor="ctr"/>
          <a:lstStyle/>
          <a:p>
            <a:pPr algn="ctr"/>
            <a:endParaRPr/>
          </a:p>
        </p:txBody>
      </p:sp>
      <p:sp>
        <p:nvSpPr>
          <p:cNvPr id="937" name="Oval 936"/>
          <p:cNvSpPr/>
          <p:nvPr/>
        </p:nvSpPr>
        <p:spPr>
          <a:xfrm>
            <a:off x="3063240" y="3474720"/>
            <a:ext cx="566928" cy="566928"/>
          </a:xfrm>
          <a:prstGeom prst="ellipse">
            <a:avLst/>
          </a:prstGeom>
          <a:solidFill>
            <a:srgbClr val="12183F"/>
          </a:solidFill>
          <a:ln>
            <a:noFill/>
          </a:ln>
        </p:spPr>
        <p:txBody>
          <a:bodyPr rtlCol="0" anchor="ctr"/>
          <a:lstStyle/>
          <a:p>
            <a:pPr algn="ctr"/>
            <a:endParaRPr/>
          </a:p>
        </p:txBody>
      </p:sp>
      <p:sp>
        <p:nvSpPr>
          <p:cNvPr id="938" name="TextBox 937"/>
          <p:cNvSpPr txBox="1"/>
          <p:nvPr/>
        </p:nvSpPr>
        <p:spPr>
          <a:xfrm>
            <a:off x="3063240" y="3474720"/>
            <a:ext cx="566928" cy="566928"/>
          </a:xfrm>
          <a:prstGeom prst="rect">
            <a:avLst/>
          </a:prstGeom>
          <a:noFill/>
        </p:spPr>
        <p:txBody>
          <a:bodyPr wrap="square" lIns="0" tIns="0" rIns="0" bIns="0" anchor="ctr">
            <a:spAutoFit/>
          </a:bodyPr>
          <a:lstStyle/>
          <a:p>
            <a:pPr algn="ctr" rtl="0"/>
            <a:r>
              <a:rPr lang="en-US" sz="2000" b="1">
                <a:solidFill>
                  <a:srgbClr val="2EF2C2"/>
                </a:solidFill>
                <a:latin typeface="Alexandria"/>
                <a:ea typeface="Alexandria"/>
                <a:cs typeface="Alexandria"/>
              </a:rPr>
              <a:t>6</a:t>
            </a:r>
          </a:p>
        </p:txBody>
      </p:sp>
      <p:sp>
        <p:nvSpPr>
          <p:cNvPr id="939" name="TextBox 938"/>
          <p:cNvSpPr txBox="1"/>
          <p:nvPr/>
        </p:nvSpPr>
        <p:spPr>
          <a:xfrm>
            <a:off x="1618488" y="4206240"/>
            <a:ext cx="2011680" cy="502920"/>
          </a:xfrm>
          <a:prstGeom prst="rect">
            <a:avLst/>
          </a:prstGeom>
          <a:noFill/>
        </p:spPr>
        <p:txBody>
          <a:bodyPr wrap="square" lIns="0" tIns="0" rIns="0" bIns="0" anchor="t">
            <a:spAutoFit/>
          </a:bodyPr>
          <a:lstStyle/>
          <a:p>
            <a:pPr algn="r" rtl="1"/>
            <a:r>
              <a:rPr lang="ar-SA" sz="1900" b="1">
                <a:solidFill>
                  <a:srgbClr val="12183F"/>
                </a:solidFill>
                <a:latin typeface="Alexandria"/>
                <a:ea typeface="Alexandria"/>
                <a:cs typeface="Alexandria"/>
              </a:rPr>
              <a:t>الصياغة</a:t>
            </a:r>
          </a:p>
        </p:txBody>
      </p:sp>
      <p:sp>
        <p:nvSpPr>
          <p:cNvPr id="940" name="TextBox 939"/>
          <p:cNvSpPr txBox="1"/>
          <p:nvPr/>
        </p:nvSpPr>
        <p:spPr>
          <a:xfrm>
            <a:off x="1618488" y="4709160"/>
            <a:ext cx="2011680" cy="365760"/>
          </a:xfrm>
          <a:prstGeom prst="rect">
            <a:avLst/>
          </a:prstGeom>
          <a:noFill/>
        </p:spPr>
        <p:txBody>
          <a:bodyPr wrap="square" lIns="0" tIns="0" rIns="0" bIns="0" anchor="t">
            <a:spAutoFit/>
          </a:bodyPr>
          <a:lstStyle/>
          <a:p>
            <a:pPr algn="r" rtl="0"/>
            <a:r>
              <a:rPr lang="en-US" sz="1400" b="1">
                <a:solidFill>
                  <a:srgbClr val="6150EA"/>
                </a:solidFill>
                <a:latin typeface="Alexandria"/>
                <a:ea typeface="Alexandria"/>
                <a:cs typeface="Alexandria"/>
              </a:rPr>
              <a:t>Templates</a:t>
            </a:r>
          </a:p>
        </p:txBody>
      </p:sp>
      <p:sp>
        <p:nvSpPr>
          <p:cNvPr id="941" name="TextBox 940"/>
          <p:cNvSpPr txBox="1"/>
          <p:nvPr/>
        </p:nvSpPr>
        <p:spPr>
          <a:xfrm>
            <a:off x="1618488" y="5166360"/>
            <a:ext cx="2011680" cy="1828800"/>
          </a:xfrm>
          <a:prstGeom prst="rect">
            <a:avLst/>
          </a:prstGeom>
          <a:noFill/>
        </p:spPr>
        <p:txBody>
          <a:bodyPr wrap="square" lIns="0" tIns="0" rIns="0" bIns="0" anchor="t">
            <a:spAutoFit/>
          </a:bodyPr>
          <a:lstStyle/>
          <a:p>
            <a:pPr algn="r" rtl="1">
              <a:lnSpc>
                <a:spcPct val="105000"/>
              </a:lnSpc>
            </a:pPr>
            <a:r>
              <a:rPr lang="ar-SA" sz="1300" b="0">
                <a:solidFill>
                  <a:srgbClr val="12183F"/>
                </a:solidFill>
                <a:latin typeface="Alexandria"/>
                <a:ea typeface="Alexandria"/>
                <a:cs typeface="Alexandria"/>
              </a:rPr>
              <a:t>رد بخمس لغات من قوالب ثابتة — لا يكتبه نموذج</a:t>
            </a:r>
          </a:p>
        </p:txBody>
      </p:sp>
      <p:sp>
        <p:nvSpPr>
          <p:cNvPr id="942" name="Rounded Rectangle 941"/>
          <p:cNvSpPr/>
          <p:nvPr/>
        </p:nvSpPr>
        <p:spPr>
          <a:xfrm>
            <a:off x="1408176" y="7452360"/>
            <a:ext cx="15435072" cy="1600200"/>
          </a:xfrm>
          <a:prstGeom prst="roundRect">
            <a:avLst>
              <a:gd name="adj" fmla="val 17142"/>
            </a:avLst>
          </a:prstGeom>
          <a:solidFill>
            <a:srgbClr val="243070"/>
          </a:solidFill>
          <a:ln w="19050">
            <a:solidFill>
              <a:srgbClr val="6150EA"/>
            </a:solidFill>
          </a:ln>
        </p:spPr>
        <p:txBody>
          <a:bodyPr rtlCol="0" anchor="ctr"/>
          <a:lstStyle/>
          <a:p>
            <a:pPr algn="ctr"/>
            <a:endParaRPr/>
          </a:p>
        </p:txBody>
      </p:sp>
      <p:sp>
        <p:nvSpPr>
          <p:cNvPr id="943" name="TextBox 942"/>
          <p:cNvSpPr txBox="1"/>
          <p:nvPr/>
        </p:nvSpPr>
        <p:spPr>
          <a:xfrm>
            <a:off x="1737360" y="7635240"/>
            <a:ext cx="14813280" cy="457200"/>
          </a:xfrm>
          <a:prstGeom prst="rect">
            <a:avLst/>
          </a:prstGeom>
          <a:noFill/>
        </p:spPr>
        <p:txBody>
          <a:bodyPr wrap="square" lIns="0" tIns="0" rIns="0" bIns="0" anchor="t">
            <a:spAutoFit/>
          </a:bodyPr>
          <a:lstStyle/>
          <a:p>
            <a:pPr algn="r" rtl="1"/>
            <a:r>
              <a:rPr lang="ar-SA" sz="1900" b="1">
                <a:solidFill>
                  <a:srgbClr val="2EF2C2"/>
                </a:solidFill>
                <a:latin typeface="Alexandria"/>
                <a:ea typeface="Alexandria"/>
                <a:cs typeface="Alexandria"/>
              </a:rPr>
              <a:t>اختياري ومعطل افتراضيا: نموذج لغوي (Claude)</a:t>
            </a:r>
          </a:p>
        </p:txBody>
      </p:sp>
      <p:sp>
        <p:nvSpPr>
          <p:cNvPr id="944" name="TextBox 943"/>
          <p:cNvSpPr txBox="1"/>
          <p:nvPr/>
        </p:nvSpPr>
        <p:spPr>
          <a:xfrm>
            <a:off x="1737360" y="8138160"/>
            <a:ext cx="14813280" cy="822960"/>
          </a:xfrm>
          <a:prstGeom prst="rect">
            <a:avLst/>
          </a:prstGeom>
          <a:noFill/>
        </p:spPr>
        <p:txBody>
          <a:bodyPr wrap="square" lIns="0" tIns="0" rIns="0" bIns="0" anchor="t">
            <a:spAutoFit/>
          </a:bodyPr>
          <a:lstStyle/>
          <a:p>
            <a:pPr algn="r" rtl="1">
              <a:lnSpc>
                <a:spcPct val="110000"/>
              </a:lnSpc>
            </a:pPr>
            <a:r>
              <a:rPr lang="ar-SA" sz="1500" b="0">
                <a:solidFill>
                  <a:srgbClr val="F2F4FF"/>
                </a:solidFill>
                <a:latin typeface="Alexandria"/>
                <a:ea typeface="Alexandria"/>
                <a:cs typeface="Alexandria"/>
              </a:rPr>
              <a:t>دوره الوحيد استخراج الاقتباسات من الرسائل المعقدة واقتراح استعلام عربي للغات أخرى. لا يحكم، ولا يستشهد، ولا يكتب الرد — وما يجده يمر بالمراحل 3 إلى 5 ويوسم بذلك.</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18</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الذكاء الاصطناعي</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لماذا ليس روبوت محادثة؟</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مقارنة بالبدائل الحالية — التوليد قد يخترع مرجعا، والاسترجاع لا يعرض إلا الموجود</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graphicFrame>
        <p:nvGraphicFramePr>
          <p:cNvPr id="913" name="Table 912"/>
          <p:cNvGraphicFramePr>
            <a:graphicFrameLocks noGrp="1"/>
          </p:cNvGraphicFramePr>
          <p:nvPr/>
        </p:nvGraphicFramePr>
        <p:xfrm>
          <a:off x="1408176" y="3200400"/>
          <a:ext cx="15435072" cy="5760720"/>
        </p:xfrm>
        <a:graphic>
          <a:graphicData uri="http://schemas.openxmlformats.org/drawingml/2006/table">
            <a:tbl>
              <a:tblPr rtl="1" firstRow="1" bandRow="1">
                <a:tableStyleId>{5C22544A-7EE6-4342-B048-85BDC9FD1C3A}</a:tableStyleId>
              </a:tblPr>
              <a:tblGrid>
                <a:gridCol w="6766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962656">
                  <a:extLst>
                    <a:ext uri="{9D8B030D-6E8A-4147-A177-3AD203B41FA5}">
                      <a16:colId xmlns:a16="http://schemas.microsoft.com/office/drawing/2014/main" val="20002"/>
                    </a:ext>
                  </a:extLst>
                </a:gridCol>
                <a:gridCol w="2962656">
                  <a:extLst>
                    <a:ext uri="{9D8B030D-6E8A-4147-A177-3AD203B41FA5}">
                      <a16:colId xmlns:a16="http://schemas.microsoft.com/office/drawing/2014/main" val="20003"/>
                    </a:ext>
                  </a:extLst>
                </a:gridCol>
              </a:tblGrid>
              <a:tr h="720090">
                <a:tc>
                  <a:txBody>
                    <a:bodyPr/>
                    <a:lstStyle/>
                    <a:p>
                      <a:pPr algn="r" rtl="1"/>
                      <a:r>
                        <a:rPr lang="ar-SA" sz="1800" b="1">
                          <a:solidFill>
                            <a:srgbClr val="F2F4FF"/>
                          </a:solidFill>
                          <a:latin typeface="Alexandria"/>
                          <a:ea typeface="Alexandria"/>
                          <a:cs typeface="Alexandria"/>
                        </a:rPr>
                        <a:t>القدرة</a:t>
                      </a:r>
                    </a:p>
                  </a:txBody>
                  <a:tcPr marL="182880" marR="182880" anchor="ctr">
                    <a:solidFill>
                      <a:srgbClr val="12183F"/>
                    </a:solidFill>
                  </a:tcPr>
                </a:tc>
                <a:tc>
                  <a:txBody>
                    <a:bodyPr/>
                    <a:lstStyle/>
                    <a:p>
                      <a:pPr algn="ctr" rtl="1"/>
                      <a:r>
                        <a:rPr lang="ar-SA" sz="1800" b="1">
                          <a:solidFill>
                            <a:srgbClr val="F2F4FF"/>
                          </a:solidFill>
                          <a:latin typeface="Alexandria"/>
                          <a:ea typeface="Alexandria"/>
                          <a:cs typeface="Alexandria"/>
                        </a:rPr>
                        <a:t>البحث اليدوي</a:t>
                      </a:r>
                    </a:p>
                  </a:txBody>
                  <a:tcPr marL="182880" marR="182880" anchor="ctr">
                    <a:solidFill>
                      <a:srgbClr val="12183F"/>
                    </a:solidFill>
                  </a:tcPr>
                </a:tc>
                <a:tc>
                  <a:txBody>
                    <a:bodyPr/>
                    <a:lstStyle/>
                    <a:p>
                      <a:pPr algn="ctr" rtl="1"/>
                      <a:r>
                        <a:rPr lang="ar-SA" sz="1800" b="1">
                          <a:solidFill>
                            <a:srgbClr val="F2F4FF"/>
                          </a:solidFill>
                          <a:latin typeface="Alexandria"/>
                          <a:ea typeface="Alexandria"/>
                          <a:cs typeface="Alexandria"/>
                        </a:rPr>
                        <a:t>روبوت محادثة عام</a:t>
                      </a:r>
                    </a:p>
                  </a:txBody>
                  <a:tcPr marL="182880" marR="182880" anchor="ctr">
                    <a:solidFill>
                      <a:srgbClr val="12183F"/>
                    </a:solidFill>
                  </a:tcPr>
                </a:tc>
                <a:tc>
                  <a:txBody>
                    <a:bodyPr/>
                    <a:lstStyle/>
                    <a:p>
                      <a:pPr algn="ctr" rtl="1"/>
                      <a:r>
                        <a:rPr lang="ar-SA" sz="1800" b="1">
                          <a:solidFill>
                            <a:srgbClr val="F2F4FF"/>
                          </a:solidFill>
                          <a:latin typeface="Alexandria"/>
                          <a:ea typeface="Alexandria"/>
                          <a:cs typeface="Alexandria"/>
                        </a:rPr>
                        <a:t>ثبت</a:t>
                      </a:r>
                    </a:p>
                  </a:txBody>
                  <a:tcPr marL="182880" marR="182880" anchor="ctr">
                    <a:solidFill>
                      <a:srgbClr val="12183F"/>
                    </a:solidFill>
                  </a:tcPr>
                </a:tc>
                <a:extLst>
                  <a:ext uri="{0D108BD9-81ED-4DB2-BD59-A6C34878D82A}">
                    <a16:rowId xmlns:a16="http://schemas.microsoft.com/office/drawing/2014/main" val="10000"/>
                  </a:ext>
                </a:extLst>
              </a:tr>
              <a:tr h="720090">
                <a:tc>
                  <a:txBody>
                    <a:bodyPr/>
                    <a:lstStyle/>
                    <a:p>
                      <a:pPr algn="r" rtl="1"/>
                      <a:r>
                        <a:rPr lang="ar-SA" sz="1700" b="0">
                          <a:solidFill>
                            <a:srgbClr val="12183F"/>
                          </a:solidFill>
                          <a:latin typeface="Alexandria"/>
                          <a:ea typeface="Alexandria"/>
                          <a:cs typeface="Alexandria"/>
                        </a:rPr>
                        <a:t>يجد المصدر رغم الأخطاء الإملائية وغياب التشكيل</a:t>
                      </a:r>
                    </a:p>
                  </a:txBody>
                  <a:tcPr marL="182880" marR="182880" anchor="ctr">
                    <a:solidFill>
                      <a:srgbClr val="FFFFFF"/>
                    </a:solidFill>
                  </a:tcPr>
                </a:tc>
                <a:tc>
                  <a:txBody>
                    <a:bodyPr/>
                    <a:lstStyle/>
                    <a:p>
                      <a:pPr algn="ctr" rtl="1"/>
                      <a:r>
                        <a:rPr lang="ar-SA" sz="1700" b="0">
                          <a:solidFill>
                            <a:srgbClr val="4B5383"/>
                          </a:solidFill>
                          <a:latin typeface="Alexandria"/>
                          <a:ea typeface="Alexandria"/>
                          <a:cs typeface="Alexandria"/>
                        </a:rPr>
                        <a:t>جزئي</a:t>
                      </a:r>
                    </a:p>
                  </a:txBody>
                  <a:tcPr marL="182880" marR="182880" anchor="ctr">
                    <a:solidFill>
                      <a:srgbClr val="FFFFFF"/>
                    </a:solidFill>
                  </a:tcPr>
                </a:tc>
                <a:tc>
                  <a:txBody>
                    <a:bodyPr/>
                    <a:lstStyle/>
                    <a:p>
                      <a:pPr algn="ctr" rtl="1"/>
                      <a:r>
                        <a:rPr lang="ar-SA" sz="1700" b="0">
                          <a:solidFill>
                            <a:srgbClr val="A3202E"/>
                          </a:solidFill>
                          <a:latin typeface="Alexandria"/>
                          <a:ea typeface="Alexandria"/>
                          <a:cs typeface="Alexandria"/>
                        </a:rPr>
                        <a:t>غير مضمون</a:t>
                      </a:r>
                    </a:p>
                  </a:txBody>
                  <a:tcPr marL="182880" marR="182880" anchor="ctr">
                    <a:solidFill>
                      <a:srgbClr val="FFFFFF"/>
                    </a:solidFill>
                  </a:tcPr>
                </a:tc>
                <a:tc>
                  <a:txBody>
                    <a:bodyPr/>
                    <a:lstStyle/>
                    <a:p>
                      <a:pPr algn="ctr" rtl="1"/>
                      <a:r>
                        <a:rPr lang="en-US" sz="1700" b="1">
                          <a:solidFill>
                            <a:srgbClr val="12183F"/>
                          </a:solidFill>
                          <a:latin typeface="Alexandria"/>
                          <a:ea typeface="Alexandria"/>
                          <a:cs typeface="Alexandria"/>
                        </a:rPr>
                        <a:t>✓  98.5%</a:t>
                      </a:r>
                    </a:p>
                  </a:txBody>
                  <a:tcPr marL="182880" marR="182880" anchor="ctr">
                    <a:solidFill>
                      <a:srgbClr val="E2FCF5"/>
                    </a:solidFill>
                  </a:tcPr>
                </a:tc>
                <a:extLst>
                  <a:ext uri="{0D108BD9-81ED-4DB2-BD59-A6C34878D82A}">
                    <a16:rowId xmlns:a16="http://schemas.microsoft.com/office/drawing/2014/main" val="10001"/>
                  </a:ext>
                </a:extLst>
              </a:tr>
              <a:tr h="720090">
                <a:tc>
                  <a:txBody>
                    <a:bodyPr/>
                    <a:lstStyle/>
                    <a:p>
                      <a:pPr algn="r" rtl="1"/>
                      <a:r>
                        <a:rPr lang="ar-SA" sz="1700" b="0">
                          <a:solidFill>
                            <a:srgbClr val="12183F"/>
                          </a:solidFill>
                          <a:latin typeface="Alexandria"/>
                          <a:ea typeface="Alexandria"/>
                          <a:cs typeface="Alexandria"/>
                        </a:rPr>
                        <a:t>يعرض حكم كل محقق باسمه</a:t>
                      </a:r>
                    </a:p>
                  </a:txBody>
                  <a:tcPr marL="182880" marR="182880" anchor="ctr">
                    <a:solidFill>
                      <a:srgbClr val="F2F4FF"/>
                    </a:solidFill>
                  </a:tcPr>
                </a:tc>
                <a:tc>
                  <a:txBody>
                    <a:bodyPr/>
                    <a:lstStyle/>
                    <a:p>
                      <a:pPr algn="ctr" rtl="1"/>
                      <a:r>
                        <a:rPr lang="en-US" sz="1700" b="0">
                          <a:solidFill>
                            <a:srgbClr val="4B5383"/>
                          </a:solidFill>
                          <a:latin typeface="Alexandria"/>
                          <a:ea typeface="Alexandria"/>
                          <a:cs typeface="Alexandria"/>
                        </a:rPr>
                        <a:t>✓</a:t>
                      </a:r>
                    </a:p>
                  </a:txBody>
                  <a:tcPr marL="182880" marR="182880" anchor="ctr">
                    <a:solidFill>
                      <a:srgbClr val="F2F4FF"/>
                    </a:solidFill>
                  </a:tcPr>
                </a:tc>
                <a:tc>
                  <a:txBody>
                    <a:bodyPr/>
                    <a:lstStyle/>
                    <a:p>
                      <a:pPr algn="ctr" rtl="1"/>
                      <a:r>
                        <a:rPr lang="ar-SA" sz="1700" b="0">
                          <a:solidFill>
                            <a:srgbClr val="A3202E"/>
                          </a:solidFill>
                          <a:latin typeface="Alexandria"/>
                          <a:ea typeface="Alexandria"/>
                          <a:cs typeface="Alexandria"/>
                        </a:rPr>
                        <a:t>غير مضمون</a:t>
                      </a:r>
                    </a:p>
                  </a:txBody>
                  <a:tcPr marL="182880" marR="182880" anchor="ctr">
                    <a:solidFill>
                      <a:srgbClr val="F2F4FF"/>
                    </a:solidFill>
                  </a:tcPr>
                </a:tc>
                <a:tc>
                  <a:txBody>
                    <a:bodyPr/>
                    <a:lstStyle/>
                    <a:p>
                      <a:pPr algn="ctr" rtl="1"/>
                      <a:r>
                        <a:rPr lang="en-US" sz="1700" b="1">
                          <a:solidFill>
                            <a:srgbClr val="12183F"/>
                          </a:solidFill>
                          <a:latin typeface="Alexandria"/>
                          <a:ea typeface="Alexandria"/>
                          <a:cs typeface="Alexandria"/>
                        </a:rPr>
                        <a:t>✓</a:t>
                      </a:r>
                    </a:p>
                  </a:txBody>
                  <a:tcPr marL="182880" marR="182880" anchor="ctr">
                    <a:solidFill>
                      <a:srgbClr val="E2FCF5"/>
                    </a:solidFill>
                  </a:tcPr>
                </a:tc>
                <a:extLst>
                  <a:ext uri="{0D108BD9-81ED-4DB2-BD59-A6C34878D82A}">
                    <a16:rowId xmlns:a16="http://schemas.microsoft.com/office/drawing/2014/main" val="10002"/>
                  </a:ext>
                </a:extLst>
              </a:tr>
              <a:tr h="720090">
                <a:tc>
                  <a:txBody>
                    <a:bodyPr/>
                    <a:lstStyle/>
                    <a:p>
                      <a:pPr algn="r" rtl="1"/>
                      <a:r>
                        <a:rPr lang="ar-SA" sz="1700" b="0">
                          <a:solidFill>
                            <a:srgbClr val="12183F"/>
                          </a:solidFill>
                          <a:latin typeface="Alexandria"/>
                          <a:ea typeface="Alexandria"/>
                          <a:cs typeface="Alexandria"/>
                        </a:rPr>
                        <a:t>يكشف تحريف الآية كلمة كلمة</a:t>
                      </a:r>
                    </a:p>
                  </a:txBody>
                  <a:tcPr marL="182880" marR="182880" anchor="ctr">
                    <a:solidFill>
                      <a:srgbClr val="FFFFFF"/>
                    </a:solidFill>
                  </a:tcPr>
                </a:tc>
                <a:tc>
                  <a:txBody>
                    <a:bodyPr/>
                    <a:lstStyle/>
                    <a:p>
                      <a:pPr algn="ctr" rtl="1"/>
                      <a:r>
                        <a:rPr lang="en-US" sz="1700" b="0">
                          <a:solidFill>
                            <a:srgbClr val="A3202E"/>
                          </a:solidFill>
                          <a:latin typeface="Alexandria"/>
                          <a:ea typeface="Alexandria"/>
                          <a:cs typeface="Alexandria"/>
                        </a:rPr>
                        <a:t>✗</a:t>
                      </a:r>
                    </a:p>
                  </a:txBody>
                  <a:tcPr marL="182880" marR="182880" anchor="ctr">
                    <a:solidFill>
                      <a:srgbClr val="FFFFFF"/>
                    </a:solidFill>
                  </a:tcPr>
                </a:tc>
                <a:tc>
                  <a:txBody>
                    <a:bodyPr/>
                    <a:lstStyle/>
                    <a:p>
                      <a:pPr algn="ctr" rtl="1"/>
                      <a:r>
                        <a:rPr lang="ar-SA" sz="1700" b="0">
                          <a:solidFill>
                            <a:srgbClr val="A3202E"/>
                          </a:solidFill>
                          <a:latin typeface="Alexandria"/>
                          <a:ea typeface="Alexandria"/>
                          <a:cs typeface="Alexandria"/>
                        </a:rPr>
                        <a:t>غير مضمون</a:t>
                      </a:r>
                    </a:p>
                  </a:txBody>
                  <a:tcPr marL="182880" marR="182880" anchor="ctr">
                    <a:solidFill>
                      <a:srgbClr val="FFFFFF"/>
                    </a:solidFill>
                  </a:tcPr>
                </a:tc>
                <a:tc>
                  <a:txBody>
                    <a:bodyPr/>
                    <a:lstStyle/>
                    <a:p>
                      <a:pPr algn="ctr" rtl="1"/>
                      <a:r>
                        <a:rPr lang="en-US" sz="1700" b="1">
                          <a:solidFill>
                            <a:srgbClr val="12183F"/>
                          </a:solidFill>
                          <a:latin typeface="Alexandria"/>
                          <a:ea typeface="Alexandria"/>
                          <a:cs typeface="Alexandria"/>
                        </a:rPr>
                        <a:t>✓</a:t>
                      </a:r>
                    </a:p>
                  </a:txBody>
                  <a:tcPr marL="182880" marR="182880" anchor="ctr">
                    <a:solidFill>
                      <a:srgbClr val="E2FCF5"/>
                    </a:solidFill>
                  </a:tcPr>
                </a:tc>
                <a:extLst>
                  <a:ext uri="{0D108BD9-81ED-4DB2-BD59-A6C34878D82A}">
                    <a16:rowId xmlns:a16="http://schemas.microsoft.com/office/drawing/2014/main" val="10003"/>
                  </a:ext>
                </a:extLst>
              </a:tr>
              <a:tr h="720090">
                <a:tc>
                  <a:txBody>
                    <a:bodyPr/>
                    <a:lstStyle/>
                    <a:p>
                      <a:pPr algn="r" rtl="1"/>
                      <a:r>
                        <a:rPr lang="ar-SA" sz="1700" b="0">
                          <a:solidFill>
                            <a:srgbClr val="12183F"/>
                          </a:solidFill>
                          <a:latin typeface="Alexandria"/>
                          <a:ea typeface="Alexandria"/>
                          <a:cs typeface="Alexandria"/>
                        </a:rPr>
                        <a:t>يمتنع حين لا يجد، بدل أن يخترع</a:t>
                      </a:r>
                    </a:p>
                  </a:txBody>
                  <a:tcPr marL="182880" marR="182880" anchor="ctr">
                    <a:solidFill>
                      <a:srgbClr val="F2F4FF"/>
                    </a:solidFill>
                  </a:tcPr>
                </a:tc>
                <a:tc>
                  <a:txBody>
                    <a:bodyPr/>
                    <a:lstStyle/>
                    <a:p>
                      <a:pPr algn="ctr" rtl="1"/>
                      <a:r>
                        <a:rPr lang="en-US" sz="1700" b="0">
                          <a:solidFill>
                            <a:srgbClr val="4B5383"/>
                          </a:solidFill>
                          <a:latin typeface="Alexandria"/>
                          <a:ea typeface="Alexandria"/>
                          <a:cs typeface="Alexandria"/>
                        </a:rPr>
                        <a:t>—</a:t>
                      </a:r>
                    </a:p>
                  </a:txBody>
                  <a:tcPr marL="182880" marR="182880" anchor="ctr">
                    <a:solidFill>
                      <a:srgbClr val="F2F4FF"/>
                    </a:solidFill>
                  </a:tcPr>
                </a:tc>
                <a:tc>
                  <a:txBody>
                    <a:bodyPr/>
                    <a:lstStyle/>
                    <a:p>
                      <a:pPr algn="ctr" rtl="1"/>
                      <a:r>
                        <a:rPr lang="en-US" sz="1700" b="0">
                          <a:solidFill>
                            <a:srgbClr val="A3202E"/>
                          </a:solidFill>
                          <a:latin typeface="Alexandria"/>
                          <a:ea typeface="Alexandria"/>
                          <a:cs typeface="Alexandria"/>
                        </a:rPr>
                        <a:t>✗</a:t>
                      </a:r>
                    </a:p>
                  </a:txBody>
                  <a:tcPr marL="182880" marR="182880" anchor="ctr">
                    <a:solidFill>
                      <a:srgbClr val="F2F4FF"/>
                    </a:solidFill>
                  </a:tcPr>
                </a:tc>
                <a:tc>
                  <a:txBody>
                    <a:bodyPr/>
                    <a:lstStyle/>
                    <a:p>
                      <a:pPr algn="ctr" rtl="1"/>
                      <a:r>
                        <a:rPr lang="en-US" sz="1700" b="1">
                          <a:solidFill>
                            <a:srgbClr val="12183F"/>
                          </a:solidFill>
                          <a:latin typeface="Alexandria"/>
                          <a:ea typeface="Alexandria"/>
                          <a:cs typeface="Alexandria"/>
                        </a:rPr>
                        <a:t>✓</a:t>
                      </a:r>
                    </a:p>
                  </a:txBody>
                  <a:tcPr marL="182880" marR="182880" anchor="ctr">
                    <a:solidFill>
                      <a:srgbClr val="E2FCF5"/>
                    </a:solidFill>
                  </a:tcPr>
                </a:tc>
                <a:extLst>
                  <a:ext uri="{0D108BD9-81ED-4DB2-BD59-A6C34878D82A}">
                    <a16:rowId xmlns:a16="http://schemas.microsoft.com/office/drawing/2014/main" val="10004"/>
                  </a:ext>
                </a:extLst>
              </a:tr>
              <a:tr h="720090">
                <a:tc>
                  <a:txBody>
                    <a:bodyPr/>
                    <a:lstStyle/>
                    <a:p>
                      <a:pPr algn="r" rtl="1"/>
                      <a:r>
                        <a:rPr lang="ar-SA" sz="1700" b="0">
                          <a:solidFill>
                            <a:srgbClr val="12183F"/>
                          </a:solidFill>
                          <a:latin typeface="Alexandria"/>
                          <a:ea typeface="Alexandria"/>
                          <a:cs typeface="Alexandria"/>
                        </a:rPr>
                        <a:t>يحلل رسالة كاملة بعدة نصوص دفعة واحدة</a:t>
                      </a:r>
                    </a:p>
                  </a:txBody>
                  <a:tcPr marL="182880" marR="182880" anchor="ctr">
                    <a:solidFill>
                      <a:srgbClr val="FFFFFF"/>
                    </a:solidFill>
                  </a:tcPr>
                </a:tc>
                <a:tc>
                  <a:txBody>
                    <a:bodyPr/>
                    <a:lstStyle/>
                    <a:p>
                      <a:pPr algn="ctr" rtl="1"/>
                      <a:r>
                        <a:rPr lang="en-US" sz="1700" b="0">
                          <a:solidFill>
                            <a:srgbClr val="A3202E"/>
                          </a:solidFill>
                          <a:latin typeface="Alexandria"/>
                          <a:ea typeface="Alexandria"/>
                          <a:cs typeface="Alexandria"/>
                        </a:rPr>
                        <a:t>✗</a:t>
                      </a:r>
                    </a:p>
                  </a:txBody>
                  <a:tcPr marL="182880" marR="182880" anchor="ctr">
                    <a:solidFill>
                      <a:srgbClr val="FFFFFF"/>
                    </a:solidFill>
                  </a:tcPr>
                </a:tc>
                <a:tc>
                  <a:txBody>
                    <a:bodyPr/>
                    <a:lstStyle/>
                    <a:p>
                      <a:pPr algn="ctr" rtl="1"/>
                      <a:r>
                        <a:rPr lang="en-US" sz="1700" b="0">
                          <a:solidFill>
                            <a:srgbClr val="4B5383"/>
                          </a:solidFill>
                          <a:latin typeface="Alexandria"/>
                          <a:ea typeface="Alexandria"/>
                          <a:cs typeface="Alexandria"/>
                        </a:rPr>
                        <a:t>✓</a:t>
                      </a:r>
                    </a:p>
                  </a:txBody>
                  <a:tcPr marL="182880" marR="182880" anchor="ctr">
                    <a:solidFill>
                      <a:srgbClr val="FFFFFF"/>
                    </a:solidFill>
                  </a:tcPr>
                </a:tc>
                <a:tc>
                  <a:txBody>
                    <a:bodyPr/>
                    <a:lstStyle/>
                    <a:p>
                      <a:pPr algn="ctr" rtl="1"/>
                      <a:r>
                        <a:rPr lang="en-US" sz="1700" b="1">
                          <a:solidFill>
                            <a:srgbClr val="12183F"/>
                          </a:solidFill>
                          <a:latin typeface="Alexandria"/>
                          <a:ea typeface="Alexandria"/>
                          <a:cs typeface="Alexandria"/>
                        </a:rPr>
                        <a:t>✓</a:t>
                      </a:r>
                    </a:p>
                  </a:txBody>
                  <a:tcPr marL="182880" marR="182880" anchor="ctr">
                    <a:solidFill>
                      <a:srgbClr val="E2FCF5"/>
                    </a:solidFill>
                  </a:tcPr>
                </a:tc>
                <a:extLst>
                  <a:ext uri="{0D108BD9-81ED-4DB2-BD59-A6C34878D82A}">
                    <a16:rowId xmlns:a16="http://schemas.microsoft.com/office/drawing/2014/main" val="10005"/>
                  </a:ext>
                </a:extLst>
              </a:tr>
              <a:tr h="720090">
                <a:tc>
                  <a:txBody>
                    <a:bodyPr/>
                    <a:lstStyle/>
                    <a:p>
                      <a:pPr algn="r" rtl="1"/>
                      <a:r>
                        <a:rPr lang="ar-SA" sz="1700" b="0">
                          <a:solidFill>
                            <a:srgbClr val="12183F"/>
                          </a:solidFill>
                          <a:latin typeface="Alexandria"/>
                          <a:ea typeface="Alexandria"/>
                          <a:cs typeface="Alexandria"/>
                        </a:rPr>
                        <a:t>نتائج متطابقة في كل مرة</a:t>
                      </a:r>
                    </a:p>
                  </a:txBody>
                  <a:tcPr marL="182880" marR="182880" anchor="ctr">
                    <a:solidFill>
                      <a:srgbClr val="F2F4FF"/>
                    </a:solidFill>
                  </a:tcPr>
                </a:tc>
                <a:tc>
                  <a:txBody>
                    <a:bodyPr/>
                    <a:lstStyle/>
                    <a:p>
                      <a:pPr algn="ctr" rtl="1"/>
                      <a:r>
                        <a:rPr lang="en-US" sz="1700" b="0">
                          <a:solidFill>
                            <a:srgbClr val="4B5383"/>
                          </a:solidFill>
                          <a:latin typeface="Alexandria"/>
                          <a:ea typeface="Alexandria"/>
                          <a:cs typeface="Alexandria"/>
                        </a:rPr>
                        <a:t>✓</a:t>
                      </a:r>
                    </a:p>
                  </a:txBody>
                  <a:tcPr marL="182880" marR="182880" anchor="ctr">
                    <a:solidFill>
                      <a:srgbClr val="F2F4FF"/>
                    </a:solidFill>
                  </a:tcPr>
                </a:tc>
                <a:tc>
                  <a:txBody>
                    <a:bodyPr/>
                    <a:lstStyle/>
                    <a:p>
                      <a:pPr algn="ctr" rtl="1"/>
                      <a:r>
                        <a:rPr lang="en-US" sz="1700" b="0">
                          <a:solidFill>
                            <a:srgbClr val="A3202E"/>
                          </a:solidFill>
                          <a:latin typeface="Alexandria"/>
                          <a:ea typeface="Alexandria"/>
                          <a:cs typeface="Alexandria"/>
                        </a:rPr>
                        <a:t>✗</a:t>
                      </a:r>
                    </a:p>
                  </a:txBody>
                  <a:tcPr marL="182880" marR="182880" anchor="ctr">
                    <a:solidFill>
                      <a:srgbClr val="F2F4FF"/>
                    </a:solidFill>
                  </a:tcPr>
                </a:tc>
                <a:tc>
                  <a:txBody>
                    <a:bodyPr/>
                    <a:lstStyle/>
                    <a:p>
                      <a:pPr algn="ctr" rtl="1"/>
                      <a:r>
                        <a:rPr lang="en-US" sz="1700" b="1">
                          <a:solidFill>
                            <a:srgbClr val="12183F"/>
                          </a:solidFill>
                          <a:latin typeface="Alexandria"/>
                          <a:ea typeface="Alexandria"/>
                          <a:cs typeface="Alexandria"/>
                        </a:rPr>
                        <a:t>✓</a:t>
                      </a:r>
                    </a:p>
                  </a:txBody>
                  <a:tcPr marL="182880" marR="182880" anchor="ctr">
                    <a:solidFill>
                      <a:srgbClr val="E2FCF5"/>
                    </a:solidFill>
                  </a:tcPr>
                </a:tc>
                <a:extLst>
                  <a:ext uri="{0D108BD9-81ED-4DB2-BD59-A6C34878D82A}">
                    <a16:rowId xmlns:a16="http://schemas.microsoft.com/office/drawing/2014/main" val="10006"/>
                  </a:ext>
                </a:extLst>
              </a:tr>
              <a:tr h="720090">
                <a:tc>
                  <a:txBody>
                    <a:bodyPr/>
                    <a:lstStyle/>
                    <a:p>
                      <a:pPr algn="r" rtl="1"/>
                      <a:r>
                        <a:rPr lang="ar-SA" sz="1700" b="0">
                          <a:solidFill>
                            <a:srgbClr val="12183F"/>
                          </a:solidFill>
                          <a:latin typeface="Alexandria"/>
                          <a:ea typeface="Alexandria"/>
                          <a:cs typeface="Alexandria"/>
                        </a:rPr>
                        <a:t>رد لطيف جاهز بخمس لغات</a:t>
                      </a:r>
                    </a:p>
                  </a:txBody>
                  <a:tcPr marL="182880" marR="182880" anchor="ctr">
                    <a:solidFill>
                      <a:srgbClr val="FFFFFF"/>
                    </a:solidFill>
                  </a:tcPr>
                </a:tc>
                <a:tc>
                  <a:txBody>
                    <a:bodyPr/>
                    <a:lstStyle/>
                    <a:p>
                      <a:pPr algn="ctr" rtl="1"/>
                      <a:r>
                        <a:rPr lang="en-US" sz="1700" b="0">
                          <a:solidFill>
                            <a:srgbClr val="A3202E"/>
                          </a:solidFill>
                          <a:latin typeface="Alexandria"/>
                          <a:ea typeface="Alexandria"/>
                          <a:cs typeface="Alexandria"/>
                        </a:rPr>
                        <a:t>✗</a:t>
                      </a:r>
                    </a:p>
                  </a:txBody>
                  <a:tcPr marL="182880" marR="182880" anchor="ctr">
                    <a:solidFill>
                      <a:srgbClr val="FFFFFF"/>
                    </a:solidFill>
                  </a:tcPr>
                </a:tc>
                <a:tc>
                  <a:txBody>
                    <a:bodyPr/>
                    <a:lstStyle/>
                    <a:p>
                      <a:pPr algn="ctr" rtl="1"/>
                      <a:r>
                        <a:rPr lang="en-US" sz="1700" b="0">
                          <a:solidFill>
                            <a:srgbClr val="4B5383"/>
                          </a:solidFill>
                          <a:latin typeface="Alexandria"/>
                          <a:ea typeface="Alexandria"/>
                          <a:cs typeface="Alexandria"/>
                        </a:rPr>
                        <a:t>✓</a:t>
                      </a:r>
                    </a:p>
                  </a:txBody>
                  <a:tcPr marL="182880" marR="182880" anchor="ctr">
                    <a:solidFill>
                      <a:srgbClr val="FFFFFF"/>
                    </a:solidFill>
                  </a:tcPr>
                </a:tc>
                <a:tc>
                  <a:txBody>
                    <a:bodyPr/>
                    <a:lstStyle/>
                    <a:p>
                      <a:pPr algn="ctr" rtl="1"/>
                      <a:r>
                        <a:rPr lang="en-US" sz="1700" b="1">
                          <a:solidFill>
                            <a:srgbClr val="12183F"/>
                          </a:solidFill>
                          <a:latin typeface="Alexandria"/>
                          <a:ea typeface="Alexandria"/>
                          <a:cs typeface="Alexandria"/>
                        </a:rPr>
                        <a:t>✓</a:t>
                      </a:r>
                    </a:p>
                  </a:txBody>
                  <a:tcPr marL="182880" marR="182880" anchor="ctr">
                    <a:solidFill>
                      <a:srgbClr val="E2FCF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19</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الذكاء الاصطناعي</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المصادر: ما يحكم… وما يعرض</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بيانات منشورة بتراخيص مفتوحة، تعرض حرفيا، وكل استخدام موثق في docs/SOURCES.md</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9125712" y="3246120"/>
            <a:ext cx="7680960" cy="2331720"/>
          </a:xfrm>
          <a:prstGeom prst="roundRect">
            <a:avLst>
              <a:gd name="adj" fmla="val 11764"/>
            </a:avLst>
          </a:prstGeom>
          <a:solidFill>
            <a:srgbClr val="1C2558"/>
          </a:solidFill>
          <a:ln>
            <a:noFill/>
          </a:ln>
        </p:spPr>
        <p:txBody>
          <a:bodyPr rtlCol="0" anchor="ctr"/>
          <a:lstStyle/>
          <a:p>
            <a:pPr algn="ctr"/>
            <a:endParaRPr/>
          </a:p>
        </p:txBody>
      </p:sp>
      <p:sp>
        <p:nvSpPr>
          <p:cNvPr id="906" name="TextBox 905"/>
          <p:cNvSpPr txBox="1"/>
          <p:nvPr/>
        </p:nvSpPr>
        <p:spPr>
          <a:xfrm>
            <a:off x="12691872" y="3520439"/>
            <a:ext cx="379476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القرآن الكريم</a:t>
            </a:r>
          </a:p>
        </p:txBody>
      </p:sp>
      <p:sp>
        <p:nvSpPr>
          <p:cNvPr id="907" name="TextBox 906"/>
          <p:cNvSpPr txBox="1"/>
          <p:nvPr/>
        </p:nvSpPr>
        <p:spPr>
          <a:xfrm>
            <a:off x="9445752" y="3447288"/>
            <a:ext cx="3291840" cy="640080"/>
          </a:xfrm>
          <a:prstGeom prst="rect">
            <a:avLst/>
          </a:prstGeom>
          <a:noFill/>
        </p:spPr>
        <p:txBody>
          <a:bodyPr wrap="square" lIns="0" tIns="0" rIns="0" bIns="0" anchor="t">
            <a:spAutoFit/>
          </a:bodyPr>
          <a:lstStyle/>
          <a:p>
            <a:pPr algn="l" rtl="1"/>
            <a:r>
              <a:rPr lang="ar-SA" sz="2800" b="1">
                <a:solidFill>
                  <a:srgbClr val="2EF2C2"/>
                </a:solidFill>
                <a:latin typeface="Alexandria"/>
                <a:ea typeface="Alexandria"/>
                <a:cs typeface="Alexandria"/>
              </a:rPr>
              <a:t>6,236 آية</a:t>
            </a:r>
          </a:p>
        </p:txBody>
      </p:sp>
      <p:sp>
        <p:nvSpPr>
          <p:cNvPr id="908" name="TextBox 907"/>
          <p:cNvSpPr txBox="1"/>
          <p:nvPr/>
        </p:nvSpPr>
        <p:spPr>
          <a:xfrm>
            <a:off x="9445752" y="4206240"/>
            <a:ext cx="704088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نص Tanzil بالرسم العثماني والإملائي — يعرض حرفيا ولا يعدل (CC BY 3.0)</a:t>
            </a:r>
          </a:p>
        </p:txBody>
      </p:sp>
      <p:sp>
        <p:nvSpPr>
          <p:cNvPr id="909" name="Rounded Rectangle 908"/>
          <p:cNvSpPr/>
          <p:nvPr/>
        </p:nvSpPr>
        <p:spPr>
          <a:xfrm>
            <a:off x="1380744" y="3246120"/>
            <a:ext cx="7680960" cy="2331720"/>
          </a:xfrm>
          <a:prstGeom prst="roundRect">
            <a:avLst>
              <a:gd name="adj" fmla="val 11764"/>
            </a:avLst>
          </a:prstGeom>
          <a:solidFill>
            <a:srgbClr val="1C2558"/>
          </a:solidFill>
          <a:ln>
            <a:noFill/>
          </a:ln>
        </p:spPr>
        <p:txBody>
          <a:bodyPr rtlCol="0" anchor="ctr"/>
          <a:lstStyle/>
          <a:p>
            <a:pPr algn="ctr"/>
            <a:endParaRPr/>
          </a:p>
        </p:txBody>
      </p:sp>
      <p:sp>
        <p:nvSpPr>
          <p:cNvPr id="910" name="TextBox 909"/>
          <p:cNvSpPr txBox="1"/>
          <p:nvPr/>
        </p:nvSpPr>
        <p:spPr>
          <a:xfrm>
            <a:off x="4946904" y="3520439"/>
            <a:ext cx="379476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الحديث النبوي</a:t>
            </a:r>
          </a:p>
        </p:txBody>
      </p:sp>
      <p:sp>
        <p:nvSpPr>
          <p:cNvPr id="911" name="TextBox 910"/>
          <p:cNvSpPr txBox="1"/>
          <p:nvPr/>
        </p:nvSpPr>
        <p:spPr>
          <a:xfrm>
            <a:off x="1700784" y="3447288"/>
            <a:ext cx="3291840" cy="640080"/>
          </a:xfrm>
          <a:prstGeom prst="rect">
            <a:avLst/>
          </a:prstGeom>
          <a:noFill/>
        </p:spPr>
        <p:txBody>
          <a:bodyPr wrap="square" lIns="0" tIns="0" rIns="0" bIns="0" anchor="t">
            <a:spAutoFit/>
          </a:bodyPr>
          <a:lstStyle/>
          <a:p>
            <a:pPr algn="l" rtl="1"/>
            <a:r>
              <a:rPr lang="ar-SA" sz="2800" b="1">
                <a:solidFill>
                  <a:srgbClr val="2EF2C2"/>
                </a:solidFill>
                <a:latin typeface="Alexandria"/>
                <a:ea typeface="Alexandria"/>
                <a:cs typeface="Alexandria"/>
              </a:rPr>
              <a:t>36,064 رواية</a:t>
            </a:r>
          </a:p>
        </p:txBody>
      </p:sp>
      <p:sp>
        <p:nvSpPr>
          <p:cNvPr id="912" name="TextBox 911"/>
          <p:cNvSpPr txBox="1"/>
          <p:nvPr/>
        </p:nvSpPr>
        <p:spPr>
          <a:xfrm>
            <a:off x="1700784" y="4206240"/>
            <a:ext cx="704088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تسعة كتب: البخاري، مسلم، أبو داود، الترمذي، النسائي، ابن ماجه، الموطأ، النووية، القدسية</a:t>
            </a:r>
          </a:p>
        </p:txBody>
      </p:sp>
      <p:sp>
        <p:nvSpPr>
          <p:cNvPr id="913" name="Rounded Rectangle 912"/>
          <p:cNvSpPr/>
          <p:nvPr/>
        </p:nvSpPr>
        <p:spPr>
          <a:xfrm>
            <a:off x="9125712" y="5760720"/>
            <a:ext cx="7680960" cy="2331720"/>
          </a:xfrm>
          <a:prstGeom prst="roundRect">
            <a:avLst>
              <a:gd name="adj" fmla="val 11764"/>
            </a:avLst>
          </a:prstGeom>
          <a:solidFill>
            <a:srgbClr val="1C2558"/>
          </a:solidFill>
          <a:ln>
            <a:noFill/>
          </a:ln>
        </p:spPr>
        <p:txBody>
          <a:bodyPr rtlCol="0" anchor="ctr"/>
          <a:lstStyle/>
          <a:p>
            <a:pPr algn="ctr"/>
            <a:endParaRPr/>
          </a:p>
        </p:txBody>
      </p:sp>
      <p:sp>
        <p:nvSpPr>
          <p:cNvPr id="914" name="TextBox 913"/>
          <p:cNvSpPr txBox="1"/>
          <p:nvPr/>
        </p:nvSpPr>
        <p:spPr>
          <a:xfrm>
            <a:off x="12691872" y="6035040"/>
            <a:ext cx="379476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أحكام المحققين</a:t>
            </a:r>
          </a:p>
        </p:txBody>
      </p:sp>
      <p:sp>
        <p:nvSpPr>
          <p:cNvPr id="915" name="TextBox 914"/>
          <p:cNvSpPr txBox="1"/>
          <p:nvPr/>
        </p:nvSpPr>
        <p:spPr>
          <a:xfrm>
            <a:off x="9445752" y="5961888"/>
            <a:ext cx="3291840" cy="640080"/>
          </a:xfrm>
          <a:prstGeom prst="rect">
            <a:avLst/>
          </a:prstGeom>
          <a:noFill/>
        </p:spPr>
        <p:txBody>
          <a:bodyPr wrap="square" lIns="0" tIns="0" rIns="0" bIns="0" anchor="t">
            <a:spAutoFit/>
          </a:bodyPr>
          <a:lstStyle/>
          <a:p>
            <a:pPr algn="l" rtl="1"/>
            <a:r>
              <a:rPr lang="ar-SA" sz="2800" b="1">
                <a:solidFill>
                  <a:srgbClr val="2EF2C2"/>
                </a:solidFill>
                <a:latin typeface="Alexandria"/>
                <a:ea typeface="Alexandria"/>
                <a:cs typeface="Alexandria"/>
              </a:rPr>
              <a:t>بأسمائهم</a:t>
            </a:r>
          </a:p>
        </p:txBody>
      </p:sp>
      <p:sp>
        <p:nvSpPr>
          <p:cNvPr id="916" name="TextBox 915"/>
          <p:cNvSpPr txBox="1"/>
          <p:nvPr/>
        </p:nvSpPr>
        <p:spPr>
          <a:xfrm>
            <a:off x="9445752" y="6720840"/>
            <a:ext cx="704088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كما نشرت في البيانات: الألباني، شعيب الأرناؤوط، زبير علي زئي، أحمد شاكر وغيرهم</a:t>
            </a:r>
          </a:p>
        </p:txBody>
      </p:sp>
      <p:sp>
        <p:nvSpPr>
          <p:cNvPr id="917" name="Rounded Rectangle 916"/>
          <p:cNvSpPr/>
          <p:nvPr/>
        </p:nvSpPr>
        <p:spPr>
          <a:xfrm>
            <a:off x="1380744" y="5760720"/>
            <a:ext cx="7680960" cy="2331720"/>
          </a:xfrm>
          <a:prstGeom prst="roundRect">
            <a:avLst>
              <a:gd name="adj" fmla="val 11764"/>
            </a:avLst>
          </a:prstGeom>
          <a:solidFill>
            <a:srgbClr val="1C2558"/>
          </a:solidFill>
          <a:ln>
            <a:noFill/>
          </a:ln>
        </p:spPr>
        <p:txBody>
          <a:bodyPr rtlCol="0" anchor="ctr"/>
          <a:lstStyle/>
          <a:p>
            <a:pPr algn="ctr"/>
            <a:endParaRPr/>
          </a:p>
        </p:txBody>
      </p:sp>
      <p:sp>
        <p:nvSpPr>
          <p:cNvPr id="918" name="TextBox 917"/>
          <p:cNvSpPr txBox="1"/>
          <p:nvPr/>
        </p:nvSpPr>
        <p:spPr>
          <a:xfrm>
            <a:off x="4946904" y="6035040"/>
            <a:ext cx="3794760" cy="502920"/>
          </a:xfrm>
          <a:prstGeom prst="rect">
            <a:avLst/>
          </a:prstGeom>
          <a:noFill/>
        </p:spPr>
        <p:txBody>
          <a:bodyPr wrap="square" lIns="0" tIns="0" rIns="0" bIns="0" anchor="t">
            <a:spAutoFit/>
          </a:bodyPr>
          <a:lstStyle/>
          <a:p>
            <a:pPr algn="r" rtl="1"/>
            <a:r>
              <a:rPr lang="ar-SA" sz="2200" b="1">
                <a:solidFill>
                  <a:srgbClr val="F2F4FF"/>
                </a:solidFill>
                <a:latin typeface="Alexandria"/>
                <a:ea typeface="Alexandria"/>
                <a:cs typeface="Alexandria"/>
              </a:rPr>
              <a:t>سجل العبارات المشتهرة</a:t>
            </a:r>
          </a:p>
        </p:txBody>
      </p:sp>
      <p:sp>
        <p:nvSpPr>
          <p:cNvPr id="919" name="TextBox 918"/>
          <p:cNvSpPr txBox="1"/>
          <p:nvPr/>
        </p:nvSpPr>
        <p:spPr>
          <a:xfrm>
            <a:off x="1700784" y="5961888"/>
            <a:ext cx="3291840" cy="640080"/>
          </a:xfrm>
          <a:prstGeom prst="rect">
            <a:avLst/>
          </a:prstGeom>
          <a:noFill/>
        </p:spPr>
        <p:txBody>
          <a:bodyPr wrap="square" lIns="0" tIns="0" rIns="0" bIns="0" anchor="t">
            <a:spAutoFit/>
          </a:bodyPr>
          <a:lstStyle/>
          <a:p>
            <a:pPr algn="l" rtl="1"/>
            <a:r>
              <a:rPr lang="ar-SA" sz="2800" b="1">
                <a:solidFill>
                  <a:srgbClr val="2EF2C2"/>
                </a:solidFill>
                <a:latin typeface="Alexandria"/>
                <a:ea typeface="Alexandria"/>
                <a:cs typeface="Alexandria"/>
              </a:rPr>
              <a:t>14 مدخلا</a:t>
            </a:r>
          </a:p>
        </p:txBody>
      </p:sp>
      <p:sp>
        <p:nvSpPr>
          <p:cNvPr id="920" name="TextBox 919"/>
          <p:cNvSpPr txBox="1"/>
          <p:nvPr/>
        </p:nvSpPr>
        <p:spPr>
          <a:xfrm>
            <a:off x="1700784" y="6720840"/>
            <a:ext cx="7040880" cy="1280160"/>
          </a:xfrm>
          <a:prstGeom prst="rect">
            <a:avLst/>
          </a:prstGeom>
          <a:noFill/>
        </p:spPr>
        <p:txBody>
          <a:bodyPr wrap="square" lIns="0" tIns="0" rIns="0" bIns="0" anchor="t">
            <a:spAutoFit/>
          </a:bodyPr>
          <a:lstStyle/>
          <a:p>
            <a:pPr algn="r" rtl="1">
              <a:lnSpc>
                <a:spcPct val="110000"/>
              </a:lnSpc>
            </a:pPr>
            <a:r>
              <a:rPr lang="ar-SA" sz="1600" b="0">
                <a:solidFill>
                  <a:srgbClr val="AEB4DA"/>
                </a:solidFill>
                <a:latin typeface="Alexandria"/>
                <a:ea typeface="Alexandria"/>
                <a:cs typeface="Alexandria"/>
              </a:rPr>
              <a:t>مراجع منشورة بالعنوان والرقم، ومسودة حتى يعتمدها مختص باسمه</a:t>
            </a:r>
          </a:p>
        </p:txBody>
      </p:sp>
      <p:sp>
        <p:nvSpPr>
          <p:cNvPr id="921" name="TextBox 920"/>
          <p:cNvSpPr txBox="1"/>
          <p:nvPr/>
        </p:nvSpPr>
        <p:spPr>
          <a:xfrm>
            <a:off x="1408176" y="8458200"/>
            <a:ext cx="15435072" cy="548640"/>
          </a:xfrm>
          <a:prstGeom prst="rect">
            <a:avLst/>
          </a:prstGeom>
          <a:noFill/>
        </p:spPr>
        <p:txBody>
          <a:bodyPr wrap="square" lIns="0" tIns="0" rIns="0" bIns="0" anchor="t">
            <a:spAutoFit/>
          </a:bodyPr>
          <a:lstStyle/>
          <a:p>
            <a:pPr algn="r" rtl="1"/>
            <a:r>
              <a:rPr lang="ar-SA" sz="1500" b="0">
                <a:solidFill>
                  <a:srgbClr val="AEB4DA"/>
                </a:solidFill>
                <a:latin typeface="Alexandria"/>
                <a:ea typeface="Alexandria"/>
                <a:cs typeface="Alexandria"/>
              </a:rPr>
              <a:t>روابط للتحقق المستقل في كل نتيجة: quran.com · sunnah.com · الدرر السنية — وإحالات الحزمة العلمية لأسئلة الفتوى والأحكام</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20</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الذكاء الاصطناعي</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السلامة العلمية: المستويات والامتناع والإحالة</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كل نتيجة موسومة بأحد مستويات المحتوى الأربعة في الحزمة العلمية للتحدي</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sp>
        <p:nvSpPr>
          <p:cNvPr id="913" name="Rounded Rectangle 912"/>
          <p:cNvSpPr/>
          <p:nvPr/>
        </p:nvSpPr>
        <p:spPr>
          <a:xfrm>
            <a:off x="13075920" y="3200400"/>
            <a:ext cx="3721608" cy="3017520"/>
          </a:xfrm>
          <a:prstGeom prst="roundRect">
            <a:avLst>
              <a:gd name="adj" fmla="val 9090"/>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4" name="Rounded Rectangle 913"/>
          <p:cNvSpPr/>
          <p:nvPr/>
        </p:nvSpPr>
        <p:spPr>
          <a:xfrm>
            <a:off x="15654528" y="3474720"/>
            <a:ext cx="868680" cy="868680"/>
          </a:xfrm>
          <a:prstGeom prst="roundRect">
            <a:avLst>
              <a:gd name="adj" fmla="val 26315"/>
            </a:avLst>
          </a:prstGeom>
          <a:solidFill>
            <a:srgbClr val="22B07D"/>
          </a:solidFill>
          <a:ln>
            <a:noFill/>
          </a:ln>
        </p:spPr>
        <p:txBody>
          <a:bodyPr rtlCol="0" anchor="ctr"/>
          <a:lstStyle/>
          <a:p>
            <a:pPr algn="ctr"/>
            <a:endParaRPr/>
          </a:p>
        </p:txBody>
      </p:sp>
      <p:sp>
        <p:nvSpPr>
          <p:cNvPr id="915" name="TextBox 914"/>
          <p:cNvSpPr txBox="1"/>
          <p:nvPr/>
        </p:nvSpPr>
        <p:spPr>
          <a:xfrm>
            <a:off x="15654528" y="3474720"/>
            <a:ext cx="868680" cy="868680"/>
          </a:xfrm>
          <a:prstGeom prst="rect">
            <a:avLst/>
          </a:prstGeom>
          <a:noFill/>
        </p:spPr>
        <p:txBody>
          <a:bodyPr wrap="square" lIns="0" tIns="0" rIns="0" bIns="0" anchor="ctr">
            <a:spAutoFit/>
          </a:bodyPr>
          <a:lstStyle/>
          <a:p>
            <a:pPr algn="ctr" rtl="1"/>
            <a:r>
              <a:rPr lang="ar-SA" sz="3000" b="1">
                <a:solidFill>
                  <a:srgbClr val="FFFFFF"/>
                </a:solidFill>
                <a:latin typeface="Alexandria"/>
                <a:ea typeface="Alexandria"/>
                <a:cs typeface="Alexandria"/>
              </a:rPr>
              <a:t>أ</a:t>
            </a:r>
          </a:p>
        </p:txBody>
      </p:sp>
      <p:sp>
        <p:nvSpPr>
          <p:cNvPr id="916" name="TextBox 915"/>
          <p:cNvSpPr txBox="1"/>
          <p:nvPr/>
        </p:nvSpPr>
        <p:spPr>
          <a:xfrm>
            <a:off x="13350240" y="4526280"/>
            <a:ext cx="3172968" cy="502920"/>
          </a:xfrm>
          <a:prstGeom prst="rect">
            <a:avLst/>
          </a:prstGeom>
          <a:noFill/>
        </p:spPr>
        <p:txBody>
          <a:bodyPr wrap="square" lIns="0" tIns="0" rIns="0" bIns="0" anchor="t">
            <a:spAutoFit/>
          </a:bodyPr>
          <a:lstStyle/>
          <a:p>
            <a:pPr algn="r" rtl="1"/>
            <a:r>
              <a:rPr lang="ar-SA" sz="1900" b="1">
                <a:solidFill>
                  <a:srgbClr val="12183F"/>
                </a:solidFill>
                <a:latin typeface="Alexandria"/>
                <a:ea typeface="Alexandria"/>
                <a:cs typeface="Alexandria"/>
              </a:rPr>
              <a:t>معلومة أصلية مستقرة</a:t>
            </a:r>
          </a:p>
        </p:txBody>
      </p:sp>
      <p:sp>
        <p:nvSpPr>
          <p:cNvPr id="917" name="TextBox 916"/>
          <p:cNvSpPr txBox="1"/>
          <p:nvPr/>
        </p:nvSpPr>
        <p:spPr>
          <a:xfrm>
            <a:off x="13350240" y="5074920"/>
            <a:ext cx="3172968" cy="109728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إجابة مباشرة موثقة بالمصدر</a:t>
            </a:r>
          </a:p>
        </p:txBody>
      </p:sp>
      <p:sp>
        <p:nvSpPr>
          <p:cNvPr id="918" name="Rounded Rectangle 917"/>
          <p:cNvSpPr/>
          <p:nvPr/>
        </p:nvSpPr>
        <p:spPr>
          <a:xfrm>
            <a:off x="9217152" y="3200400"/>
            <a:ext cx="3721608" cy="3017520"/>
          </a:xfrm>
          <a:prstGeom prst="roundRect">
            <a:avLst>
              <a:gd name="adj" fmla="val 9090"/>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9" name="Rounded Rectangle 918"/>
          <p:cNvSpPr/>
          <p:nvPr/>
        </p:nvSpPr>
        <p:spPr>
          <a:xfrm>
            <a:off x="11795760" y="3474720"/>
            <a:ext cx="868680" cy="868680"/>
          </a:xfrm>
          <a:prstGeom prst="roundRect">
            <a:avLst>
              <a:gd name="adj" fmla="val 26315"/>
            </a:avLst>
          </a:prstGeom>
          <a:solidFill>
            <a:srgbClr val="3D8DE0"/>
          </a:solidFill>
          <a:ln>
            <a:noFill/>
          </a:ln>
        </p:spPr>
        <p:txBody>
          <a:bodyPr rtlCol="0" anchor="ctr"/>
          <a:lstStyle/>
          <a:p>
            <a:pPr algn="ctr"/>
            <a:endParaRPr/>
          </a:p>
        </p:txBody>
      </p:sp>
      <p:sp>
        <p:nvSpPr>
          <p:cNvPr id="920" name="TextBox 919"/>
          <p:cNvSpPr txBox="1"/>
          <p:nvPr/>
        </p:nvSpPr>
        <p:spPr>
          <a:xfrm>
            <a:off x="11795760" y="3474720"/>
            <a:ext cx="868680" cy="868680"/>
          </a:xfrm>
          <a:prstGeom prst="rect">
            <a:avLst/>
          </a:prstGeom>
          <a:noFill/>
        </p:spPr>
        <p:txBody>
          <a:bodyPr wrap="square" lIns="0" tIns="0" rIns="0" bIns="0" anchor="ctr">
            <a:spAutoFit/>
          </a:bodyPr>
          <a:lstStyle/>
          <a:p>
            <a:pPr algn="ctr" rtl="1"/>
            <a:r>
              <a:rPr lang="ar-SA" sz="3000" b="1">
                <a:solidFill>
                  <a:srgbClr val="FFFFFF"/>
                </a:solidFill>
                <a:latin typeface="Alexandria"/>
                <a:ea typeface="Alexandria"/>
                <a:cs typeface="Alexandria"/>
              </a:rPr>
              <a:t>ب</a:t>
            </a:r>
          </a:p>
        </p:txBody>
      </p:sp>
      <p:sp>
        <p:nvSpPr>
          <p:cNvPr id="921" name="TextBox 920"/>
          <p:cNvSpPr txBox="1"/>
          <p:nvPr/>
        </p:nvSpPr>
        <p:spPr>
          <a:xfrm>
            <a:off x="9491472" y="4526280"/>
            <a:ext cx="3172968" cy="502920"/>
          </a:xfrm>
          <a:prstGeom prst="rect">
            <a:avLst/>
          </a:prstGeom>
          <a:noFill/>
        </p:spPr>
        <p:txBody>
          <a:bodyPr wrap="square" lIns="0" tIns="0" rIns="0" bIns="0" anchor="t">
            <a:spAutoFit/>
          </a:bodyPr>
          <a:lstStyle/>
          <a:p>
            <a:pPr algn="r" rtl="1"/>
            <a:r>
              <a:rPr lang="ar-SA" sz="1900" b="1">
                <a:solidFill>
                  <a:srgbClr val="12183F"/>
                </a:solidFill>
                <a:latin typeface="Alexandria"/>
                <a:ea typeface="Alexandria"/>
                <a:cs typeface="Alexandria"/>
              </a:rPr>
              <a:t>شرح وتعريف</a:t>
            </a:r>
          </a:p>
        </p:txBody>
      </p:sp>
      <p:sp>
        <p:nvSpPr>
          <p:cNvPr id="922" name="TextBox 921"/>
          <p:cNvSpPr txBox="1"/>
          <p:nvPr/>
        </p:nvSpPr>
        <p:spPr>
          <a:xfrm>
            <a:off x="9491472" y="5074920"/>
            <a:ext cx="3172968" cy="109728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من مادة معتمدة مع إظهار المرجع</a:t>
            </a:r>
          </a:p>
        </p:txBody>
      </p:sp>
      <p:sp>
        <p:nvSpPr>
          <p:cNvPr id="923" name="Rounded Rectangle 922"/>
          <p:cNvSpPr/>
          <p:nvPr/>
        </p:nvSpPr>
        <p:spPr>
          <a:xfrm>
            <a:off x="5358384" y="3200400"/>
            <a:ext cx="3721608" cy="3017520"/>
          </a:xfrm>
          <a:prstGeom prst="roundRect">
            <a:avLst>
              <a:gd name="adj" fmla="val 9090"/>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4" name="Rounded Rectangle 923"/>
          <p:cNvSpPr/>
          <p:nvPr/>
        </p:nvSpPr>
        <p:spPr>
          <a:xfrm>
            <a:off x="7936992" y="3474720"/>
            <a:ext cx="868680" cy="868680"/>
          </a:xfrm>
          <a:prstGeom prst="roundRect">
            <a:avLst>
              <a:gd name="adj" fmla="val 26315"/>
            </a:avLst>
          </a:prstGeom>
          <a:solidFill>
            <a:srgbClr val="8E7BEA"/>
          </a:solidFill>
          <a:ln>
            <a:noFill/>
          </a:ln>
        </p:spPr>
        <p:txBody>
          <a:bodyPr rtlCol="0" anchor="ctr"/>
          <a:lstStyle/>
          <a:p>
            <a:pPr algn="ctr"/>
            <a:endParaRPr/>
          </a:p>
        </p:txBody>
      </p:sp>
      <p:sp>
        <p:nvSpPr>
          <p:cNvPr id="925" name="TextBox 924"/>
          <p:cNvSpPr txBox="1"/>
          <p:nvPr/>
        </p:nvSpPr>
        <p:spPr>
          <a:xfrm>
            <a:off x="7936992" y="3474720"/>
            <a:ext cx="868680" cy="868680"/>
          </a:xfrm>
          <a:prstGeom prst="rect">
            <a:avLst/>
          </a:prstGeom>
          <a:noFill/>
        </p:spPr>
        <p:txBody>
          <a:bodyPr wrap="square" lIns="0" tIns="0" rIns="0" bIns="0" anchor="ctr">
            <a:spAutoFit/>
          </a:bodyPr>
          <a:lstStyle/>
          <a:p>
            <a:pPr algn="ctr" rtl="1"/>
            <a:r>
              <a:rPr lang="ar-SA" sz="3000" b="1">
                <a:solidFill>
                  <a:srgbClr val="FFFFFF"/>
                </a:solidFill>
                <a:latin typeface="Alexandria"/>
                <a:ea typeface="Alexandria"/>
                <a:cs typeface="Alexandria"/>
              </a:rPr>
              <a:t>ج</a:t>
            </a:r>
          </a:p>
        </p:txBody>
      </p:sp>
      <p:sp>
        <p:nvSpPr>
          <p:cNvPr id="926" name="TextBox 925"/>
          <p:cNvSpPr txBox="1"/>
          <p:nvPr/>
        </p:nvSpPr>
        <p:spPr>
          <a:xfrm>
            <a:off x="5632704" y="4526280"/>
            <a:ext cx="3172968" cy="502920"/>
          </a:xfrm>
          <a:prstGeom prst="rect">
            <a:avLst/>
          </a:prstGeom>
          <a:noFill/>
        </p:spPr>
        <p:txBody>
          <a:bodyPr wrap="square" lIns="0" tIns="0" rIns="0" bIns="0" anchor="t">
            <a:spAutoFit/>
          </a:bodyPr>
          <a:lstStyle/>
          <a:p>
            <a:pPr algn="r" rtl="1"/>
            <a:r>
              <a:rPr lang="ar-SA" sz="1900" b="1">
                <a:solidFill>
                  <a:srgbClr val="12183F"/>
                </a:solidFill>
                <a:latin typeface="Alexandria"/>
                <a:ea typeface="Alexandria"/>
                <a:cs typeface="Alexandria"/>
              </a:rPr>
              <a:t>مسألة خلافية</a:t>
            </a:r>
          </a:p>
        </p:txBody>
      </p:sp>
      <p:sp>
        <p:nvSpPr>
          <p:cNvPr id="927" name="TextBox 926"/>
          <p:cNvSpPr txBox="1"/>
          <p:nvPr/>
        </p:nvSpPr>
        <p:spPr>
          <a:xfrm>
            <a:off x="5632704" y="5074920"/>
            <a:ext cx="3172968" cy="109728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بيان الخلاف أو الامتناع والإحالة إلى مختص</a:t>
            </a:r>
          </a:p>
        </p:txBody>
      </p:sp>
      <p:sp>
        <p:nvSpPr>
          <p:cNvPr id="928" name="Rounded Rectangle 927"/>
          <p:cNvSpPr/>
          <p:nvPr/>
        </p:nvSpPr>
        <p:spPr>
          <a:xfrm>
            <a:off x="1499616" y="3200400"/>
            <a:ext cx="3721608" cy="3017520"/>
          </a:xfrm>
          <a:prstGeom prst="roundRect">
            <a:avLst>
              <a:gd name="adj" fmla="val 9090"/>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9" name="Rounded Rectangle 928"/>
          <p:cNvSpPr/>
          <p:nvPr/>
        </p:nvSpPr>
        <p:spPr>
          <a:xfrm>
            <a:off x="4078224" y="3474720"/>
            <a:ext cx="868680" cy="868680"/>
          </a:xfrm>
          <a:prstGeom prst="roundRect">
            <a:avLst>
              <a:gd name="adj" fmla="val 26315"/>
            </a:avLst>
          </a:prstGeom>
          <a:solidFill>
            <a:srgbClr val="EB4858"/>
          </a:solidFill>
          <a:ln>
            <a:noFill/>
          </a:ln>
        </p:spPr>
        <p:txBody>
          <a:bodyPr rtlCol="0" anchor="ctr"/>
          <a:lstStyle/>
          <a:p>
            <a:pPr algn="ctr"/>
            <a:endParaRPr/>
          </a:p>
        </p:txBody>
      </p:sp>
      <p:sp>
        <p:nvSpPr>
          <p:cNvPr id="930" name="TextBox 929"/>
          <p:cNvSpPr txBox="1"/>
          <p:nvPr/>
        </p:nvSpPr>
        <p:spPr>
          <a:xfrm>
            <a:off x="4078224" y="3474720"/>
            <a:ext cx="868680" cy="868680"/>
          </a:xfrm>
          <a:prstGeom prst="rect">
            <a:avLst/>
          </a:prstGeom>
          <a:noFill/>
        </p:spPr>
        <p:txBody>
          <a:bodyPr wrap="square" lIns="0" tIns="0" rIns="0" bIns="0" anchor="ctr">
            <a:spAutoFit/>
          </a:bodyPr>
          <a:lstStyle/>
          <a:p>
            <a:pPr algn="ctr" rtl="1"/>
            <a:r>
              <a:rPr lang="ar-SA" sz="3000" b="1">
                <a:solidFill>
                  <a:srgbClr val="FFFFFF"/>
                </a:solidFill>
                <a:latin typeface="Alexandria"/>
                <a:ea typeface="Alexandria"/>
                <a:cs typeface="Alexandria"/>
              </a:rPr>
              <a:t>د</a:t>
            </a:r>
          </a:p>
        </p:txBody>
      </p:sp>
      <p:sp>
        <p:nvSpPr>
          <p:cNvPr id="931" name="TextBox 930"/>
          <p:cNvSpPr txBox="1"/>
          <p:nvPr/>
        </p:nvSpPr>
        <p:spPr>
          <a:xfrm>
            <a:off x="1773936" y="4526280"/>
            <a:ext cx="3172968" cy="502920"/>
          </a:xfrm>
          <a:prstGeom prst="rect">
            <a:avLst/>
          </a:prstGeom>
          <a:noFill/>
        </p:spPr>
        <p:txBody>
          <a:bodyPr wrap="square" lIns="0" tIns="0" rIns="0" bIns="0" anchor="t">
            <a:spAutoFit/>
          </a:bodyPr>
          <a:lstStyle/>
          <a:p>
            <a:pPr algn="r" rtl="1"/>
            <a:r>
              <a:rPr lang="ar-SA" sz="1900" b="1">
                <a:solidFill>
                  <a:srgbClr val="12183F"/>
                </a:solidFill>
                <a:latin typeface="Alexandria"/>
                <a:ea typeface="Alexandria"/>
                <a:cs typeface="Alexandria"/>
              </a:rPr>
              <a:t>فتوى أو حالة شخصية</a:t>
            </a:r>
          </a:p>
        </p:txBody>
      </p:sp>
      <p:sp>
        <p:nvSpPr>
          <p:cNvPr id="932" name="TextBox 931"/>
          <p:cNvSpPr txBox="1"/>
          <p:nvPr/>
        </p:nvSpPr>
        <p:spPr>
          <a:xfrm>
            <a:off x="1773936" y="5074920"/>
            <a:ext cx="3172968" cy="109728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لا حكم مستقل؛ إحالة إلى جهة مؤهلة</a:t>
            </a:r>
          </a:p>
        </p:txBody>
      </p:sp>
      <p:sp>
        <p:nvSpPr>
          <p:cNvPr id="933" name="Rounded Rectangle 932"/>
          <p:cNvSpPr/>
          <p:nvPr/>
        </p:nvSpPr>
        <p:spPr>
          <a:xfrm>
            <a:off x="13075920" y="6492240"/>
            <a:ext cx="3721608" cy="2560320"/>
          </a:xfrm>
          <a:prstGeom prst="roundRect">
            <a:avLst>
              <a:gd name="adj" fmla="val 10714"/>
            </a:avLst>
          </a:prstGeom>
          <a:solidFill>
            <a:srgbClr val="E9EBFF"/>
          </a:solidFill>
          <a:ln>
            <a:noFill/>
          </a:ln>
        </p:spPr>
        <p:txBody>
          <a:bodyPr rtlCol="0" anchor="ctr"/>
          <a:lstStyle/>
          <a:p>
            <a:pPr algn="ctr"/>
            <a:endParaRPr/>
          </a:p>
        </p:txBody>
      </p:sp>
      <p:sp>
        <p:nvSpPr>
          <p:cNvPr id="934" name="TextBox 933"/>
          <p:cNvSpPr txBox="1"/>
          <p:nvPr/>
        </p:nvSpPr>
        <p:spPr>
          <a:xfrm>
            <a:off x="13350240" y="6720840"/>
            <a:ext cx="3172968" cy="50292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الإسناد</a:t>
            </a:r>
          </a:p>
        </p:txBody>
      </p:sp>
      <p:sp>
        <p:nvSpPr>
          <p:cNvPr id="935" name="TextBox 934"/>
          <p:cNvSpPr txBox="1"/>
          <p:nvPr/>
        </p:nvSpPr>
        <p:spPr>
          <a:xfrm>
            <a:off x="13350240" y="7269480"/>
            <a:ext cx="3172968" cy="1691640"/>
          </a:xfrm>
          <a:prstGeom prst="rect">
            <a:avLst/>
          </a:prstGeom>
          <a:noFill/>
        </p:spPr>
        <p:txBody>
          <a:bodyPr wrap="square" lIns="0" tIns="0" rIns="0" bIns="0" anchor="t">
            <a:spAutoFit/>
          </a:bodyPr>
          <a:lstStyle/>
          <a:p>
            <a:pPr algn="r" rtl="1">
              <a:lnSpc>
                <a:spcPct val="110000"/>
              </a:lnSpc>
            </a:pPr>
            <a:r>
              <a:rPr lang="ar-SA" sz="1500" b="0">
                <a:solidFill>
                  <a:srgbClr val="12183F"/>
                </a:solidFill>
                <a:latin typeface="Alexandria"/>
                <a:ea typeface="Alexandria"/>
                <a:cs typeface="Alexandria"/>
              </a:rPr>
              <a:t>الكتاب والرقم والرابط لكل نص، والنص من المصدر</a:t>
            </a:r>
          </a:p>
        </p:txBody>
      </p:sp>
      <p:sp>
        <p:nvSpPr>
          <p:cNvPr id="936" name="Rounded Rectangle 935"/>
          <p:cNvSpPr/>
          <p:nvPr/>
        </p:nvSpPr>
        <p:spPr>
          <a:xfrm>
            <a:off x="9217152" y="6492240"/>
            <a:ext cx="3721608" cy="2560320"/>
          </a:xfrm>
          <a:prstGeom prst="roundRect">
            <a:avLst>
              <a:gd name="adj" fmla="val 10714"/>
            </a:avLst>
          </a:prstGeom>
          <a:solidFill>
            <a:srgbClr val="E9EBFF"/>
          </a:solidFill>
          <a:ln>
            <a:noFill/>
          </a:ln>
        </p:spPr>
        <p:txBody>
          <a:bodyPr rtlCol="0" anchor="ctr"/>
          <a:lstStyle/>
          <a:p>
            <a:pPr algn="ctr"/>
            <a:endParaRPr/>
          </a:p>
        </p:txBody>
      </p:sp>
      <p:sp>
        <p:nvSpPr>
          <p:cNvPr id="937" name="TextBox 936"/>
          <p:cNvSpPr txBox="1"/>
          <p:nvPr/>
        </p:nvSpPr>
        <p:spPr>
          <a:xfrm>
            <a:off x="9491472" y="6720840"/>
            <a:ext cx="3172968" cy="50292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الامتناع</a:t>
            </a:r>
          </a:p>
        </p:txBody>
      </p:sp>
      <p:sp>
        <p:nvSpPr>
          <p:cNvPr id="938" name="TextBox 937"/>
          <p:cNvSpPr txBox="1"/>
          <p:nvPr/>
        </p:nvSpPr>
        <p:spPr>
          <a:xfrm>
            <a:off x="9491472" y="7269480"/>
            <a:ext cx="3172968" cy="1691640"/>
          </a:xfrm>
          <a:prstGeom prst="rect">
            <a:avLst/>
          </a:prstGeom>
          <a:noFill/>
        </p:spPr>
        <p:txBody>
          <a:bodyPr wrap="square" lIns="0" tIns="0" rIns="0" bIns="0" anchor="t">
            <a:spAutoFit/>
          </a:bodyPr>
          <a:lstStyle/>
          <a:p>
            <a:pPr algn="r" rtl="1">
              <a:lnSpc>
                <a:spcPct val="110000"/>
              </a:lnSpc>
            </a:pPr>
            <a:r>
              <a:rPr lang="ar-SA" sz="1500" b="0">
                <a:solidFill>
                  <a:srgbClr val="12183F"/>
                </a:solidFill>
                <a:latin typeface="Alexandria"/>
                <a:ea typeface="Alexandria"/>
                <a:cs typeface="Alexandria"/>
              </a:rPr>
              <a:t>«لم نجد» بدل التخمين، و«لفظ مشابه» حين يقترب النص</a:t>
            </a:r>
          </a:p>
        </p:txBody>
      </p:sp>
      <p:sp>
        <p:nvSpPr>
          <p:cNvPr id="939" name="Rounded Rectangle 938"/>
          <p:cNvSpPr/>
          <p:nvPr/>
        </p:nvSpPr>
        <p:spPr>
          <a:xfrm>
            <a:off x="5358384" y="6492240"/>
            <a:ext cx="3721608" cy="2560320"/>
          </a:xfrm>
          <a:prstGeom prst="roundRect">
            <a:avLst>
              <a:gd name="adj" fmla="val 10714"/>
            </a:avLst>
          </a:prstGeom>
          <a:solidFill>
            <a:srgbClr val="E9EBFF"/>
          </a:solidFill>
          <a:ln>
            <a:noFill/>
          </a:ln>
        </p:spPr>
        <p:txBody>
          <a:bodyPr rtlCol="0" anchor="ctr"/>
          <a:lstStyle/>
          <a:p>
            <a:pPr algn="ctr"/>
            <a:endParaRPr/>
          </a:p>
        </p:txBody>
      </p:sp>
      <p:sp>
        <p:nvSpPr>
          <p:cNvPr id="940" name="TextBox 939"/>
          <p:cNvSpPr txBox="1"/>
          <p:nvPr/>
        </p:nvSpPr>
        <p:spPr>
          <a:xfrm>
            <a:off x="5632704" y="6720840"/>
            <a:ext cx="3172968" cy="50292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الإحالة</a:t>
            </a:r>
          </a:p>
        </p:txBody>
      </p:sp>
      <p:sp>
        <p:nvSpPr>
          <p:cNvPr id="941" name="TextBox 940"/>
          <p:cNvSpPr txBox="1"/>
          <p:nvPr/>
        </p:nvSpPr>
        <p:spPr>
          <a:xfrm>
            <a:off x="5632704" y="7269480"/>
            <a:ext cx="3172968" cy="1691640"/>
          </a:xfrm>
          <a:prstGeom prst="rect">
            <a:avLst/>
          </a:prstGeom>
          <a:noFill/>
        </p:spPr>
        <p:txBody>
          <a:bodyPr wrap="square" lIns="0" tIns="0" rIns="0" bIns="0" anchor="t">
            <a:spAutoFit/>
          </a:bodyPr>
          <a:lstStyle/>
          <a:p>
            <a:pPr algn="r" rtl="1">
              <a:lnSpc>
                <a:spcPct val="110000"/>
              </a:lnSpc>
            </a:pPr>
            <a:r>
              <a:rPr lang="ar-SA" sz="1500" b="0">
                <a:solidFill>
                  <a:srgbClr val="12183F"/>
                </a:solidFill>
                <a:latin typeface="Alexandria"/>
                <a:ea typeface="Alexandria"/>
                <a:cs typeface="Alexandria"/>
              </a:rPr>
              <a:t>الفتوى والأحكام إلى جهاتها، والأسئلة العامة إلى «بينات»</a:t>
            </a:r>
          </a:p>
        </p:txBody>
      </p:sp>
      <p:sp>
        <p:nvSpPr>
          <p:cNvPr id="942" name="Rounded Rectangle 941"/>
          <p:cNvSpPr/>
          <p:nvPr/>
        </p:nvSpPr>
        <p:spPr>
          <a:xfrm>
            <a:off x="1499616" y="6492240"/>
            <a:ext cx="3721608" cy="2560320"/>
          </a:xfrm>
          <a:prstGeom prst="roundRect">
            <a:avLst>
              <a:gd name="adj" fmla="val 10714"/>
            </a:avLst>
          </a:prstGeom>
          <a:solidFill>
            <a:srgbClr val="E9EBFF"/>
          </a:solidFill>
          <a:ln>
            <a:noFill/>
          </a:ln>
        </p:spPr>
        <p:txBody>
          <a:bodyPr rtlCol="0" anchor="ctr"/>
          <a:lstStyle/>
          <a:p>
            <a:pPr algn="ctr"/>
            <a:endParaRPr/>
          </a:p>
        </p:txBody>
      </p:sp>
      <p:sp>
        <p:nvSpPr>
          <p:cNvPr id="943" name="TextBox 942"/>
          <p:cNvSpPr txBox="1"/>
          <p:nvPr/>
        </p:nvSpPr>
        <p:spPr>
          <a:xfrm>
            <a:off x="1773936" y="6720840"/>
            <a:ext cx="3172968" cy="502920"/>
          </a:xfrm>
          <a:prstGeom prst="rect">
            <a:avLst/>
          </a:prstGeom>
          <a:noFill/>
        </p:spPr>
        <p:txBody>
          <a:bodyPr wrap="square" lIns="0" tIns="0" rIns="0" bIns="0" anchor="t">
            <a:spAutoFit/>
          </a:bodyPr>
          <a:lstStyle/>
          <a:p>
            <a:pPr algn="r" rtl="1"/>
            <a:r>
              <a:rPr lang="ar-SA" sz="2000" b="1">
                <a:solidFill>
                  <a:srgbClr val="6150EA"/>
                </a:solidFill>
                <a:latin typeface="Alexandria"/>
                <a:ea typeface="Alexandria"/>
                <a:cs typeface="Alexandria"/>
              </a:rPr>
              <a:t>الشفافية</a:t>
            </a:r>
          </a:p>
        </p:txBody>
      </p:sp>
      <p:sp>
        <p:nvSpPr>
          <p:cNvPr id="944" name="TextBox 943"/>
          <p:cNvSpPr txBox="1"/>
          <p:nvPr/>
        </p:nvSpPr>
        <p:spPr>
          <a:xfrm>
            <a:off x="1773936" y="7269480"/>
            <a:ext cx="3172968" cy="1691640"/>
          </a:xfrm>
          <a:prstGeom prst="rect">
            <a:avLst/>
          </a:prstGeom>
          <a:noFill/>
        </p:spPr>
        <p:txBody>
          <a:bodyPr wrap="square" lIns="0" tIns="0" rIns="0" bIns="0" anchor="t">
            <a:spAutoFit/>
          </a:bodyPr>
          <a:lstStyle/>
          <a:p>
            <a:pPr algn="r" rtl="1">
              <a:lnSpc>
                <a:spcPct val="110000"/>
              </a:lnSpc>
            </a:pPr>
            <a:r>
              <a:rPr lang="ar-SA" sz="1500" b="0">
                <a:solidFill>
                  <a:srgbClr val="12183F"/>
                </a:solidFill>
                <a:latin typeface="Alexandria"/>
                <a:ea typeface="Alexandria"/>
                <a:cs typeface="Alexandria"/>
              </a:rPr>
              <a:t>«نتيجة آلية… وليست فتوى ولا رأي مختص بشري» في كل نتيجة</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21</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الذكاء الاصطناعي</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مراجعون مختصون… كل باسمه</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لا يعتمد مدخل في السجل إلا بقرار مختص موثق الهوية</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3825728" y="3246120"/>
            <a:ext cx="2880360" cy="2743200"/>
          </a:xfrm>
          <a:prstGeom prst="roundRect">
            <a:avLst>
              <a:gd name="adj" fmla="val 10000"/>
            </a:avLst>
          </a:prstGeom>
          <a:solidFill>
            <a:srgbClr val="1C2558"/>
          </a:solidFill>
          <a:ln>
            <a:noFill/>
          </a:ln>
        </p:spPr>
        <p:txBody>
          <a:bodyPr rtlCol="0" anchor="ctr"/>
          <a:lstStyle/>
          <a:p>
            <a:pPr algn="ctr"/>
            <a:endParaRPr/>
          </a:p>
        </p:txBody>
      </p:sp>
      <p:sp>
        <p:nvSpPr>
          <p:cNvPr id="906" name="Oval 905"/>
          <p:cNvSpPr/>
          <p:nvPr/>
        </p:nvSpPr>
        <p:spPr>
          <a:xfrm>
            <a:off x="15883128" y="3474720"/>
            <a:ext cx="566928" cy="566928"/>
          </a:xfrm>
          <a:prstGeom prst="ellipse">
            <a:avLst/>
          </a:prstGeom>
          <a:solidFill>
            <a:srgbClr val="2EF2C2"/>
          </a:solidFill>
          <a:ln>
            <a:noFill/>
          </a:ln>
        </p:spPr>
        <p:txBody>
          <a:bodyPr rtlCol="0" anchor="ctr"/>
          <a:lstStyle/>
          <a:p>
            <a:pPr algn="ctr"/>
            <a:endParaRPr/>
          </a:p>
        </p:txBody>
      </p:sp>
      <p:sp>
        <p:nvSpPr>
          <p:cNvPr id="907" name="TextBox 906"/>
          <p:cNvSpPr txBox="1"/>
          <p:nvPr/>
        </p:nvSpPr>
        <p:spPr>
          <a:xfrm>
            <a:off x="15883128"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1</a:t>
            </a:r>
          </a:p>
        </p:txBody>
      </p:sp>
      <p:sp>
        <p:nvSpPr>
          <p:cNvPr id="908" name="TextBox 907"/>
          <p:cNvSpPr txBox="1"/>
          <p:nvPr/>
        </p:nvSpPr>
        <p:spPr>
          <a:xfrm>
            <a:off x="14081760" y="4206240"/>
            <a:ext cx="237744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طلب الانضمام</a:t>
            </a:r>
          </a:p>
        </p:txBody>
      </p:sp>
      <p:sp>
        <p:nvSpPr>
          <p:cNvPr id="909" name="TextBox 908"/>
          <p:cNvSpPr txBox="1"/>
          <p:nvPr/>
        </p:nvSpPr>
        <p:spPr>
          <a:xfrm>
            <a:off x="14081760" y="4709160"/>
            <a:ext cx="2377440" cy="1234440"/>
          </a:xfrm>
          <a:prstGeom prst="rect">
            <a:avLst/>
          </a:prstGeom>
          <a:noFill/>
        </p:spPr>
        <p:txBody>
          <a:bodyPr wrap="square" lIns="0" tIns="0" rIns="0" bIns="0" anchor="t">
            <a:spAutoFit/>
          </a:bodyPr>
          <a:lstStyle/>
          <a:p>
            <a:pPr algn="r" rtl="1">
              <a:lnSpc>
                <a:spcPct val="105000"/>
              </a:lnSpc>
            </a:pPr>
            <a:r>
              <a:rPr lang="ar-SA" sz="1400" b="0">
                <a:solidFill>
                  <a:srgbClr val="AEB4DA"/>
                </a:solidFill>
                <a:latin typeface="Alexandria"/>
                <a:ea typeface="Alexandria"/>
                <a:cs typeface="Alexandria"/>
              </a:rPr>
              <a:t>المختص يقدم اسمه وتخصصه وجهته في صفحة الانضمام</a:t>
            </a:r>
          </a:p>
        </p:txBody>
      </p:sp>
      <p:sp>
        <p:nvSpPr>
          <p:cNvPr id="910" name="Rounded Rectangle 909"/>
          <p:cNvSpPr/>
          <p:nvPr/>
        </p:nvSpPr>
        <p:spPr>
          <a:xfrm>
            <a:off x="10716768" y="3246120"/>
            <a:ext cx="2880360" cy="2743200"/>
          </a:xfrm>
          <a:prstGeom prst="roundRect">
            <a:avLst>
              <a:gd name="adj" fmla="val 10000"/>
            </a:avLst>
          </a:prstGeom>
          <a:solidFill>
            <a:srgbClr val="1C2558"/>
          </a:solidFill>
          <a:ln>
            <a:noFill/>
          </a:ln>
        </p:spPr>
        <p:txBody>
          <a:bodyPr rtlCol="0" anchor="ctr"/>
          <a:lstStyle/>
          <a:p>
            <a:pPr algn="ctr"/>
            <a:endParaRPr/>
          </a:p>
        </p:txBody>
      </p:sp>
      <p:sp>
        <p:nvSpPr>
          <p:cNvPr id="911" name="Oval 910"/>
          <p:cNvSpPr/>
          <p:nvPr/>
        </p:nvSpPr>
        <p:spPr>
          <a:xfrm>
            <a:off x="12774168" y="3474720"/>
            <a:ext cx="566928" cy="566928"/>
          </a:xfrm>
          <a:prstGeom prst="ellipse">
            <a:avLst/>
          </a:prstGeom>
          <a:solidFill>
            <a:srgbClr val="2EF2C2"/>
          </a:solidFill>
          <a:ln>
            <a:noFill/>
          </a:ln>
        </p:spPr>
        <p:txBody>
          <a:bodyPr rtlCol="0" anchor="ctr"/>
          <a:lstStyle/>
          <a:p>
            <a:pPr algn="ctr"/>
            <a:endParaRPr/>
          </a:p>
        </p:txBody>
      </p:sp>
      <p:sp>
        <p:nvSpPr>
          <p:cNvPr id="912" name="TextBox 911"/>
          <p:cNvSpPr txBox="1"/>
          <p:nvPr/>
        </p:nvSpPr>
        <p:spPr>
          <a:xfrm>
            <a:off x="12774168"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2</a:t>
            </a:r>
          </a:p>
        </p:txBody>
      </p:sp>
      <p:sp>
        <p:nvSpPr>
          <p:cNvPr id="913" name="TextBox 912"/>
          <p:cNvSpPr txBox="1"/>
          <p:nvPr/>
        </p:nvSpPr>
        <p:spPr>
          <a:xfrm>
            <a:off x="10972800" y="4206240"/>
            <a:ext cx="237744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تحقق المدير</a:t>
            </a:r>
          </a:p>
        </p:txBody>
      </p:sp>
      <p:sp>
        <p:nvSpPr>
          <p:cNvPr id="914" name="TextBox 913"/>
          <p:cNvSpPr txBox="1"/>
          <p:nvPr/>
        </p:nvSpPr>
        <p:spPr>
          <a:xfrm>
            <a:off x="10972800" y="4709160"/>
            <a:ext cx="2377440" cy="1234440"/>
          </a:xfrm>
          <a:prstGeom prst="rect">
            <a:avLst/>
          </a:prstGeom>
          <a:noFill/>
        </p:spPr>
        <p:txBody>
          <a:bodyPr wrap="square" lIns="0" tIns="0" rIns="0" bIns="0" anchor="t">
            <a:spAutoFit/>
          </a:bodyPr>
          <a:lstStyle/>
          <a:p>
            <a:pPr algn="r" rtl="1">
              <a:lnSpc>
                <a:spcPct val="105000"/>
              </a:lnSpc>
            </a:pPr>
            <a:r>
              <a:rPr lang="ar-SA" sz="1400" b="0">
                <a:solidFill>
                  <a:srgbClr val="AEB4DA"/>
                </a:solidFill>
                <a:latin typeface="Alexandria"/>
                <a:ea typeface="Alexandria"/>
                <a:cs typeface="Alexandria"/>
              </a:rPr>
              <a:t>يراجع المؤهل ثم يقبل أو يرفض</a:t>
            </a:r>
          </a:p>
        </p:txBody>
      </p:sp>
      <p:sp>
        <p:nvSpPr>
          <p:cNvPr id="915" name="Rounded Rectangle 914"/>
          <p:cNvSpPr/>
          <p:nvPr/>
        </p:nvSpPr>
        <p:spPr>
          <a:xfrm>
            <a:off x="7607808" y="3246120"/>
            <a:ext cx="2880360" cy="2743200"/>
          </a:xfrm>
          <a:prstGeom prst="roundRect">
            <a:avLst>
              <a:gd name="adj" fmla="val 10000"/>
            </a:avLst>
          </a:prstGeom>
          <a:solidFill>
            <a:srgbClr val="1C2558"/>
          </a:solidFill>
          <a:ln>
            <a:noFill/>
          </a:ln>
        </p:spPr>
        <p:txBody>
          <a:bodyPr rtlCol="0" anchor="ctr"/>
          <a:lstStyle/>
          <a:p>
            <a:pPr algn="ctr"/>
            <a:endParaRPr/>
          </a:p>
        </p:txBody>
      </p:sp>
      <p:sp>
        <p:nvSpPr>
          <p:cNvPr id="916" name="Oval 915"/>
          <p:cNvSpPr/>
          <p:nvPr/>
        </p:nvSpPr>
        <p:spPr>
          <a:xfrm>
            <a:off x="9665208" y="3474720"/>
            <a:ext cx="566928" cy="566928"/>
          </a:xfrm>
          <a:prstGeom prst="ellipse">
            <a:avLst/>
          </a:prstGeom>
          <a:solidFill>
            <a:srgbClr val="2EF2C2"/>
          </a:solidFill>
          <a:ln>
            <a:noFill/>
          </a:ln>
        </p:spPr>
        <p:txBody>
          <a:bodyPr rtlCol="0" anchor="ctr"/>
          <a:lstStyle/>
          <a:p>
            <a:pPr algn="ctr"/>
            <a:endParaRPr/>
          </a:p>
        </p:txBody>
      </p:sp>
      <p:sp>
        <p:nvSpPr>
          <p:cNvPr id="917" name="TextBox 916"/>
          <p:cNvSpPr txBox="1"/>
          <p:nvPr/>
        </p:nvSpPr>
        <p:spPr>
          <a:xfrm>
            <a:off x="9665208"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3</a:t>
            </a:r>
          </a:p>
        </p:txBody>
      </p:sp>
      <p:sp>
        <p:nvSpPr>
          <p:cNvPr id="918" name="TextBox 917"/>
          <p:cNvSpPr txBox="1"/>
          <p:nvPr/>
        </p:nvSpPr>
        <p:spPr>
          <a:xfrm>
            <a:off x="7863840" y="4206240"/>
            <a:ext cx="237744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رمز شخصي</a:t>
            </a:r>
          </a:p>
        </p:txBody>
      </p:sp>
      <p:sp>
        <p:nvSpPr>
          <p:cNvPr id="919" name="TextBox 918"/>
          <p:cNvSpPr txBox="1"/>
          <p:nvPr/>
        </p:nvSpPr>
        <p:spPr>
          <a:xfrm>
            <a:off x="7863840" y="4709160"/>
            <a:ext cx="2377440" cy="1234440"/>
          </a:xfrm>
          <a:prstGeom prst="rect">
            <a:avLst/>
          </a:prstGeom>
          <a:noFill/>
        </p:spPr>
        <p:txBody>
          <a:bodyPr wrap="square" lIns="0" tIns="0" rIns="0" bIns="0" anchor="t">
            <a:spAutoFit/>
          </a:bodyPr>
          <a:lstStyle/>
          <a:p>
            <a:pPr algn="r" rtl="1">
              <a:lnSpc>
                <a:spcPct val="105000"/>
              </a:lnSpc>
            </a:pPr>
            <a:r>
              <a:rPr lang="ar-SA" sz="1400" b="0">
                <a:solidFill>
                  <a:srgbClr val="AEB4DA"/>
                </a:solidFill>
                <a:latin typeface="Alexandria"/>
                <a:ea typeface="Alexandria"/>
                <a:cs typeface="Alexandria"/>
              </a:rPr>
              <a:t>يعرض مرة واحدة ويحفظ بصمة مشفرة</a:t>
            </a:r>
          </a:p>
        </p:txBody>
      </p:sp>
      <p:sp>
        <p:nvSpPr>
          <p:cNvPr id="920" name="Rounded Rectangle 919"/>
          <p:cNvSpPr/>
          <p:nvPr/>
        </p:nvSpPr>
        <p:spPr>
          <a:xfrm>
            <a:off x="4498848" y="3246120"/>
            <a:ext cx="2880360" cy="2743200"/>
          </a:xfrm>
          <a:prstGeom prst="roundRect">
            <a:avLst>
              <a:gd name="adj" fmla="val 10000"/>
            </a:avLst>
          </a:prstGeom>
          <a:solidFill>
            <a:srgbClr val="1C2558"/>
          </a:solidFill>
          <a:ln>
            <a:noFill/>
          </a:ln>
        </p:spPr>
        <p:txBody>
          <a:bodyPr rtlCol="0" anchor="ctr"/>
          <a:lstStyle/>
          <a:p>
            <a:pPr algn="ctr"/>
            <a:endParaRPr/>
          </a:p>
        </p:txBody>
      </p:sp>
      <p:sp>
        <p:nvSpPr>
          <p:cNvPr id="921" name="Oval 920"/>
          <p:cNvSpPr/>
          <p:nvPr/>
        </p:nvSpPr>
        <p:spPr>
          <a:xfrm>
            <a:off x="6556248" y="3474720"/>
            <a:ext cx="566928" cy="566928"/>
          </a:xfrm>
          <a:prstGeom prst="ellipse">
            <a:avLst/>
          </a:prstGeom>
          <a:solidFill>
            <a:srgbClr val="2EF2C2"/>
          </a:solidFill>
          <a:ln>
            <a:noFill/>
          </a:ln>
        </p:spPr>
        <p:txBody>
          <a:bodyPr rtlCol="0" anchor="ctr"/>
          <a:lstStyle/>
          <a:p>
            <a:pPr algn="ctr"/>
            <a:endParaRPr/>
          </a:p>
        </p:txBody>
      </p:sp>
      <p:sp>
        <p:nvSpPr>
          <p:cNvPr id="922" name="TextBox 921"/>
          <p:cNvSpPr txBox="1"/>
          <p:nvPr/>
        </p:nvSpPr>
        <p:spPr>
          <a:xfrm>
            <a:off x="6556248"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4</a:t>
            </a:r>
          </a:p>
        </p:txBody>
      </p:sp>
      <p:sp>
        <p:nvSpPr>
          <p:cNvPr id="923" name="TextBox 922"/>
          <p:cNvSpPr txBox="1"/>
          <p:nvPr/>
        </p:nvSpPr>
        <p:spPr>
          <a:xfrm>
            <a:off x="4754880" y="4206240"/>
            <a:ext cx="237744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قرار موقع</a:t>
            </a:r>
          </a:p>
        </p:txBody>
      </p:sp>
      <p:sp>
        <p:nvSpPr>
          <p:cNvPr id="924" name="TextBox 923"/>
          <p:cNvSpPr txBox="1"/>
          <p:nvPr/>
        </p:nvSpPr>
        <p:spPr>
          <a:xfrm>
            <a:off x="4754880" y="4709160"/>
            <a:ext cx="2377440" cy="1234440"/>
          </a:xfrm>
          <a:prstGeom prst="rect">
            <a:avLst/>
          </a:prstGeom>
          <a:noFill/>
        </p:spPr>
        <p:txBody>
          <a:bodyPr wrap="square" lIns="0" tIns="0" rIns="0" bIns="0" anchor="t">
            <a:spAutoFit/>
          </a:bodyPr>
          <a:lstStyle/>
          <a:p>
            <a:pPr algn="r" rtl="1">
              <a:lnSpc>
                <a:spcPct val="105000"/>
              </a:lnSpc>
            </a:pPr>
            <a:r>
              <a:rPr lang="ar-SA" sz="1400" b="0">
                <a:solidFill>
                  <a:srgbClr val="AEB4DA"/>
                </a:solidFill>
                <a:latin typeface="Alexandria"/>
                <a:ea typeface="Alexandria"/>
                <a:cs typeface="Alexandria"/>
              </a:rPr>
              <a:t>اعتماد / تعديل / رفض باسم المراجع ووقته</a:t>
            </a:r>
          </a:p>
        </p:txBody>
      </p:sp>
      <p:sp>
        <p:nvSpPr>
          <p:cNvPr id="925" name="Rounded Rectangle 924"/>
          <p:cNvSpPr/>
          <p:nvPr/>
        </p:nvSpPr>
        <p:spPr>
          <a:xfrm>
            <a:off x="1389888" y="3246120"/>
            <a:ext cx="2880360" cy="2743200"/>
          </a:xfrm>
          <a:prstGeom prst="roundRect">
            <a:avLst>
              <a:gd name="adj" fmla="val 10000"/>
            </a:avLst>
          </a:prstGeom>
          <a:solidFill>
            <a:srgbClr val="1C2558"/>
          </a:solidFill>
          <a:ln>
            <a:noFill/>
          </a:ln>
        </p:spPr>
        <p:txBody>
          <a:bodyPr rtlCol="0" anchor="ctr"/>
          <a:lstStyle/>
          <a:p>
            <a:pPr algn="ctr"/>
            <a:endParaRPr/>
          </a:p>
        </p:txBody>
      </p:sp>
      <p:sp>
        <p:nvSpPr>
          <p:cNvPr id="926" name="Oval 925"/>
          <p:cNvSpPr/>
          <p:nvPr/>
        </p:nvSpPr>
        <p:spPr>
          <a:xfrm>
            <a:off x="3447288" y="3474720"/>
            <a:ext cx="566928" cy="566928"/>
          </a:xfrm>
          <a:prstGeom prst="ellipse">
            <a:avLst/>
          </a:prstGeom>
          <a:solidFill>
            <a:srgbClr val="2EF2C2"/>
          </a:solidFill>
          <a:ln>
            <a:noFill/>
          </a:ln>
        </p:spPr>
        <p:txBody>
          <a:bodyPr rtlCol="0" anchor="ctr"/>
          <a:lstStyle/>
          <a:p>
            <a:pPr algn="ctr"/>
            <a:endParaRPr/>
          </a:p>
        </p:txBody>
      </p:sp>
      <p:sp>
        <p:nvSpPr>
          <p:cNvPr id="927" name="TextBox 926"/>
          <p:cNvSpPr txBox="1"/>
          <p:nvPr/>
        </p:nvSpPr>
        <p:spPr>
          <a:xfrm>
            <a:off x="3447288" y="3474720"/>
            <a:ext cx="566928" cy="566928"/>
          </a:xfrm>
          <a:prstGeom prst="rect">
            <a:avLst/>
          </a:prstGeom>
          <a:noFill/>
        </p:spPr>
        <p:txBody>
          <a:bodyPr wrap="square" lIns="0" tIns="0" rIns="0" bIns="0" anchor="ctr">
            <a:spAutoFit/>
          </a:bodyPr>
          <a:lstStyle/>
          <a:p>
            <a:pPr algn="ctr" rtl="0"/>
            <a:r>
              <a:rPr lang="en-US" sz="2000" b="1">
                <a:solidFill>
                  <a:srgbClr val="12183F"/>
                </a:solidFill>
                <a:latin typeface="Alexandria"/>
                <a:ea typeface="Alexandria"/>
                <a:cs typeface="Alexandria"/>
              </a:rPr>
              <a:t>5</a:t>
            </a:r>
          </a:p>
        </p:txBody>
      </p:sp>
      <p:sp>
        <p:nvSpPr>
          <p:cNvPr id="928" name="TextBox 927"/>
          <p:cNvSpPr txBox="1"/>
          <p:nvPr/>
        </p:nvSpPr>
        <p:spPr>
          <a:xfrm>
            <a:off x="1645920" y="4206240"/>
            <a:ext cx="2377440" cy="502920"/>
          </a:xfrm>
          <a:prstGeom prst="rect">
            <a:avLst/>
          </a:prstGeom>
          <a:noFill/>
        </p:spPr>
        <p:txBody>
          <a:bodyPr wrap="square" lIns="0" tIns="0" rIns="0" bIns="0" anchor="t">
            <a:spAutoFit/>
          </a:bodyPr>
          <a:lstStyle/>
          <a:p>
            <a:pPr algn="r" rtl="1"/>
            <a:r>
              <a:rPr lang="ar-SA" sz="1900" b="1">
                <a:solidFill>
                  <a:srgbClr val="F2F4FF"/>
                </a:solidFill>
                <a:latin typeface="Alexandria"/>
                <a:ea typeface="Alexandria"/>
                <a:cs typeface="Alexandria"/>
              </a:rPr>
              <a:t>يظهر للمستخدم</a:t>
            </a:r>
          </a:p>
        </p:txBody>
      </p:sp>
      <p:sp>
        <p:nvSpPr>
          <p:cNvPr id="929" name="TextBox 928"/>
          <p:cNvSpPr txBox="1"/>
          <p:nvPr/>
        </p:nvSpPr>
        <p:spPr>
          <a:xfrm>
            <a:off x="1645920" y="4709160"/>
            <a:ext cx="2377440" cy="1234440"/>
          </a:xfrm>
          <a:prstGeom prst="rect">
            <a:avLst/>
          </a:prstGeom>
          <a:noFill/>
        </p:spPr>
        <p:txBody>
          <a:bodyPr wrap="square" lIns="0" tIns="0" rIns="0" bIns="0" anchor="t">
            <a:spAutoFit/>
          </a:bodyPr>
          <a:lstStyle/>
          <a:p>
            <a:pPr algn="r" rtl="1">
              <a:lnSpc>
                <a:spcPct val="105000"/>
              </a:lnSpc>
            </a:pPr>
            <a:r>
              <a:rPr lang="ar-SA" sz="1400" b="0">
                <a:solidFill>
                  <a:srgbClr val="AEB4DA"/>
                </a:solidFill>
                <a:latin typeface="Alexandria"/>
                <a:ea typeface="Alexandria"/>
                <a:cs typeface="Alexandria"/>
              </a:rPr>
              <a:t>«راجعه مختص» واسمه بجانب الحكم</a:t>
            </a:r>
          </a:p>
        </p:txBody>
      </p:sp>
      <p:pic>
        <p:nvPicPr>
          <p:cNvPr id="930" name="Picture 929" descr="review_0.png"/>
          <p:cNvPicPr>
            <a:picLocks noChangeAspect="1"/>
          </p:cNvPicPr>
          <p:nvPr/>
        </p:nvPicPr>
        <p:blipFill>
          <a:blip r:embed="rId5"/>
          <a:stretch>
            <a:fillRect/>
          </a:stretch>
        </p:blipFill>
        <p:spPr>
          <a:xfrm>
            <a:off x="1408176" y="6309360"/>
            <a:ext cx="4876800" cy="2743200"/>
          </a:xfrm>
          <a:prstGeom prst="roundRect">
            <a:avLst>
              <a:gd name="adj" fmla="val 6666"/>
            </a:avLst>
          </a:prstGeom>
          <a:effectLst>
            <a:outerShdw blurRad="380000" dist="120000" dir="5400000" algn="t" rotWithShape="0">
              <a:srgbClr val="000000">
                <a:alpha val="40000"/>
              </a:srgbClr>
            </a:outerShdw>
          </a:effectLst>
        </p:spPr>
      </p:pic>
      <p:sp>
        <p:nvSpPr>
          <p:cNvPr id="931" name="TextBox 930"/>
          <p:cNvSpPr txBox="1"/>
          <p:nvPr/>
        </p:nvSpPr>
        <p:spPr>
          <a:xfrm>
            <a:off x="6675120" y="6355080"/>
            <a:ext cx="10149840" cy="502920"/>
          </a:xfrm>
          <a:prstGeom prst="rect">
            <a:avLst/>
          </a:prstGeom>
          <a:noFill/>
        </p:spPr>
        <p:txBody>
          <a:bodyPr wrap="square" lIns="0" tIns="0" rIns="0" bIns="0" anchor="t">
            <a:spAutoFit/>
          </a:bodyPr>
          <a:lstStyle/>
          <a:p>
            <a:pPr algn="r" rtl="1"/>
            <a:r>
              <a:rPr lang="ar-SA" sz="2100" b="1">
                <a:solidFill>
                  <a:srgbClr val="2EF2C2"/>
                </a:solidFill>
                <a:latin typeface="Alexandria"/>
                <a:ea typeface="Alexandria"/>
                <a:cs typeface="Alexandria"/>
              </a:rPr>
              <a:t>وبلاغات المستخدمين أيضا</a:t>
            </a:r>
          </a:p>
        </p:txBody>
      </p:sp>
      <p:sp>
        <p:nvSpPr>
          <p:cNvPr id="932" name="TextBox 931"/>
          <p:cNvSpPr txBox="1"/>
          <p:nvPr/>
        </p:nvSpPr>
        <p:spPr>
          <a:xfrm>
            <a:off x="6675120" y="6903720"/>
            <a:ext cx="10149840" cy="2103120"/>
          </a:xfrm>
          <a:prstGeom prst="rect">
            <a:avLst/>
          </a:prstGeom>
          <a:noFill/>
        </p:spPr>
        <p:txBody>
          <a:bodyPr wrap="square" lIns="0" tIns="0" rIns="0" bIns="0" anchor="t">
            <a:spAutoFit/>
          </a:bodyPr>
          <a:lstStyle/>
          <a:p>
            <a:pPr algn="r" rtl="1">
              <a:lnSpc>
                <a:spcPct val="115000"/>
              </a:lnSpc>
            </a:pPr>
            <a:r>
              <a:rPr lang="ar-SA" sz="1600" b="0">
                <a:solidFill>
                  <a:srgbClr val="F2F4FF"/>
                </a:solidFill>
                <a:latin typeface="Alexandria"/>
                <a:ea typeface="Alexandria"/>
                <a:cs typeface="Alexandria"/>
              </a:rPr>
              <a:t>«أبلغ عن خطأ» و«اطلب مراجعة» و«أعرف مصدره» في كل نتيجة تصل إلى صفحة المراجعة، وتحفظ في قاعدة بيانات Supabase دون أي بيانات تعريفية بالمستخدم. يمكن للمدير إصدار رمز جديد أو إيقاف أي حساب في أي وقت.</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a:spLocks noGrp="1"/>
          </p:cNvSpPr>
          <p:nvPr>
            <p:ph type="body" idx="1"/>
          </p:nvPr>
        </p:nvSpPr>
        <p:spPr>
          <a:xfrm>
            <a:off x="13125450" y="3143250"/>
            <a:ext cx="3619500" cy="12384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8400"/>
              <a:buNone/>
            </a:pPr>
            <a:r>
              <a:rPr lang="en-US" sz="8400" b="1">
                <a:solidFill>
                  <a:srgbClr val="2EF2C2"/>
                </a:solidFill>
                <a:latin typeface="Alexandria"/>
                <a:ea typeface="Alexandria"/>
                <a:cs typeface="Alexandria"/>
                <a:sym typeface="Readex Pro"/>
              </a:rPr>
              <a:t>04</a:t>
            </a:r>
            <a:endParaRPr/>
          </a:p>
        </p:txBody>
      </p:sp>
      <p:sp>
        <p:nvSpPr>
          <p:cNvPr id="528" name="Google Shape;528;p10"/>
          <p:cNvSpPr txBox="1">
            <a:spLocks noGrp="1"/>
          </p:cNvSpPr>
          <p:nvPr>
            <p:ph type="title"/>
          </p:nvPr>
        </p:nvSpPr>
        <p:spPr>
          <a:xfrm>
            <a:off x="9179000" y="4810125"/>
            <a:ext cx="7566000" cy="1238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000"/>
              <a:buNone/>
            </a:pPr>
            <a:r>
              <a:rPr lang="ar-SA" sz="6000" b="1">
                <a:solidFill>
                  <a:srgbClr val="F2F4FF"/>
                </a:solidFill>
                <a:latin typeface="Alexandria"/>
                <a:ea typeface="Alexandria"/>
                <a:cs typeface="Alexandria"/>
                <a:sym typeface="Readex Pro"/>
              </a:rPr>
              <a:t>النتائج</a:t>
            </a:r>
            <a:endParaRPr/>
          </a:p>
        </p:txBody>
      </p:sp>
      <p:sp>
        <p:nvSpPr>
          <p:cNvPr id="529" name="Google Shape;529;p10"/>
          <p:cNvSpPr txBox="1">
            <a:spLocks noGrp="1"/>
          </p:cNvSpPr>
          <p:nvPr>
            <p:ph type="body" idx="2"/>
          </p:nvPr>
        </p:nvSpPr>
        <p:spPr>
          <a:xfrm>
            <a:off x="9729275" y="6572250"/>
            <a:ext cx="7015500" cy="675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0">
                <a:solidFill>
                  <a:srgbClr val="CBCFE6"/>
                </a:solidFill>
                <a:latin typeface="Alexandria"/>
                <a:ea typeface="Alexandria"/>
                <a:cs typeface="Alexandria"/>
                <a:sym typeface="Readex Pro"/>
              </a:rPr>
              <a:t>مقيسة، قابلة للتكرار… لا ادعاءات</a:t>
            </a:r>
            <a:endParaRPr/>
          </a:p>
        </p:txBody>
      </p:sp>
      <p:pic>
        <p:nvPicPr>
          <p:cNvPr id="530" name="Google Shape;530;p10"/>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23</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النتائج</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الأرقام</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تقرير التقييم eval/results/REPORT.md — المحرك الحتمي دون نموذج لغوي، 5 أكتوبر 2026</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3075920" y="3246120"/>
            <a:ext cx="3721608" cy="4206240"/>
          </a:xfrm>
          <a:prstGeom prst="roundRect">
            <a:avLst>
              <a:gd name="adj" fmla="val 7371"/>
            </a:avLst>
          </a:prstGeom>
          <a:solidFill>
            <a:srgbClr val="1C2558"/>
          </a:solidFill>
          <a:ln>
            <a:noFill/>
          </a:ln>
        </p:spPr>
        <p:txBody>
          <a:bodyPr rtlCol="0" anchor="ctr"/>
          <a:lstStyle/>
          <a:p>
            <a:pPr algn="ctr"/>
            <a:endParaRPr/>
          </a:p>
        </p:txBody>
      </p:sp>
      <p:sp>
        <p:nvSpPr>
          <p:cNvPr id="906" name="TextBox 905"/>
          <p:cNvSpPr txBox="1"/>
          <p:nvPr/>
        </p:nvSpPr>
        <p:spPr>
          <a:xfrm>
            <a:off x="13350240" y="3520440"/>
            <a:ext cx="3172968" cy="1188720"/>
          </a:xfrm>
          <a:prstGeom prst="rect">
            <a:avLst/>
          </a:prstGeom>
          <a:noFill/>
        </p:spPr>
        <p:txBody>
          <a:bodyPr wrap="square" lIns="0" tIns="0" rIns="0" bIns="0" anchor="t">
            <a:spAutoFit/>
          </a:bodyPr>
          <a:lstStyle/>
          <a:p>
            <a:pPr algn="r" rtl="0"/>
            <a:r>
              <a:rPr lang="en-US" sz="5000" b="1">
                <a:solidFill>
                  <a:srgbClr val="2EF2C2"/>
                </a:solidFill>
                <a:latin typeface="Alexandria"/>
                <a:ea typeface="Alexandria"/>
                <a:cs typeface="Alexandria"/>
              </a:rPr>
              <a:t>98.6%</a:t>
            </a:r>
          </a:p>
        </p:txBody>
      </p:sp>
      <p:sp>
        <p:nvSpPr>
          <p:cNvPr id="907" name="TextBox 906"/>
          <p:cNvSpPr txBox="1"/>
          <p:nvPr/>
        </p:nvSpPr>
        <p:spPr>
          <a:xfrm>
            <a:off x="13350240" y="4754880"/>
            <a:ext cx="3172968"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صحة الحكم</a:t>
            </a:r>
          </a:p>
        </p:txBody>
      </p:sp>
      <p:sp>
        <p:nvSpPr>
          <p:cNvPr id="908" name="TextBox 907"/>
          <p:cNvSpPr txBox="1"/>
          <p:nvPr/>
        </p:nvSpPr>
        <p:spPr>
          <a:xfrm>
            <a:off x="13350240" y="5349240"/>
            <a:ext cx="3172968" cy="2011680"/>
          </a:xfrm>
          <a:prstGeom prst="rect">
            <a:avLst/>
          </a:prstGeom>
          <a:noFill/>
        </p:spPr>
        <p:txBody>
          <a:bodyPr wrap="square" lIns="0" tIns="0" rIns="0" bIns="0" anchor="t">
            <a:spAutoFit/>
          </a:bodyPr>
          <a:lstStyle/>
          <a:p>
            <a:pPr algn="r" rtl="1">
              <a:lnSpc>
                <a:spcPct val="110000"/>
              </a:lnSpc>
            </a:pPr>
            <a:r>
              <a:rPr lang="ar-SA" sz="1500" b="0">
                <a:solidFill>
                  <a:srgbClr val="AEB4DA"/>
                </a:solidFill>
                <a:latin typeface="Alexandria"/>
                <a:ea typeface="Alexandria"/>
                <a:cs typeface="Alexandria"/>
              </a:rPr>
              <a:t>72 من 73 حالة في 10 فئات، منها أنواع اختبارات الحزمة العلمية</a:t>
            </a:r>
          </a:p>
        </p:txBody>
      </p:sp>
      <p:sp>
        <p:nvSpPr>
          <p:cNvPr id="909" name="Rounded Rectangle 908"/>
          <p:cNvSpPr/>
          <p:nvPr/>
        </p:nvSpPr>
        <p:spPr>
          <a:xfrm>
            <a:off x="9217152" y="3246120"/>
            <a:ext cx="3721608" cy="4206240"/>
          </a:xfrm>
          <a:prstGeom prst="roundRect">
            <a:avLst>
              <a:gd name="adj" fmla="val 7371"/>
            </a:avLst>
          </a:prstGeom>
          <a:solidFill>
            <a:srgbClr val="1C2558"/>
          </a:solidFill>
          <a:ln>
            <a:noFill/>
          </a:ln>
        </p:spPr>
        <p:txBody>
          <a:bodyPr rtlCol="0" anchor="ctr"/>
          <a:lstStyle/>
          <a:p>
            <a:pPr algn="ctr"/>
            <a:endParaRPr/>
          </a:p>
        </p:txBody>
      </p:sp>
      <p:sp>
        <p:nvSpPr>
          <p:cNvPr id="910" name="TextBox 909"/>
          <p:cNvSpPr txBox="1"/>
          <p:nvPr/>
        </p:nvSpPr>
        <p:spPr>
          <a:xfrm>
            <a:off x="9491472" y="3520440"/>
            <a:ext cx="3172968" cy="1188720"/>
          </a:xfrm>
          <a:prstGeom prst="rect">
            <a:avLst/>
          </a:prstGeom>
          <a:noFill/>
        </p:spPr>
        <p:txBody>
          <a:bodyPr wrap="square" lIns="0" tIns="0" rIns="0" bIns="0" anchor="t">
            <a:spAutoFit/>
          </a:bodyPr>
          <a:lstStyle/>
          <a:p>
            <a:pPr algn="r" rtl="0"/>
            <a:r>
              <a:rPr lang="en-US" sz="5000" b="1">
                <a:solidFill>
                  <a:srgbClr val="2EF2C2"/>
                </a:solidFill>
                <a:latin typeface="Alexandria"/>
                <a:ea typeface="Alexandria"/>
                <a:cs typeface="Alexandria"/>
              </a:rPr>
              <a:t>0</a:t>
            </a:r>
          </a:p>
        </p:txBody>
      </p:sp>
      <p:sp>
        <p:nvSpPr>
          <p:cNvPr id="911" name="TextBox 910"/>
          <p:cNvSpPr txBox="1"/>
          <p:nvPr/>
        </p:nvSpPr>
        <p:spPr>
          <a:xfrm>
            <a:off x="9491472" y="4754880"/>
            <a:ext cx="3172968"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أخطاء حرجة</a:t>
            </a:r>
          </a:p>
        </p:txBody>
      </p:sp>
      <p:sp>
        <p:nvSpPr>
          <p:cNvPr id="912" name="TextBox 911"/>
          <p:cNvSpPr txBox="1"/>
          <p:nvPr/>
        </p:nvSpPr>
        <p:spPr>
          <a:xfrm>
            <a:off x="9491472" y="5349240"/>
            <a:ext cx="3172968" cy="2011680"/>
          </a:xfrm>
          <a:prstGeom prst="rect">
            <a:avLst/>
          </a:prstGeom>
          <a:noFill/>
        </p:spPr>
        <p:txBody>
          <a:bodyPr wrap="square" lIns="0" tIns="0" rIns="0" bIns="0" anchor="t">
            <a:spAutoFit/>
          </a:bodyPr>
          <a:lstStyle/>
          <a:p>
            <a:pPr algn="r" rtl="1">
              <a:lnSpc>
                <a:spcPct val="110000"/>
              </a:lnSpc>
            </a:pPr>
            <a:r>
              <a:rPr lang="ar-SA" sz="1500" b="0">
                <a:solidFill>
                  <a:srgbClr val="AEB4DA"/>
                </a:solidFill>
                <a:latin typeface="Alexandria"/>
                <a:ea typeface="Alexandria"/>
                <a:cs typeface="Alexandria"/>
              </a:rPr>
              <a:t>لم يوصف ما لا يثبت بأنه ثابت ولا العكس</a:t>
            </a:r>
          </a:p>
        </p:txBody>
      </p:sp>
      <p:sp>
        <p:nvSpPr>
          <p:cNvPr id="913" name="Rounded Rectangle 912"/>
          <p:cNvSpPr/>
          <p:nvPr/>
        </p:nvSpPr>
        <p:spPr>
          <a:xfrm>
            <a:off x="5358384" y="3246120"/>
            <a:ext cx="3721608" cy="4206240"/>
          </a:xfrm>
          <a:prstGeom prst="roundRect">
            <a:avLst>
              <a:gd name="adj" fmla="val 7371"/>
            </a:avLst>
          </a:prstGeom>
          <a:solidFill>
            <a:srgbClr val="1C2558"/>
          </a:solidFill>
          <a:ln>
            <a:noFill/>
          </a:ln>
        </p:spPr>
        <p:txBody>
          <a:bodyPr rtlCol="0" anchor="ctr"/>
          <a:lstStyle/>
          <a:p>
            <a:pPr algn="ctr"/>
            <a:endParaRPr/>
          </a:p>
        </p:txBody>
      </p:sp>
      <p:sp>
        <p:nvSpPr>
          <p:cNvPr id="914" name="TextBox 913"/>
          <p:cNvSpPr txBox="1"/>
          <p:nvPr/>
        </p:nvSpPr>
        <p:spPr>
          <a:xfrm>
            <a:off x="5632704" y="3520440"/>
            <a:ext cx="3172968" cy="1188720"/>
          </a:xfrm>
          <a:prstGeom prst="rect">
            <a:avLst/>
          </a:prstGeom>
          <a:noFill/>
        </p:spPr>
        <p:txBody>
          <a:bodyPr wrap="square" lIns="0" tIns="0" rIns="0" bIns="0" anchor="t">
            <a:spAutoFit/>
          </a:bodyPr>
          <a:lstStyle/>
          <a:p>
            <a:pPr algn="r" rtl="0"/>
            <a:r>
              <a:rPr lang="en-US" sz="5000" b="1">
                <a:solidFill>
                  <a:srgbClr val="2EF2C2"/>
                </a:solidFill>
                <a:latin typeface="Alexandria"/>
                <a:ea typeface="Alexandria"/>
                <a:cs typeface="Alexandria"/>
              </a:rPr>
              <a:t>98.5%</a:t>
            </a:r>
          </a:p>
        </p:txBody>
      </p:sp>
      <p:sp>
        <p:nvSpPr>
          <p:cNvPr id="915" name="TextBox 914"/>
          <p:cNvSpPr txBox="1"/>
          <p:nvPr/>
        </p:nvSpPr>
        <p:spPr>
          <a:xfrm>
            <a:off x="5632704" y="4754880"/>
            <a:ext cx="3172968"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العثور على المصدر</a:t>
            </a:r>
          </a:p>
        </p:txBody>
      </p:sp>
      <p:sp>
        <p:nvSpPr>
          <p:cNvPr id="916" name="TextBox 915"/>
          <p:cNvSpPr txBox="1"/>
          <p:nvPr/>
        </p:nvSpPr>
        <p:spPr>
          <a:xfrm>
            <a:off x="5632704" y="5349240"/>
            <a:ext cx="3172968" cy="2011680"/>
          </a:xfrm>
          <a:prstGeom prst="rect">
            <a:avLst/>
          </a:prstGeom>
          <a:noFill/>
        </p:spPr>
        <p:txBody>
          <a:bodyPr wrap="square" lIns="0" tIns="0" rIns="0" bIns="0" anchor="t">
            <a:spAutoFit/>
          </a:bodyPr>
          <a:lstStyle/>
          <a:p>
            <a:pPr algn="r" rtl="1">
              <a:lnSpc>
                <a:spcPct val="110000"/>
              </a:lnSpc>
            </a:pPr>
            <a:r>
              <a:rPr lang="ar-SA" sz="1500" b="0">
                <a:solidFill>
                  <a:srgbClr val="AEB4DA"/>
                </a:solidFill>
                <a:latin typeface="Alexandria"/>
                <a:ea typeface="Alexandria"/>
                <a:cs typeface="Alexandria"/>
              </a:rPr>
              <a:t>من مقطع حديث فيه أخطاء كتابة الجوال — البحث الحرفي: 0%</a:t>
            </a:r>
          </a:p>
        </p:txBody>
      </p:sp>
      <p:sp>
        <p:nvSpPr>
          <p:cNvPr id="917" name="Rounded Rectangle 916"/>
          <p:cNvSpPr/>
          <p:nvPr/>
        </p:nvSpPr>
        <p:spPr>
          <a:xfrm>
            <a:off x="1499616" y="3246120"/>
            <a:ext cx="3721608" cy="4206240"/>
          </a:xfrm>
          <a:prstGeom prst="roundRect">
            <a:avLst>
              <a:gd name="adj" fmla="val 7371"/>
            </a:avLst>
          </a:prstGeom>
          <a:solidFill>
            <a:srgbClr val="1C2558"/>
          </a:solidFill>
          <a:ln>
            <a:noFill/>
          </a:ln>
        </p:spPr>
        <p:txBody>
          <a:bodyPr rtlCol="0" anchor="ctr"/>
          <a:lstStyle/>
          <a:p>
            <a:pPr algn="ctr"/>
            <a:endParaRPr/>
          </a:p>
        </p:txBody>
      </p:sp>
      <p:sp>
        <p:nvSpPr>
          <p:cNvPr id="918" name="TextBox 917"/>
          <p:cNvSpPr txBox="1"/>
          <p:nvPr/>
        </p:nvSpPr>
        <p:spPr>
          <a:xfrm>
            <a:off x="1773936" y="3520440"/>
            <a:ext cx="3172968" cy="1188720"/>
          </a:xfrm>
          <a:prstGeom prst="rect">
            <a:avLst/>
          </a:prstGeom>
          <a:noFill/>
        </p:spPr>
        <p:txBody>
          <a:bodyPr wrap="square" lIns="0" tIns="0" rIns="0" bIns="0" anchor="t">
            <a:spAutoFit/>
          </a:bodyPr>
          <a:lstStyle/>
          <a:p>
            <a:pPr algn="r" rtl="0"/>
            <a:r>
              <a:rPr lang="en-US" sz="5000" b="1">
                <a:solidFill>
                  <a:srgbClr val="2EF2C2"/>
                </a:solidFill>
                <a:latin typeface="Alexandria"/>
                <a:ea typeface="Alexandria"/>
                <a:cs typeface="Alexandria"/>
              </a:rPr>
              <a:t>28 ms</a:t>
            </a:r>
          </a:p>
        </p:txBody>
      </p:sp>
      <p:sp>
        <p:nvSpPr>
          <p:cNvPr id="919" name="TextBox 918"/>
          <p:cNvSpPr txBox="1"/>
          <p:nvPr/>
        </p:nvSpPr>
        <p:spPr>
          <a:xfrm>
            <a:off x="1773936" y="4754880"/>
            <a:ext cx="3172968" cy="502920"/>
          </a:xfrm>
          <a:prstGeom prst="rect">
            <a:avLst/>
          </a:prstGeom>
          <a:noFill/>
        </p:spPr>
        <p:txBody>
          <a:bodyPr wrap="square" lIns="0" tIns="0" rIns="0" bIns="0" anchor="t">
            <a:spAutoFit/>
          </a:bodyPr>
          <a:lstStyle/>
          <a:p>
            <a:pPr algn="r" rtl="1"/>
            <a:r>
              <a:rPr lang="ar-SA" sz="2100" b="1">
                <a:solidFill>
                  <a:srgbClr val="F2F4FF"/>
                </a:solidFill>
                <a:latin typeface="Alexandria"/>
                <a:ea typeface="Alexandria"/>
                <a:cs typeface="Alexandria"/>
              </a:rPr>
              <a:t>لكل رسالة</a:t>
            </a:r>
          </a:p>
        </p:txBody>
      </p:sp>
      <p:sp>
        <p:nvSpPr>
          <p:cNvPr id="920" name="TextBox 919"/>
          <p:cNvSpPr txBox="1"/>
          <p:nvPr/>
        </p:nvSpPr>
        <p:spPr>
          <a:xfrm>
            <a:off x="1773936" y="5349240"/>
            <a:ext cx="3172968" cy="2011680"/>
          </a:xfrm>
          <a:prstGeom prst="rect">
            <a:avLst/>
          </a:prstGeom>
          <a:noFill/>
        </p:spPr>
        <p:txBody>
          <a:bodyPr wrap="square" lIns="0" tIns="0" rIns="0" bIns="0" anchor="t">
            <a:spAutoFit/>
          </a:bodyPr>
          <a:lstStyle/>
          <a:p>
            <a:pPr algn="r" rtl="1">
              <a:lnSpc>
                <a:spcPct val="110000"/>
              </a:lnSpc>
            </a:pPr>
            <a:r>
              <a:rPr lang="ar-SA" sz="1500" b="0">
                <a:solidFill>
                  <a:srgbClr val="AEB4DA"/>
                </a:solidFill>
                <a:latin typeface="Alexandria"/>
                <a:ea typeface="Alexandria"/>
                <a:cs typeface="Alexandria"/>
              </a:rPr>
              <a:t>زمن المعالجة الوسيط، وذاكرة نحو 120 MB</a:t>
            </a:r>
          </a:p>
        </p:txBody>
      </p:sp>
      <p:sp>
        <p:nvSpPr>
          <p:cNvPr id="921" name="Rounded Rectangle 920"/>
          <p:cNvSpPr/>
          <p:nvPr/>
        </p:nvSpPr>
        <p:spPr>
          <a:xfrm>
            <a:off x="11768328" y="7772400"/>
            <a:ext cx="5029200" cy="1280160"/>
          </a:xfrm>
          <a:prstGeom prst="roundRect">
            <a:avLst>
              <a:gd name="adj" fmla="val 21428"/>
            </a:avLst>
          </a:prstGeom>
          <a:solidFill>
            <a:srgbClr val="243070"/>
          </a:solidFill>
          <a:ln>
            <a:noFill/>
          </a:ln>
        </p:spPr>
        <p:txBody>
          <a:bodyPr rtlCol="0" anchor="ctr"/>
          <a:lstStyle/>
          <a:p>
            <a:pPr algn="ctr"/>
            <a:endParaRPr/>
          </a:p>
        </p:txBody>
      </p:sp>
      <p:sp>
        <p:nvSpPr>
          <p:cNvPr id="922" name="TextBox 921"/>
          <p:cNvSpPr txBox="1"/>
          <p:nvPr/>
        </p:nvSpPr>
        <p:spPr>
          <a:xfrm>
            <a:off x="12042648" y="7882127"/>
            <a:ext cx="4480560" cy="50292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حتمي</a:t>
            </a:r>
          </a:p>
        </p:txBody>
      </p:sp>
      <p:sp>
        <p:nvSpPr>
          <p:cNvPr id="923" name="TextBox 922"/>
          <p:cNvSpPr txBox="1"/>
          <p:nvPr/>
        </p:nvSpPr>
        <p:spPr>
          <a:xfrm>
            <a:off x="12042648" y="8385048"/>
            <a:ext cx="4480560" cy="594360"/>
          </a:xfrm>
          <a:prstGeom prst="rect">
            <a:avLst/>
          </a:prstGeom>
          <a:noFill/>
        </p:spPr>
        <p:txBody>
          <a:bodyPr wrap="square" lIns="0" tIns="0" rIns="0" bIns="0" anchor="t">
            <a:spAutoFit/>
          </a:bodyPr>
          <a:lstStyle/>
          <a:p>
            <a:pPr algn="r" rtl="1"/>
            <a:r>
              <a:rPr lang="ar-SA" sz="1400" b="0">
                <a:solidFill>
                  <a:srgbClr val="F2F4FF"/>
                </a:solidFill>
                <a:latin typeface="Alexandria"/>
                <a:ea typeface="Alexandria"/>
                <a:cs typeface="Alexandria"/>
              </a:rPr>
              <a:t>تشغيلان كاملان أعطيا نتائج متطابقة</a:t>
            </a:r>
          </a:p>
        </p:txBody>
      </p:sp>
      <p:sp>
        <p:nvSpPr>
          <p:cNvPr id="924" name="Rounded Rectangle 923"/>
          <p:cNvSpPr/>
          <p:nvPr/>
        </p:nvSpPr>
        <p:spPr>
          <a:xfrm>
            <a:off x="6601968" y="7772400"/>
            <a:ext cx="5029200" cy="1280160"/>
          </a:xfrm>
          <a:prstGeom prst="roundRect">
            <a:avLst>
              <a:gd name="adj" fmla="val 21428"/>
            </a:avLst>
          </a:prstGeom>
          <a:solidFill>
            <a:srgbClr val="243070"/>
          </a:solidFill>
          <a:ln>
            <a:noFill/>
          </a:ln>
        </p:spPr>
        <p:txBody>
          <a:bodyPr rtlCol="0" anchor="ctr"/>
          <a:lstStyle/>
          <a:p>
            <a:pPr algn="ctr"/>
            <a:endParaRPr/>
          </a:p>
        </p:txBody>
      </p:sp>
      <p:sp>
        <p:nvSpPr>
          <p:cNvPr id="925" name="TextBox 924"/>
          <p:cNvSpPr txBox="1"/>
          <p:nvPr/>
        </p:nvSpPr>
        <p:spPr>
          <a:xfrm>
            <a:off x="6876288" y="7882127"/>
            <a:ext cx="4480560" cy="50292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28 اختبارا آليا</a:t>
            </a:r>
          </a:p>
        </p:txBody>
      </p:sp>
      <p:sp>
        <p:nvSpPr>
          <p:cNvPr id="926" name="TextBox 925"/>
          <p:cNvSpPr txBox="1"/>
          <p:nvPr/>
        </p:nvSpPr>
        <p:spPr>
          <a:xfrm>
            <a:off x="6876288" y="8385048"/>
            <a:ext cx="4480560" cy="594360"/>
          </a:xfrm>
          <a:prstGeom prst="rect">
            <a:avLst/>
          </a:prstGeom>
          <a:noFill/>
        </p:spPr>
        <p:txBody>
          <a:bodyPr wrap="square" lIns="0" tIns="0" rIns="0" bIns="0" anchor="t">
            <a:spAutoFit/>
          </a:bodyPr>
          <a:lstStyle/>
          <a:p>
            <a:pPr algn="r" rtl="1"/>
            <a:r>
              <a:rPr lang="ar-SA" sz="1400" b="0">
                <a:solidFill>
                  <a:srgbClr val="F2F4FF"/>
                </a:solidFill>
                <a:latin typeface="Alexandria"/>
                <a:ea typeface="Alexandria"/>
                <a:cs typeface="Alexandria"/>
              </a:rPr>
              <a:t>للسلامة والحزمة العلمية والواجهة البرمجية</a:t>
            </a:r>
          </a:p>
        </p:txBody>
      </p:sp>
      <p:sp>
        <p:nvSpPr>
          <p:cNvPr id="927" name="Rounded Rectangle 926"/>
          <p:cNvSpPr/>
          <p:nvPr/>
        </p:nvSpPr>
        <p:spPr>
          <a:xfrm>
            <a:off x="1435607" y="7772400"/>
            <a:ext cx="5029200" cy="1280160"/>
          </a:xfrm>
          <a:prstGeom prst="roundRect">
            <a:avLst>
              <a:gd name="adj" fmla="val 21428"/>
            </a:avLst>
          </a:prstGeom>
          <a:solidFill>
            <a:srgbClr val="243070"/>
          </a:solidFill>
          <a:ln>
            <a:noFill/>
          </a:ln>
        </p:spPr>
        <p:txBody>
          <a:bodyPr rtlCol="0" anchor="ctr"/>
          <a:lstStyle/>
          <a:p>
            <a:pPr algn="ctr"/>
            <a:endParaRPr/>
          </a:p>
        </p:txBody>
      </p:sp>
      <p:sp>
        <p:nvSpPr>
          <p:cNvPr id="928" name="TextBox 927"/>
          <p:cNvSpPr txBox="1"/>
          <p:nvPr/>
        </p:nvSpPr>
        <p:spPr>
          <a:xfrm>
            <a:off x="1709927" y="7882127"/>
            <a:ext cx="4480560" cy="502920"/>
          </a:xfrm>
          <a:prstGeom prst="rect">
            <a:avLst/>
          </a:prstGeom>
          <a:noFill/>
        </p:spPr>
        <p:txBody>
          <a:bodyPr wrap="square" lIns="0" tIns="0" rIns="0" bIns="0" anchor="t">
            <a:spAutoFit/>
          </a:bodyPr>
          <a:lstStyle/>
          <a:p>
            <a:pPr algn="r" rtl="1"/>
            <a:r>
              <a:rPr lang="en-US" sz="2000" b="1">
                <a:solidFill>
                  <a:srgbClr val="2EF2C2"/>
                </a:solidFill>
                <a:latin typeface="Alexandria"/>
                <a:ea typeface="Alexandria"/>
                <a:cs typeface="Alexandria"/>
              </a:rPr>
              <a:t>97%</a:t>
            </a:r>
          </a:p>
        </p:txBody>
      </p:sp>
      <p:sp>
        <p:nvSpPr>
          <p:cNvPr id="929" name="TextBox 928"/>
          <p:cNvSpPr txBox="1"/>
          <p:nvPr/>
        </p:nvSpPr>
        <p:spPr>
          <a:xfrm>
            <a:off x="1709927" y="8385048"/>
            <a:ext cx="4480560" cy="594360"/>
          </a:xfrm>
          <a:prstGeom prst="rect">
            <a:avLst/>
          </a:prstGeom>
          <a:noFill/>
        </p:spPr>
        <p:txBody>
          <a:bodyPr wrap="square" lIns="0" tIns="0" rIns="0" bIns="0" anchor="t">
            <a:spAutoFit/>
          </a:bodyPr>
          <a:lstStyle/>
          <a:p>
            <a:pPr algn="r" rtl="1"/>
            <a:r>
              <a:rPr lang="ar-SA" sz="1400" b="0">
                <a:solidFill>
                  <a:srgbClr val="F2F4FF"/>
                </a:solidFill>
                <a:latin typeface="Alexandria"/>
                <a:ea typeface="Alexandria"/>
                <a:cs typeface="Alexandria"/>
              </a:rPr>
              <a:t>العثور على المصدر من الترجمة الإنجليزية</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24</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النتائج</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حين يكتب الناس كما يكتبون فعلا…</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العثور على المصدر الصحيح ضمن أول 3 نتائج، مقارنة بالبحث الحرفي (Ctrl+F)</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graphicFrame>
        <p:nvGraphicFramePr>
          <p:cNvPr id="913" name="Chart 912"/>
          <p:cNvGraphicFramePr>
            <a:graphicFrameLocks noGrp="1"/>
          </p:cNvGraphicFramePr>
          <p:nvPr/>
        </p:nvGraphicFramePr>
        <p:xfrm>
          <a:off x="1408176" y="3154680"/>
          <a:ext cx="10424160" cy="5897880"/>
        </p:xfrm>
        <a:graphic>
          <a:graphicData uri="http://schemas.openxmlformats.org/drawingml/2006/chart">
            <c:chart xmlns:c="http://schemas.openxmlformats.org/drawingml/2006/chart" xmlns:r="http://schemas.openxmlformats.org/officeDocument/2006/relationships" r:id="rId5"/>
          </a:graphicData>
        </a:graphic>
      </p:graphicFrame>
      <p:sp>
        <p:nvSpPr>
          <p:cNvPr id="914" name="Rounded Rectangle 913"/>
          <p:cNvSpPr/>
          <p:nvPr/>
        </p:nvSpPr>
        <p:spPr>
          <a:xfrm>
            <a:off x="12161520" y="3154680"/>
            <a:ext cx="4681728" cy="5897880"/>
          </a:xfrm>
          <a:prstGeom prst="roundRect">
            <a:avLst>
              <a:gd name="adj" fmla="val 5859"/>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5" name="TextBox 914"/>
          <p:cNvSpPr txBox="1"/>
          <p:nvPr/>
        </p:nvSpPr>
        <p:spPr>
          <a:xfrm>
            <a:off x="12481560" y="3429000"/>
            <a:ext cx="4069080" cy="1097280"/>
          </a:xfrm>
          <a:prstGeom prst="rect">
            <a:avLst/>
          </a:prstGeom>
          <a:noFill/>
        </p:spPr>
        <p:txBody>
          <a:bodyPr wrap="square" lIns="0" tIns="0" rIns="0" bIns="0" anchor="t">
            <a:spAutoFit/>
          </a:bodyPr>
          <a:lstStyle/>
          <a:p>
            <a:pPr algn="r" rtl="0"/>
            <a:r>
              <a:rPr lang="en-US" sz="5400" b="1">
                <a:solidFill>
                  <a:srgbClr val="6150EA"/>
                </a:solidFill>
                <a:latin typeface="Alexandria"/>
                <a:ea typeface="Alexandria"/>
                <a:cs typeface="Alexandria"/>
              </a:rPr>
              <a:t>98.5%</a:t>
            </a:r>
          </a:p>
        </p:txBody>
      </p:sp>
      <p:sp>
        <p:nvSpPr>
          <p:cNvPr id="916" name="TextBox 915"/>
          <p:cNvSpPr txBox="1"/>
          <p:nvPr/>
        </p:nvSpPr>
        <p:spPr>
          <a:xfrm>
            <a:off x="12481560" y="4526280"/>
            <a:ext cx="4069080" cy="548640"/>
          </a:xfrm>
          <a:prstGeom prst="rect">
            <a:avLst/>
          </a:prstGeom>
          <a:noFill/>
        </p:spPr>
        <p:txBody>
          <a:bodyPr wrap="square" lIns="0" tIns="0" rIns="0" bIns="0" anchor="t">
            <a:spAutoFit/>
          </a:bodyPr>
          <a:lstStyle/>
          <a:p>
            <a:pPr algn="r" rtl="1"/>
            <a:r>
              <a:rPr lang="ar-SA" sz="2000" b="1">
                <a:solidFill>
                  <a:srgbClr val="12183F"/>
                </a:solidFill>
                <a:latin typeface="Alexandria"/>
                <a:ea typeface="Alexandria"/>
                <a:cs typeface="Alexandria"/>
              </a:rPr>
              <a:t>مقابل 0% للبحث الحرفي</a:t>
            </a:r>
          </a:p>
        </p:txBody>
      </p:sp>
      <p:sp>
        <p:nvSpPr>
          <p:cNvPr id="917" name="TextBox 916"/>
          <p:cNvSpPr txBox="1"/>
          <p:nvPr/>
        </p:nvSpPr>
        <p:spPr>
          <a:xfrm>
            <a:off x="12481560" y="5166360"/>
            <a:ext cx="4069080" cy="3749039"/>
          </a:xfrm>
          <a:prstGeom prst="rect">
            <a:avLst/>
          </a:prstGeom>
          <a:noFill/>
        </p:spPr>
        <p:txBody>
          <a:bodyPr wrap="square" lIns="0" tIns="0" rIns="0" bIns="0" anchor="t">
            <a:spAutoFit/>
          </a:bodyPr>
          <a:lstStyle/>
          <a:p>
            <a:pPr algn="r" rtl="1">
              <a:lnSpc>
                <a:spcPct val="110000"/>
              </a:lnSpc>
              <a:spcAft>
                <a:spcPts val="800"/>
              </a:spcAft>
            </a:pPr>
            <a:r>
              <a:rPr lang="ar-SA" sz="1500" b="0">
                <a:solidFill>
                  <a:srgbClr val="4B5383"/>
                </a:solidFill>
                <a:latin typeface="Alexandria"/>
                <a:ea typeface="Alexandria"/>
                <a:cs typeface="Alexandria"/>
              </a:rPr>
              <a:t>حين يكتب الحديث دون تشكيل ومع خطأ إملائي شائع وكلمة ناقصة — كما في رسائل الجوال — يفشل البحث الحرفي تماما، ويجد ثبت المصدر الصحيح في 197 من 200 حالة.</a:t>
            </a:r>
          </a:p>
          <a:p>
            <a:pPr algn="r" rtl="1">
              <a:lnSpc>
                <a:spcPct val="110000"/>
              </a:lnSpc>
              <a:spcAft>
                <a:spcPts val="800"/>
              </a:spcAft>
            </a:pPr>
            <a:r>
              <a:rPr lang="ar-SA" sz="1500" b="0">
                <a:solidFill>
                  <a:srgbClr val="4B5383"/>
                </a:solidFill>
                <a:latin typeface="Alexandria"/>
                <a:ea typeface="Alexandria"/>
                <a:cs typeface="Alexandria"/>
              </a:rPr>
              <a:t>العينة: 200 مقطع عشوائي (8–12 كلمة) لكل حالة عربية، و100 للإنجليزية.</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25</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النتائج</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النتائج حسب الفئة… وحدود القياس</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73 حالة منسقة في 10 فئات</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2225528" y="3246120"/>
            <a:ext cx="4572000" cy="1005840"/>
          </a:xfrm>
          <a:prstGeom prst="roundRect">
            <a:avLst>
              <a:gd name="adj" fmla="val 22727"/>
            </a:avLst>
          </a:prstGeom>
          <a:solidFill>
            <a:srgbClr val="1C2558"/>
          </a:solidFill>
          <a:ln>
            <a:noFill/>
          </a:ln>
        </p:spPr>
        <p:txBody>
          <a:bodyPr rtlCol="0" anchor="ctr"/>
          <a:lstStyle/>
          <a:p>
            <a:pPr algn="ctr"/>
            <a:endParaRPr/>
          </a:p>
        </p:txBody>
      </p:sp>
      <p:sp>
        <p:nvSpPr>
          <p:cNvPr id="906" name="TextBox 905"/>
          <p:cNvSpPr txBox="1"/>
          <p:nvPr/>
        </p:nvSpPr>
        <p:spPr>
          <a:xfrm>
            <a:off x="13642848" y="3246120"/>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آية مطابقة</a:t>
            </a:r>
          </a:p>
        </p:txBody>
      </p:sp>
      <p:sp>
        <p:nvSpPr>
          <p:cNvPr id="907" name="TextBox 906"/>
          <p:cNvSpPr txBox="1"/>
          <p:nvPr/>
        </p:nvSpPr>
        <p:spPr>
          <a:xfrm>
            <a:off x="12454128" y="3246120"/>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11/11</a:t>
            </a:r>
          </a:p>
        </p:txBody>
      </p:sp>
      <p:sp>
        <p:nvSpPr>
          <p:cNvPr id="908" name="Rounded Rectangle 907"/>
          <p:cNvSpPr/>
          <p:nvPr/>
        </p:nvSpPr>
        <p:spPr>
          <a:xfrm>
            <a:off x="12225528" y="4407408"/>
            <a:ext cx="4572000" cy="1005840"/>
          </a:xfrm>
          <a:prstGeom prst="roundRect">
            <a:avLst>
              <a:gd name="adj" fmla="val 22727"/>
            </a:avLst>
          </a:prstGeom>
          <a:solidFill>
            <a:srgbClr val="1C2558"/>
          </a:solidFill>
          <a:ln>
            <a:noFill/>
          </a:ln>
        </p:spPr>
        <p:txBody>
          <a:bodyPr rtlCol="0" anchor="ctr"/>
          <a:lstStyle/>
          <a:p>
            <a:pPr algn="ctr"/>
            <a:endParaRPr/>
          </a:p>
        </p:txBody>
      </p:sp>
      <p:sp>
        <p:nvSpPr>
          <p:cNvPr id="909" name="TextBox 908"/>
          <p:cNvSpPr txBox="1"/>
          <p:nvPr/>
        </p:nvSpPr>
        <p:spPr>
          <a:xfrm>
            <a:off x="13642848" y="4407408"/>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آية محرفة</a:t>
            </a:r>
          </a:p>
        </p:txBody>
      </p:sp>
      <p:sp>
        <p:nvSpPr>
          <p:cNvPr id="910" name="TextBox 909"/>
          <p:cNvSpPr txBox="1"/>
          <p:nvPr/>
        </p:nvSpPr>
        <p:spPr>
          <a:xfrm>
            <a:off x="12454128" y="4407408"/>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5/5</a:t>
            </a:r>
          </a:p>
        </p:txBody>
      </p:sp>
      <p:sp>
        <p:nvSpPr>
          <p:cNvPr id="911" name="Rounded Rectangle 910"/>
          <p:cNvSpPr/>
          <p:nvPr/>
        </p:nvSpPr>
        <p:spPr>
          <a:xfrm>
            <a:off x="12225528" y="5568696"/>
            <a:ext cx="4572000" cy="1005840"/>
          </a:xfrm>
          <a:prstGeom prst="roundRect">
            <a:avLst>
              <a:gd name="adj" fmla="val 22727"/>
            </a:avLst>
          </a:prstGeom>
          <a:solidFill>
            <a:srgbClr val="1C2558"/>
          </a:solidFill>
          <a:ln>
            <a:noFill/>
          </a:ln>
        </p:spPr>
        <p:txBody>
          <a:bodyPr rtlCol="0" anchor="ctr"/>
          <a:lstStyle/>
          <a:p>
            <a:pPr algn="ctr"/>
            <a:endParaRPr/>
          </a:p>
        </p:txBody>
      </p:sp>
      <p:sp>
        <p:nvSpPr>
          <p:cNvPr id="912" name="TextBox 911"/>
          <p:cNvSpPr txBox="1"/>
          <p:nvPr/>
        </p:nvSpPr>
        <p:spPr>
          <a:xfrm>
            <a:off x="13642848" y="5568696"/>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حديث عربي</a:t>
            </a:r>
          </a:p>
        </p:txBody>
      </p:sp>
      <p:sp>
        <p:nvSpPr>
          <p:cNvPr id="913" name="TextBox 912"/>
          <p:cNvSpPr txBox="1"/>
          <p:nvPr/>
        </p:nvSpPr>
        <p:spPr>
          <a:xfrm>
            <a:off x="12454128" y="5568696"/>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11/11</a:t>
            </a:r>
          </a:p>
        </p:txBody>
      </p:sp>
      <p:sp>
        <p:nvSpPr>
          <p:cNvPr id="914" name="Rounded Rectangle 913"/>
          <p:cNvSpPr/>
          <p:nvPr/>
        </p:nvSpPr>
        <p:spPr>
          <a:xfrm>
            <a:off x="12225528" y="6729983"/>
            <a:ext cx="4572000" cy="1005840"/>
          </a:xfrm>
          <a:prstGeom prst="roundRect">
            <a:avLst>
              <a:gd name="adj" fmla="val 22727"/>
            </a:avLst>
          </a:prstGeom>
          <a:solidFill>
            <a:srgbClr val="1C2558"/>
          </a:solidFill>
          <a:ln>
            <a:noFill/>
          </a:ln>
        </p:spPr>
        <p:txBody>
          <a:bodyPr rtlCol="0" anchor="ctr"/>
          <a:lstStyle/>
          <a:p>
            <a:pPr algn="ctr"/>
            <a:endParaRPr/>
          </a:p>
        </p:txBody>
      </p:sp>
      <p:sp>
        <p:nvSpPr>
          <p:cNvPr id="915" name="TextBox 914"/>
          <p:cNvSpPr txBox="1"/>
          <p:nvPr/>
        </p:nvSpPr>
        <p:spPr>
          <a:xfrm>
            <a:off x="13642848" y="6729983"/>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حديث بأخطاء إملائية</a:t>
            </a:r>
          </a:p>
        </p:txBody>
      </p:sp>
      <p:sp>
        <p:nvSpPr>
          <p:cNvPr id="916" name="TextBox 915"/>
          <p:cNvSpPr txBox="1"/>
          <p:nvPr/>
        </p:nvSpPr>
        <p:spPr>
          <a:xfrm>
            <a:off x="12454128" y="6729983"/>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5/5</a:t>
            </a:r>
          </a:p>
        </p:txBody>
      </p:sp>
      <p:sp>
        <p:nvSpPr>
          <p:cNvPr id="917" name="Rounded Rectangle 916"/>
          <p:cNvSpPr/>
          <p:nvPr/>
        </p:nvSpPr>
        <p:spPr>
          <a:xfrm>
            <a:off x="12225528" y="7891271"/>
            <a:ext cx="4572000" cy="1005840"/>
          </a:xfrm>
          <a:prstGeom prst="roundRect">
            <a:avLst>
              <a:gd name="adj" fmla="val 22727"/>
            </a:avLst>
          </a:prstGeom>
          <a:solidFill>
            <a:srgbClr val="1C2558"/>
          </a:solidFill>
          <a:ln>
            <a:noFill/>
          </a:ln>
        </p:spPr>
        <p:txBody>
          <a:bodyPr rtlCol="0" anchor="ctr"/>
          <a:lstStyle/>
          <a:p>
            <a:pPr algn="ctr"/>
            <a:endParaRPr/>
          </a:p>
        </p:txBody>
      </p:sp>
      <p:sp>
        <p:nvSpPr>
          <p:cNvPr id="918" name="TextBox 917"/>
          <p:cNvSpPr txBox="1"/>
          <p:nvPr/>
        </p:nvSpPr>
        <p:spPr>
          <a:xfrm>
            <a:off x="13642848" y="7891271"/>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ترجمات الحديث</a:t>
            </a:r>
          </a:p>
        </p:txBody>
      </p:sp>
      <p:sp>
        <p:nvSpPr>
          <p:cNvPr id="919" name="TextBox 918"/>
          <p:cNvSpPr txBox="1"/>
          <p:nvPr/>
        </p:nvSpPr>
        <p:spPr>
          <a:xfrm>
            <a:off x="12454128" y="7891271"/>
            <a:ext cx="1188720" cy="1005840"/>
          </a:xfrm>
          <a:prstGeom prst="rect">
            <a:avLst/>
          </a:prstGeom>
          <a:noFill/>
        </p:spPr>
        <p:txBody>
          <a:bodyPr wrap="square" lIns="0" tIns="0" rIns="0" bIns="0" anchor="ctr">
            <a:spAutoFit/>
          </a:bodyPr>
          <a:lstStyle/>
          <a:p>
            <a:pPr algn="l" rtl="0"/>
            <a:r>
              <a:rPr lang="en-US" sz="2200" b="1">
                <a:solidFill>
                  <a:srgbClr val="FFC48A"/>
                </a:solidFill>
                <a:latin typeface="Alexandria"/>
                <a:ea typeface="Alexandria"/>
                <a:cs typeface="Alexandria"/>
              </a:rPr>
              <a:t>5/6</a:t>
            </a:r>
          </a:p>
        </p:txBody>
      </p:sp>
      <p:sp>
        <p:nvSpPr>
          <p:cNvPr id="920" name="Rounded Rectangle 919"/>
          <p:cNvSpPr/>
          <p:nvPr/>
        </p:nvSpPr>
        <p:spPr>
          <a:xfrm>
            <a:off x="7516368" y="3246120"/>
            <a:ext cx="4572000" cy="1005840"/>
          </a:xfrm>
          <a:prstGeom prst="roundRect">
            <a:avLst>
              <a:gd name="adj" fmla="val 22727"/>
            </a:avLst>
          </a:prstGeom>
          <a:solidFill>
            <a:srgbClr val="1C2558"/>
          </a:solidFill>
          <a:ln>
            <a:noFill/>
          </a:ln>
        </p:spPr>
        <p:txBody>
          <a:bodyPr rtlCol="0" anchor="ctr"/>
          <a:lstStyle/>
          <a:p>
            <a:pPr algn="ctr"/>
            <a:endParaRPr/>
          </a:p>
        </p:txBody>
      </p:sp>
      <p:sp>
        <p:nvSpPr>
          <p:cNvPr id="921" name="TextBox 920"/>
          <p:cNvSpPr txBox="1"/>
          <p:nvPr/>
        </p:nvSpPr>
        <p:spPr>
          <a:xfrm>
            <a:off x="8933688" y="3246120"/>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نصوص مخترعة</a:t>
            </a:r>
          </a:p>
        </p:txBody>
      </p:sp>
      <p:sp>
        <p:nvSpPr>
          <p:cNvPr id="922" name="TextBox 921"/>
          <p:cNvSpPr txBox="1"/>
          <p:nvPr/>
        </p:nvSpPr>
        <p:spPr>
          <a:xfrm>
            <a:off x="7744968" y="3246120"/>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11/11</a:t>
            </a:r>
          </a:p>
        </p:txBody>
      </p:sp>
      <p:sp>
        <p:nvSpPr>
          <p:cNvPr id="923" name="Rounded Rectangle 922"/>
          <p:cNvSpPr/>
          <p:nvPr/>
        </p:nvSpPr>
        <p:spPr>
          <a:xfrm>
            <a:off x="7516368" y="4407408"/>
            <a:ext cx="4572000" cy="1005840"/>
          </a:xfrm>
          <a:prstGeom prst="roundRect">
            <a:avLst>
              <a:gd name="adj" fmla="val 22727"/>
            </a:avLst>
          </a:prstGeom>
          <a:solidFill>
            <a:srgbClr val="1C2558"/>
          </a:solidFill>
          <a:ln>
            <a:noFill/>
          </a:ln>
        </p:spPr>
        <p:txBody>
          <a:bodyPr rtlCol="0" anchor="ctr"/>
          <a:lstStyle/>
          <a:p>
            <a:pPr algn="ctr"/>
            <a:endParaRPr/>
          </a:p>
        </p:txBody>
      </p:sp>
      <p:sp>
        <p:nvSpPr>
          <p:cNvPr id="924" name="TextBox 923"/>
          <p:cNvSpPr txBox="1"/>
          <p:nvPr/>
        </p:nvSpPr>
        <p:spPr>
          <a:xfrm>
            <a:off x="8933688" y="4407408"/>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سجل العبارات المشتهرة</a:t>
            </a:r>
          </a:p>
        </p:txBody>
      </p:sp>
      <p:sp>
        <p:nvSpPr>
          <p:cNvPr id="925" name="TextBox 924"/>
          <p:cNvSpPr txBox="1"/>
          <p:nvPr/>
        </p:nvSpPr>
        <p:spPr>
          <a:xfrm>
            <a:off x="7744968" y="4407408"/>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13/13</a:t>
            </a:r>
          </a:p>
        </p:txBody>
      </p:sp>
      <p:sp>
        <p:nvSpPr>
          <p:cNvPr id="926" name="Rounded Rectangle 925"/>
          <p:cNvSpPr/>
          <p:nvPr/>
        </p:nvSpPr>
        <p:spPr>
          <a:xfrm>
            <a:off x="7516368" y="5568696"/>
            <a:ext cx="4572000" cy="1005840"/>
          </a:xfrm>
          <a:prstGeom prst="roundRect">
            <a:avLst>
              <a:gd name="adj" fmla="val 22727"/>
            </a:avLst>
          </a:prstGeom>
          <a:solidFill>
            <a:srgbClr val="1C2558"/>
          </a:solidFill>
          <a:ln>
            <a:noFill/>
          </a:ln>
        </p:spPr>
        <p:txBody>
          <a:bodyPr rtlCol="0" anchor="ctr"/>
          <a:lstStyle/>
          <a:p>
            <a:pPr algn="ctr"/>
            <a:endParaRPr/>
          </a:p>
        </p:txBody>
      </p:sp>
      <p:sp>
        <p:nvSpPr>
          <p:cNvPr id="927" name="TextBox 926"/>
          <p:cNvSpPr txBox="1"/>
          <p:nvPr/>
        </p:nvSpPr>
        <p:spPr>
          <a:xfrm>
            <a:off x="8933688" y="5568696"/>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حالات الحزمة العلمية</a:t>
            </a:r>
          </a:p>
        </p:txBody>
      </p:sp>
      <p:sp>
        <p:nvSpPr>
          <p:cNvPr id="928" name="TextBox 927"/>
          <p:cNvSpPr txBox="1"/>
          <p:nvPr/>
        </p:nvSpPr>
        <p:spPr>
          <a:xfrm>
            <a:off x="7744968" y="5568696"/>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8/8</a:t>
            </a:r>
          </a:p>
        </p:txBody>
      </p:sp>
      <p:sp>
        <p:nvSpPr>
          <p:cNvPr id="929" name="Rounded Rectangle 928"/>
          <p:cNvSpPr/>
          <p:nvPr/>
        </p:nvSpPr>
        <p:spPr>
          <a:xfrm>
            <a:off x="7516368" y="6729983"/>
            <a:ext cx="4572000" cy="1005840"/>
          </a:xfrm>
          <a:prstGeom prst="roundRect">
            <a:avLst>
              <a:gd name="adj" fmla="val 22727"/>
            </a:avLst>
          </a:prstGeom>
          <a:solidFill>
            <a:srgbClr val="1C2558"/>
          </a:solidFill>
          <a:ln>
            <a:noFill/>
          </a:ln>
        </p:spPr>
        <p:txBody>
          <a:bodyPr rtlCol="0" anchor="ctr"/>
          <a:lstStyle/>
          <a:p>
            <a:pPr algn="ctr"/>
            <a:endParaRPr/>
          </a:p>
        </p:txBody>
      </p:sp>
      <p:sp>
        <p:nvSpPr>
          <p:cNvPr id="930" name="TextBox 929"/>
          <p:cNvSpPr txBox="1"/>
          <p:nvPr/>
        </p:nvSpPr>
        <p:spPr>
          <a:xfrm>
            <a:off x="8933688" y="6729983"/>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نسبة خاطئة (آية/حديث)</a:t>
            </a:r>
          </a:p>
        </p:txBody>
      </p:sp>
      <p:sp>
        <p:nvSpPr>
          <p:cNvPr id="931" name="TextBox 930"/>
          <p:cNvSpPr txBox="1"/>
          <p:nvPr/>
        </p:nvSpPr>
        <p:spPr>
          <a:xfrm>
            <a:off x="7744968" y="6729983"/>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2/2</a:t>
            </a:r>
          </a:p>
        </p:txBody>
      </p:sp>
      <p:sp>
        <p:nvSpPr>
          <p:cNvPr id="932" name="Rounded Rectangle 931"/>
          <p:cNvSpPr/>
          <p:nvPr/>
        </p:nvSpPr>
        <p:spPr>
          <a:xfrm>
            <a:off x="7516368" y="7891271"/>
            <a:ext cx="4572000" cy="1005840"/>
          </a:xfrm>
          <a:prstGeom prst="roundRect">
            <a:avLst>
              <a:gd name="adj" fmla="val 22727"/>
            </a:avLst>
          </a:prstGeom>
          <a:solidFill>
            <a:srgbClr val="1C2558"/>
          </a:solidFill>
          <a:ln>
            <a:noFill/>
          </a:ln>
        </p:spPr>
        <p:txBody>
          <a:bodyPr rtlCol="0" anchor="ctr"/>
          <a:lstStyle/>
          <a:p>
            <a:pPr algn="ctr"/>
            <a:endParaRPr/>
          </a:p>
        </p:txBody>
      </p:sp>
      <p:sp>
        <p:nvSpPr>
          <p:cNvPr id="933" name="TextBox 932"/>
          <p:cNvSpPr txBox="1"/>
          <p:nvPr/>
        </p:nvSpPr>
        <p:spPr>
          <a:xfrm>
            <a:off x="8933688" y="7891271"/>
            <a:ext cx="2926080" cy="1005840"/>
          </a:xfrm>
          <a:prstGeom prst="rect">
            <a:avLst/>
          </a:prstGeom>
          <a:noFill/>
        </p:spPr>
        <p:txBody>
          <a:bodyPr wrap="square" lIns="0" tIns="0" rIns="0" bIns="0" anchor="ctr">
            <a:spAutoFit/>
          </a:bodyPr>
          <a:lstStyle/>
          <a:p>
            <a:pPr algn="r" rtl="1"/>
            <a:r>
              <a:rPr lang="ar-SA" sz="1600" b="1">
                <a:solidFill>
                  <a:srgbClr val="F2F4FF"/>
                </a:solidFill>
                <a:latin typeface="Alexandria"/>
                <a:ea typeface="Alexandria"/>
                <a:cs typeface="Alexandria"/>
              </a:rPr>
              <a:t>رسالة متعددة النصوص</a:t>
            </a:r>
          </a:p>
        </p:txBody>
      </p:sp>
      <p:sp>
        <p:nvSpPr>
          <p:cNvPr id="934" name="TextBox 933"/>
          <p:cNvSpPr txBox="1"/>
          <p:nvPr/>
        </p:nvSpPr>
        <p:spPr>
          <a:xfrm>
            <a:off x="7744968" y="7891271"/>
            <a:ext cx="1188720" cy="100584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1/1</a:t>
            </a:r>
          </a:p>
        </p:txBody>
      </p:sp>
      <p:sp>
        <p:nvSpPr>
          <p:cNvPr id="935" name="Rounded Rectangle 934"/>
          <p:cNvSpPr/>
          <p:nvPr/>
        </p:nvSpPr>
        <p:spPr>
          <a:xfrm>
            <a:off x="1408176" y="3246120"/>
            <a:ext cx="5852160" cy="5715000"/>
          </a:xfrm>
          <a:prstGeom prst="roundRect">
            <a:avLst>
              <a:gd name="adj" fmla="val 4800"/>
            </a:avLst>
          </a:prstGeom>
          <a:solidFill>
            <a:srgbClr val="1C2558"/>
          </a:solidFill>
          <a:ln>
            <a:noFill/>
          </a:ln>
        </p:spPr>
        <p:txBody>
          <a:bodyPr rtlCol="0" anchor="ctr"/>
          <a:lstStyle/>
          <a:p>
            <a:pPr algn="ctr"/>
            <a:endParaRPr/>
          </a:p>
        </p:txBody>
      </p:sp>
      <p:sp>
        <p:nvSpPr>
          <p:cNvPr id="936" name="TextBox 935"/>
          <p:cNvSpPr txBox="1"/>
          <p:nvPr/>
        </p:nvSpPr>
        <p:spPr>
          <a:xfrm>
            <a:off x="1691640" y="3474720"/>
            <a:ext cx="5303520" cy="50292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بصراحة: حدود هذا القياس</a:t>
            </a:r>
          </a:p>
        </p:txBody>
      </p:sp>
      <p:sp>
        <p:nvSpPr>
          <p:cNvPr id="937" name="TextBox 936"/>
          <p:cNvSpPr txBox="1"/>
          <p:nvPr/>
        </p:nvSpPr>
        <p:spPr>
          <a:xfrm>
            <a:off x="1691640" y="4069080"/>
            <a:ext cx="5303520" cy="4846320"/>
          </a:xfrm>
          <a:prstGeom prst="rect">
            <a:avLst/>
          </a:prstGeom>
          <a:noFill/>
        </p:spPr>
        <p:txBody>
          <a:bodyPr wrap="square" lIns="0" tIns="0" rIns="0" bIns="0" anchor="t">
            <a:spAutoFit/>
          </a:bodyPr>
          <a:lstStyle/>
          <a:p>
            <a:pPr algn="r" rtl="1">
              <a:lnSpc>
                <a:spcPct val="112000"/>
              </a:lnSpc>
              <a:spcAft>
                <a:spcPts val="1000"/>
              </a:spcAft>
            </a:pPr>
            <a:r>
              <a:rPr lang="ar-SA" sz="1500" b="0">
                <a:solidFill>
                  <a:srgbClr val="F2F4FF"/>
                </a:solidFill>
                <a:latin typeface="Alexandria"/>
                <a:ea typeface="Alexandria"/>
                <a:cs typeface="Alexandria"/>
              </a:rPr>
              <a:t>الحالات كتبت أثناء التطوير، فالأرقام متفائلة؛ الاختبار الأصدق مجموعة مستقلة يكتبها مختص (قيد الإعداد مع المرشد الشرعي).</a:t>
            </a:r>
          </a:p>
          <a:p>
            <a:pPr algn="r" rtl="1">
              <a:lnSpc>
                <a:spcPct val="112000"/>
              </a:lnSpc>
              <a:spcAft>
                <a:spcPts val="1000"/>
              </a:spcAft>
            </a:pPr>
            <a:r>
              <a:rPr lang="ar-SA" sz="1500" b="0">
                <a:solidFill>
                  <a:srgbClr val="F2F4FF"/>
                </a:solidFill>
                <a:latin typeface="Alexandria"/>
                <a:ea typeface="Alexandria"/>
                <a:cs typeface="Alexandria"/>
              </a:rPr>
              <a:t>الحالة الوحيدة غير المطابقة: ترجمة إندونيسية بعيدة عن الترجمة المنشورة — فامتنع ثبت («لم نجد»)، ولم يخطئ خطأ حرجا.</a:t>
            </a:r>
          </a:p>
          <a:p>
            <a:pPr algn="r" rtl="1">
              <a:lnSpc>
                <a:spcPct val="112000"/>
              </a:lnSpc>
              <a:spcAft>
                <a:spcPts val="1000"/>
              </a:spcAft>
            </a:pPr>
            <a:r>
              <a:rPr lang="ar-SA" sz="1500" b="0">
                <a:solidFill>
                  <a:srgbClr val="F2F4FF"/>
                </a:solidFill>
                <a:latin typeface="Alexandria"/>
                <a:ea typeface="Alexandria"/>
                <a:cs typeface="Alexandria"/>
              </a:rPr>
              <a:t>أحكام المحققين تؤخذ من البيانات كما نشرت، ولا يقيمها ثبت.</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a:spLocks noGrp="1"/>
          </p:cNvSpPr>
          <p:nvPr>
            <p:ph type="body" idx="1"/>
          </p:nvPr>
        </p:nvSpPr>
        <p:spPr>
          <a:xfrm>
            <a:off x="13125450" y="3143250"/>
            <a:ext cx="3619500" cy="12384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8400"/>
              <a:buNone/>
            </a:pPr>
            <a:r>
              <a:rPr lang="en-US" sz="8400" b="1">
                <a:solidFill>
                  <a:srgbClr val="2EF2C2"/>
                </a:solidFill>
                <a:latin typeface="Alexandria"/>
                <a:ea typeface="Alexandria"/>
                <a:cs typeface="Alexandria"/>
                <a:sym typeface="Readex Pro"/>
              </a:rPr>
              <a:t>05</a:t>
            </a:r>
            <a:endParaRPr/>
          </a:p>
        </p:txBody>
      </p:sp>
      <p:sp>
        <p:nvSpPr>
          <p:cNvPr id="528" name="Google Shape;528;p10"/>
          <p:cNvSpPr txBox="1">
            <a:spLocks noGrp="1"/>
          </p:cNvSpPr>
          <p:nvPr>
            <p:ph type="title"/>
          </p:nvPr>
        </p:nvSpPr>
        <p:spPr>
          <a:xfrm>
            <a:off x="9179000" y="4810125"/>
            <a:ext cx="7566000" cy="1238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000"/>
              <a:buNone/>
            </a:pPr>
            <a:r>
              <a:rPr lang="ar-SA" sz="6000" b="1">
                <a:solidFill>
                  <a:srgbClr val="F2F4FF"/>
                </a:solidFill>
                <a:latin typeface="Alexandria"/>
                <a:ea typeface="Alexandria"/>
                <a:cs typeface="Alexandria"/>
                <a:sym typeface="Readex Pro"/>
              </a:rPr>
              <a:t>الهوية والتجربة</a:t>
            </a:r>
            <a:endParaRPr/>
          </a:p>
        </p:txBody>
      </p:sp>
      <p:sp>
        <p:nvSpPr>
          <p:cNvPr id="529" name="Google Shape;529;p10"/>
          <p:cNvSpPr txBox="1">
            <a:spLocks noGrp="1"/>
          </p:cNvSpPr>
          <p:nvPr>
            <p:ph type="body" idx="2"/>
          </p:nvPr>
        </p:nvSpPr>
        <p:spPr>
          <a:xfrm>
            <a:off x="9729275" y="6572250"/>
            <a:ext cx="7015500" cy="675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0">
                <a:solidFill>
                  <a:srgbClr val="CBCFE6"/>
                </a:solidFill>
                <a:latin typeface="Alexandria"/>
                <a:ea typeface="Alexandria"/>
                <a:cs typeface="Alexandria"/>
                <a:sym typeface="Readex Pro"/>
              </a:rPr>
              <a:t>من فكرة الشعار… إلى آخر مرجع</a:t>
            </a:r>
            <a:endParaRPr/>
          </a:p>
        </p:txBody>
      </p:sp>
      <p:pic>
        <p:nvPicPr>
          <p:cNvPr id="530" name="Google Shape;530;p10"/>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27</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الهوية</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فكرة الشعار: رسالة، وسطر تحققنا منه</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هوية بصرية كاملة صممت للمشروع — 23 لوحة، من الاستراتيجية إلى التطبيقات</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pic>
        <p:nvPicPr>
          <p:cNvPr id="905" name="Picture 904" descr="10.jpg"/>
          <p:cNvPicPr>
            <a:picLocks noChangeAspect="1"/>
          </p:cNvPicPr>
          <p:nvPr/>
        </p:nvPicPr>
        <p:blipFill>
          <a:blip r:embed="rId5"/>
          <a:stretch>
            <a:fillRect/>
          </a:stretch>
        </p:blipFill>
        <p:spPr>
          <a:xfrm>
            <a:off x="1408176" y="3154680"/>
            <a:ext cx="8778240" cy="4937760"/>
          </a:xfrm>
          <a:prstGeom prst="roundRect">
            <a:avLst>
              <a:gd name="adj" fmla="val 4629"/>
            </a:avLst>
          </a:prstGeom>
          <a:effectLst>
            <a:outerShdw blurRad="380000" dist="120000" dir="5400000" algn="t" rotWithShape="0">
              <a:srgbClr val="000000">
                <a:alpha val="40000"/>
              </a:srgbClr>
            </a:outerShdw>
          </a:effectLst>
        </p:spPr>
      </p:pic>
      <p:sp>
        <p:nvSpPr>
          <p:cNvPr id="906" name="TextBox 905"/>
          <p:cNvSpPr txBox="1"/>
          <p:nvPr/>
        </p:nvSpPr>
        <p:spPr>
          <a:xfrm>
            <a:off x="10607040" y="3200400"/>
            <a:ext cx="6236208"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ثلاثة أسطر</a:t>
            </a:r>
          </a:p>
        </p:txBody>
      </p:sp>
      <p:sp>
        <p:nvSpPr>
          <p:cNvPr id="907" name="TextBox 906"/>
          <p:cNvSpPr txBox="1"/>
          <p:nvPr/>
        </p:nvSpPr>
        <p:spPr>
          <a:xfrm>
            <a:off x="10607040" y="3639312"/>
            <a:ext cx="6236208" cy="54864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الرسالة المعاد توجيهها، بمحاذاة يمينية كالنص العربي</a:t>
            </a:r>
          </a:p>
        </p:txBody>
      </p:sp>
      <p:sp>
        <p:nvSpPr>
          <p:cNvPr id="908" name="TextBox 907"/>
          <p:cNvSpPr txBox="1"/>
          <p:nvPr/>
        </p:nvSpPr>
        <p:spPr>
          <a:xfrm>
            <a:off x="10607040" y="4279392"/>
            <a:ext cx="6236208"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السطر المظلل</a:t>
            </a:r>
          </a:p>
        </p:txBody>
      </p:sp>
      <p:sp>
        <p:nvSpPr>
          <p:cNvPr id="909" name="TextBox 908"/>
          <p:cNvSpPr txBox="1"/>
          <p:nvPr/>
        </p:nvSpPr>
        <p:spPr>
          <a:xfrm>
            <a:off x="10607040" y="4718304"/>
            <a:ext cx="6236208" cy="54864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النص الذي وجدناه وثبتناه</a:t>
            </a:r>
          </a:p>
        </p:txBody>
      </p:sp>
      <p:sp>
        <p:nvSpPr>
          <p:cNvPr id="910" name="TextBox 909"/>
          <p:cNvSpPr txBox="1"/>
          <p:nvPr/>
        </p:nvSpPr>
        <p:spPr>
          <a:xfrm>
            <a:off x="10607040" y="5358383"/>
            <a:ext cx="6236208"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المعين</a:t>
            </a:r>
          </a:p>
        </p:txBody>
      </p:sp>
      <p:sp>
        <p:nvSpPr>
          <p:cNvPr id="911" name="TextBox 910"/>
          <p:cNvSpPr txBox="1"/>
          <p:nvPr/>
        </p:nvSpPr>
        <p:spPr>
          <a:xfrm>
            <a:off x="10607040" y="5797296"/>
            <a:ext cx="6236208" cy="54864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المؤشر: «هنا»</a:t>
            </a:r>
          </a:p>
        </p:txBody>
      </p:sp>
      <p:sp>
        <p:nvSpPr>
          <p:cNvPr id="912" name="TextBox 911"/>
          <p:cNvSpPr txBox="1"/>
          <p:nvPr/>
        </p:nvSpPr>
        <p:spPr>
          <a:xfrm>
            <a:off x="10607040" y="6437376"/>
            <a:ext cx="6236208" cy="457200"/>
          </a:xfrm>
          <a:prstGeom prst="rect">
            <a:avLst/>
          </a:prstGeom>
          <a:noFill/>
        </p:spPr>
        <p:txBody>
          <a:bodyPr wrap="square" lIns="0" tIns="0" rIns="0" bIns="0" anchor="t">
            <a:spAutoFit/>
          </a:bodyPr>
          <a:lstStyle/>
          <a:p>
            <a:pPr algn="r" rtl="1"/>
            <a:r>
              <a:rPr lang="ar-SA" sz="2000" b="1">
                <a:solidFill>
                  <a:srgbClr val="2EF2C2"/>
                </a:solidFill>
                <a:latin typeface="Alexandria"/>
                <a:ea typeface="Alexandria"/>
                <a:cs typeface="Alexandria"/>
              </a:rPr>
              <a:t>المربع المستدير</a:t>
            </a:r>
          </a:p>
        </p:txBody>
      </p:sp>
      <p:sp>
        <p:nvSpPr>
          <p:cNvPr id="913" name="TextBox 912"/>
          <p:cNvSpPr txBox="1"/>
          <p:nvPr/>
        </p:nvSpPr>
        <p:spPr>
          <a:xfrm>
            <a:off x="10607040" y="6876288"/>
            <a:ext cx="6236208" cy="54864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أيقونة تطبيق، وأمان وألفة</a:t>
            </a:r>
          </a:p>
        </p:txBody>
      </p:sp>
      <p:sp>
        <p:nvSpPr>
          <p:cNvPr id="914" name="Rounded Rectangle 913"/>
          <p:cNvSpPr/>
          <p:nvPr/>
        </p:nvSpPr>
        <p:spPr>
          <a:xfrm>
            <a:off x="15837408" y="7680960"/>
            <a:ext cx="960120" cy="960120"/>
          </a:xfrm>
          <a:prstGeom prst="roundRect">
            <a:avLst>
              <a:gd name="adj" fmla="val 20952"/>
            </a:avLst>
          </a:prstGeom>
          <a:solidFill>
            <a:srgbClr val="1D1B33"/>
          </a:solidFill>
          <a:ln w="15875">
            <a:solidFill>
              <a:srgbClr val="3A4480"/>
            </a:solidFill>
          </a:ln>
        </p:spPr>
        <p:txBody>
          <a:bodyPr rtlCol="0" anchor="ctr"/>
          <a:lstStyle/>
          <a:p>
            <a:pPr algn="ctr"/>
            <a:endParaRPr/>
          </a:p>
        </p:txBody>
      </p:sp>
      <p:sp>
        <p:nvSpPr>
          <p:cNvPr id="915" name="TextBox 914"/>
          <p:cNvSpPr txBox="1"/>
          <p:nvPr/>
        </p:nvSpPr>
        <p:spPr>
          <a:xfrm>
            <a:off x="15791688" y="8686800"/>
            <a:ext cx="1051560" cy="365760"/>
          </a:xfrm>
          <a:prstGeom prst="rect">
            <a:avLst/>
          </a:prstGeom>
          <a:noFill/>
        </p:spPr>
        <p:txBody>
          <a:bodyPr wrap="square" lIns="0" tIns="0" rIns="0" bIns="0" anchor="t">
            <a:spAutoFit/>
          </a:bodyPr>
          <a:lstStyle/>
          <a:p>
            <a:pPr algn="ctr" rtl="1"/>
            <a:r>
              <a:rPr lang="ar-SA" sz="1300" b="0">
                <a:solidFill>
                  <a:srgbClr val="AEB4DA"/>
                </a:solidFill>
                <a:latin typeface="Alexandria"/>
                <a:ea typeface="Alexandria"/>
                <a:cs typeface="Alexandria"/>
              </a:rPr>
              <a:t>ليل</a:t>
            </a:r>
          </a:p>
        </p:txBody>
      </p:sp>
      <p:sp>
        <p:nvSpPr>
          <p:cNvPr id="916" name="Rounded Rectangle 915"/>
          <p:cNvSpPr/>
          <p:nvPr/>
        </p:nvSpPr>
        <p:spPr>
          <a:xfrm>
            <a:off x="14785848" y="7680960"/>
            <a:ext cx="960120" cy="960120"/>
          </a:xfrm>
          <a:prstGeom prst="roundRect">
            <a:avLst>
              <a:gd name="adj" fmla="val 20952"/>
            </a:avLst>
          </a:prstGeom>
          <a:solidFill>
            <a:srgbClr val="2BD49A"/>
          </a:solidFill>
          <a:ln>
            <a:noFill/>
          </a:ln>
        </p:spPr>
        <p:txBody>
          <a:bodyPr rtlCol="0" anchor="ctr"/>
          <a:lstStyle/>
          <a:p>
            <a:pPr algn="ctr"/>
            <a:endParaRPr/>
          </a:p>
        </p:txBody>
      </p:sp>
      <p:sp>
        <p:nvSpPr>
          <p:cNvPr id="917" name="TextBox 916"/>
          <p:cNvSpPr txBox="1"/>
          <p:nvPr/>
        </p:nvSpPr>
        <p:spPr>
          <a:xfrm>
            <a:off x="14740128" y="8686800"/>
            <a:ext cx="1051560" cy="365760"/>
          </a:xfrm>
          <a:prstGeom prst="rect">
            <a:avLst/>
          </a:prstGeom>
          <a:noFill/>
        </p:spPr>
        <p:txBody>
          <a:bodyPr wrap="square" lIns="0" tIns="0" rIns="0" bIns="0" anchor="t">
            <a:spAutoFit/>
          </a:bodyPr>
          <a:lstStyle/>
          <a:p>
            <a:pPr algn="ctr" rtl="1"/>
            <a:r>
              <a:rPr lang="ar-SA" sz="1300" b="0">
                <a:solidFill>
                  <a:srgbClr val="AEB4DA"/>
                </a:solidFill>
                <a:latin typeface="Alexandria"/>
                <a:ea typeface="Alexandria"/>
                <a:cs typeface="Alexandria"/>
              </a:rPr>
              <a:t>نور</a:t>
            </a:r>
          </a:p>
        </p:txBody>
      </p:sp>
      <p:sp>
        <p:nvSpPr>
          <p:cNvPr id="918" name="Rounded Rectangle 917"/>
          <p:cNvSpPr/>
          <p:nvPr/>
        </p:nvSpPr>
        <p:spPr>
          <a:xfrm>
            <a:off x="13734288" y="7680960"/>
            <a:ext cx="960120" cy="960120"/>
          </a:xfrm>
          <a:prstGeom prst="roundRect">
            <a:avLst>
              <a:gd name="adj" fmla="val 20952"/>
            </a:avLst>
          </a:prstGeom>
          <a:solidFill>
            <a:srgbClr val="FFF7EC"/>
          </a:solidFill>
          <a:ln>
            <a:noFill/>
          </a:ln>
        </p:spPr>
        <p:txBody>
          <a:bodyPr rtlCol="0" anchor="ctr"/>
          <a:lstStyle/>
          <a:p>
            <a:pPr algn="ctr"/>
            <a:endParaRPr/>
          </a:p>
        </p:txBody>
      </p:sp>
      <p:sp>
        <p:nvSpPr>
          <p:cNvPr id="919" name="TextBox 918"/>
          <p:cNvSpPr txBox="1"/>
          <p:nvPr/>
        </p:nvSpPr>
        <p:spPr>
          <a:xfrm>
            <a:off x="13688568" y="8686800"/>
            <a:ext cx="1051560" cy="365760"/>
          </a:xfrm>
          <a:prstGeom prst="rect">
            <a:avLst/>
          </a:prstGeom>
          <a:noFill/>
        </p:spPr>
        <p:txBody>
          <a:bodyPr wrap="square" lIns="0" tIns="0" rIns="0" bIns="0" anchor="t">
            <a:spAutoFit/>
          </a:bodyPr>
          <a:lstStyle/>
          <a:p>
            <a:pPr algn="ctr" rtl="1"/>
            <a:r>
              <a:rPr lang="ar-SA" sz="1300" b="0">
                <a:solidFill>
                  <a:srgbClr val="AEB4DA"/>
                </a:solidFill>
                <a:latin typeface="Alexandria"/>
                <a:ea typeface="Alexandria"/>
                <a:cs typeface="Alexandria"/>
              </a:rPr>
              <a:t>صباح</a:t>
            </a:r>
          </a:p>
        </p:txBody>
      </p:sp>
      <p:sp>
        <p:nvSpPr>
          <p:cNvPr id="920" name="Rounded Rectangle 919"/>
          <p:cNvSpPr/>
          <p:nvPr/>
        </p:nvSpPr>
        <p:spPr>
          <a:xfrm>
            <a:off x="12682728" y="7680960"/>
            <a:ext cx="960120" cy="960120"/>
          </a:xfrm>
          <a:prstGeom prst="roundRect">
            <a:avLst>
              <a:gd name="adj" fmla="val 20952"/>
            </a:avLst>
          </a:prstGeom>
          <a:solidFill>
            <a:srgbClr val="F1E7D8"/>
          </a:solidFill>
          <a:ln>
            <a:noFill/>
          </a:ln>
        </p:spPr>
        <p:txBody>
          <a:bodyPr rtlCol="0" anchor="ctr"/>
          <a:lstStyle/>
          <a:p>
            <a:pPr algn="ctr"/>
            <a:endParaRPr/>
          </a:p>
        </p:txBody>
      </p:sp>
      <p:sp>
        <p:nvSpPr>
          <p:cNvPr id="921" name="TextBox 920"/>
          <p:cNvSpPr txBox="1"/>
          <p:nvPr/>
        </p:nvSpPr>
        <p:spPr>
          <a:xfrm>
            <a:off x="12637008" y="8686800"/>
            <a:ext cx="1051560" cy="365760"/>
          </a:xfrm>
          <a:prstGeom prst="rect">
            <a:avLst/>
          </a:prstGeom>
          <a:noFill/>
        </p:spPr>
        <p:txBody>
          <a:bodyPr wrap="square" lIns="0" tIns="0" rIns="0" bIns="0" anchor="t">
            <a:spAutoFit/>
          </a:bodyPr>
          <a:lstStyle/>
          <a:p>
            <a:pPr algn="ctr" rtl="1"/>
            <a:r>
              <a:rPr lang="ar-SA" sz="1300" b="0">
                <a:solidFill>
                  <a:srgbClr val="AEB4DA"/>
                </a:solidFill>
                <a:latin typeface="Alexandria"/>
                <a:ea typeface="Alexandria"/>
                <a:cs typeface="Alexandria"/>
              </a:rPr>
              <a:t>رمل</a:t>
            </a:r>
          </a:p>
        </p:txBody>
      </p:sp>
      <p:sp>
        <p:nvSpPr>
          <p:cNvPr id="922" name="Rounded Rectangle 921"/>
          <p:cNvSpPr/>
          <p:nvPr/>
        </p:nvSpPr>
        <p:spPr>
          <a:xfrm>
            <a:off x="11631168" y="7680960"/>
            <a:ext cx="960120" cy="960120"/>
          </a:xfrm>
          <a:prstGeom prst="roundRect">
            <a:avLst>
              <a:gd name="adj" fmla="val 20952"/>
            </a:avLst>
          </a:prstGeom>
          <a:solidFill>
            <a:srgbClr val="CDBFFF"/>
          </a:solidFill>
          <a:ln>
            <a:noFill/>
          </a:ln>
        </p:spPr>
        <p:txBody>
          <a:bodyPr rtlCol="0" anchor="ctr"/>
          <a:lstStyle/>
          <a:p>
            <a:pPr algn="ctr"/>
            <a:endParaRPr/>
          </a:p>
        </p:txBody>
      </p:sp>
      <p:sp>
        <p:nvSpPr>
          <p:cNvPr id="923" name="TextBox 922"/>
          <p:cNvSpPr txBox="1"/>
          <p:nvPr/>
        </p:nvSpPr>
        <p:spPr>
          <a:xfrm>
            <a:off x="11585448" y="8686800"/>
            <a:ext cx="1051560" cy="365760"/>
          </a:xfrm>
          <a:prstGeom prst="rect">
            <a:avLst/>
          </a:prstGeom>
          <a:noFill/>
        </p:spPr>
        <p:txBody>
          <a:bodyPr wrap="square" lIns="0" tIns="0" rIns="0" bIns="0" anchor="t">
            <a:spAutoFit/>
          </a:bodyPr>
          <a:lstStyle/>
          <a:p>
            <a:pPr algn="ctr" rtl="1"/>
            <a:r>
              <a:rPr lang="ar-SA" sz="1300" b="0">
                <a:solidFill>
                  <a:srgbClr val="AEB4DA"/>
                </a:solidFill>
                <a:latin typeface="Alexandria"/>
                <a:ea typeface="Alexandria"/>
                <a:cs typeface="Alexandria"/>
              </a:rPr>
              <a:t>خزامى</a:t>
            </a:r>
          </a:p>
        </p:txBody>
      </p:sp>
      <p:sp>
        <p:nvSpPr>
          <p:cNvPr id="924" name="Rounded Rectangle 923"/>
          <p:cNvSpPr/>
          <p:nvPr/>
        </p:nvSpPr>
        <p:spPr>
          <a:xfrm>
            <a:off x="10579608" y="7680960"/>
            <a:ext cx="960120" cy="960120"/>
          </a:xfrm>
          <a:prstGeom prst="roundRect">
            <a:avLst>
              <a:gd name="adj" fmla="val 20952"/>
            </a:avLst>
          </a:prstGeom>
          <a:solidFill>
            <a:srgbClr val="FFC48A"/>
          </a:solidFill>
          <a:ln>
            <a:noFill/>
          </a:ln>
        </p:spPr>
        <p:txBody>
          <a:bodyPr rtlCol="0" anchor="ctr"/>
          <a:lstStyle/>
          <a:p>
            <a:pPr algn="ctr"/>
            <a:endParaRPr/>
          </a:p>
        </p:txBody>
      </p:sp>
      <p:sp>
        <p:nvSpPr>
          <p:cNvPr id="925" name="TextBox 924"/>
          <p:cNvSpPr txBox="1"/>
          <p:nvPr/>
        </p:nvSpPr>
        <p:spPr>
          <a:xfrm>
            <a:off x="10533888" y="8686800"/>
            <a:ext cx="1051560" cy="365760"/>
          </a:xfrm>
          <a:prstGeom prst="rect">
            <a:avLst/>
          </a:prstGeom>
          <a:noFill/>
        </p:spPr>
        <p:txBody>
          <a:bodyPr wrap="square" lIns="0" tIns="0" rIns="0" bIns="0" anchor="t">
            <a:spAutoFit/>
          </a:bodyPr>
          <a:lstStyle/>
          <a:p>
            <a:pPr algn="ctr" rtl="1"/>
            <a:r>
              <a:rPr lang="ar-SA" sz="1300" b="0">
                <a:solidFill>
                  <a:srgbClr val="AEB4DA"/>
                </a:solidFill>
                <a:latin typeface="Alexandria"/>
                <a:ea typeface="Alexandria"/>
                <a:cs typeface="Alexandria"/>
              </a:rPr>
              <a:t>مشمش</a:t>
            </a:r>
          </a:p>
        </p:txBody>
      </p:sp>
      <p:sp>
        <p:nvSpPr>
          <p:cNvPr id="926" name="TextBox 925"/>
          <p:cNvSpPr txBox="1"/>
          <p:nvPr/>
        </p:nvSpPr>
        <p:spPr>
          <a:xfrm>
            <a:off x="10607040" y="7360920"/>
            <a:ext cx="6236208" cy="320040"/>
          </a:xfrm>
          <a:prstGeom prst="rect">
            <a:avLst/>
          </a:prstGeom>
          <a:noFill/>
        </p:spPr>
        <p:txBody>
          <a:bodyPr wrap="square" lIns="0" tIns="0" rIns="0" bIns="0" anchor="t">
            <a:spAutoFit/>
          </a:bodyPr>
          <a:lstStyle/>
          <a:p>
            <a:pPr algn="r" rtl="1"/>
            <a:r>
              <a:rPr lang="ar-SA" sz="1400" b="0">
                <a:solidFill>
                  <a:srgbClr val="AEB4DA"/>
                </a:solidFill>
                <a:latin typeface="Alexandria"/>
                <a:ea typeface="Alexandria"/>
                <a:cs typeface="Alexandria"/>
              </a:rPr>
              <a:t>لوحة الألوان</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28</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الهوية</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الهوية في التطبيق</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من الشاشة إلى المعرض — تعرض كاملة في صفحة «عن ثبت» على الموقع</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pic>
        <p:nvPicPr>
          <p:cNvPr id="913" name="Picture 912" descr="11.jpg"/>
          <p:cNvPicPr>
            <a:picLocks noChangeAspect="1"/>
          </p:cNvPicPr>
          <p:nvPr/>
        </p:nvPicPr>
        <p:blipFill>
          <a:blip r:embed="rId5"/>
          <a:stretch>
            <a:fillRect/>
          </a:stretch>
        </p:blipFill>
        <p:spPr>
          <a:xfrm>
            <a:off x="11768328" y="3291840"/>
            <a:ext cx="5029200" cy="2828925"/>
          </a:xfrm>
          <a:prstGeom prst="roundRect">
            <a:avLst>
              <a:gd name="adj" fmla="val 8080"/>
            </a:avLst>
          </a:prstGeom>
          <a:effectLst>
            <a:outerShdw blurRad="380000" dist="120000" dir="5400000" algn="t" rotWithShape="0">
              <a:srgbClr val="000000">
                <a:alpha val="40000"/>
              </a:srgbClr>
            </a:outerShdw>
          </a:effectLst>
        </p:spPr>
      </p:pic>
      <p:sp>
        <p:nvSpPr>
          <p:cNvPr id="914" name="TextBox 913"/>
          <p:cNvSpPr txBox="1"/>
          <p:nvPr/>
        </p:nvSpPr>
        <p:spPr>
          <a:xfrm>
            <a:off x="11768328" y="6263640"/>
            <a:ext cx="5029200" cy="457200"/>
          </a:xfrm>
          <a:prstGeom prst="rect">
            <a:avLst/>
          </a:prstGeom>
          <a:noFill/>
        </p:spPr>
        <p:txBody>
          <a:bodyPr wrap="square" lIns="0" tIns="0" rIns="0" bIns="0" anchor="t">
            <a:spAutoFit/>
          </a:bodyPr>
          <a:lstStyle/>
          <a:p>
            <a:pPr algn="ctr" rtl="1"/>
            <a:r>
              <a:rPr lang="ar-SA" sz="1700" b="1">
                <a:solidFill>
                  <a:srgbClr val="12183F"/>
                </a:solidFill>
                <a:latin typeface="Alexandria"/>
                <a:ea typeface="Alexandria"/>
                <a:cs typeface="Alexandria"/>
              </a:rPr>
              <a:t>التطبيق في يد المستخدم</a:t>
            </a:r>
          </a:p>
        </p:txBody>
      </p:sp>
      <p:pic>
        <p:nvPicPr>
          <p:cNvPr id="915" name="Picture 914" descr="15.jpg"/>
          <p:cNvPicPr>
            <a:picLocks noChangeAspect="1"/>
          </p:cNvPicPr>
          <p:nvPr/>
        </p:nvPicPr>
        <p:blipFill>
          <a:blip r:embed="rId6"/>
          <a:stretch>
            <a:fillRect/>
          </a:stretch>
        </p:blipFill>
        <p:spPr>
          <a:xfrm>
            <a:off x="6601968" y="3291840"/>
            <a:ext cx="5029200" cy="2828925"/>
          </a:xfrm>
          <a:prstGeom prst="roundRect">
            <a:avLst>
              <a:gd name="adj" fmla="val 8080"/>
            </a:avLst>
          </a:prstGeom>
          <a:effectLst>
            <a:outerShdw blurRad="380000" dist="120000" dir="5400000" algn="t" rotWithShape="0">
              <a:srgbClr val="000000">
                <a:alpha val="40000"/>
              </a:srgbClr>
            </a:outerShdw>
          </a:effectLst>
        </p:spPr>
      </p:pic>
      <p:sp>
        <p:nvSpPr>
          <p:cNvPr id="916" name="TextBox 915"/>
          <p:cNvSpPr txBox="1"/>
          <p:nvPr/>
        </p:nvSpPr>
        <p:spPr>
          <a:xfrm>
            <a:off x="6601968" y="6263640"/>
            <a:ext cx="5029200" cy="457200"/>
          </a:xfrm>
          <a:prstGeom prst="rect">
            <a:avLst/>
          </a:prstGeom>
          <a:noFill/>
        </p:spPr>
        <p:txBody>
          <a:bodyPr wrap="square" lIns="0" tIns="0" rIns="0" bIns="0" anchor="t">
            <a:spAutoFit/>
          </a:bodyPr>
          <a:lstStyle/>
          <a:p>
            <a:pPr algn="ctr" rtl="1"/>
            <a:r>
              <a:rPr lang="ar-SA" sz="1700" b="1">
                <a:solidFill>
                  <a:srgbClr val="12183F"/>
                </a:solidFill>
                <a:latin typeface="Alexandria"/>
                <a:ea typeface="Alexandria"/>
                <a:cs typeface="Alexandria"/>
              </a:rPr>
              <a:t>العلامة ثلاثية الأبعاد</a:t>
            </a:r>
          </a:p>
        </p:txBody>
      </p:sp>
      <p:pic>
        <p:nvPicPr>
          <p:cNvPr id="917" name="Picture 916" descr="22.jpg"/>
          <p:cNvPicPr>
            <a:picLocks noChangeAspect="1"/>
          </p:cNvPicPr>
          <p:nvPr/>
        </p:nvPicPr>
        <p:blipFill>
          <a:blip r:embed="rId7"/>
          <a:stretch>
            <a:fillRect/>
          </a:stretch>
        </p:blipFill>
        <p:spPr>
          <a:xfrm>
            <a:off x="1435607" y="3291840"/>
            <a:ext cx="5029200" cy="2828925"/>
          </a:xfrm>
          <a:prstGeom prst="roundRect">
            <a:avLst>
              <a:gd name="adj" fmla="val 8080"/>
            </a:avLst>
          </a:prstGeom>
          <a:effectLst>
            <a:outerShdw blurRad="380000" dist="120000" dir="5400000" algn="t" rotWithShape="0">
              <a:srgbClr val="000000">
                <a:alpha val="40000"/>
              </a:srgbClr>
            </a:outerShdw>
          </a:effectLst>
        </p:spPr>
      </p:pic>
      <p:sp>
        <p:nvSpPr>
          <p:cNvPr id="918" name="TextBox 917"/>
          <p:cNvSpPr txBox="1"/>
          <p:nvPr/>
        </p:nvSpPr>
        <p:spPr>
          <a:xfrm>
            <a:off x="1435607" y="6263640"/>
            <a:ext cx="5029200" cy="457200"/>
          </a:xfrm>
          <a:prstGeom prst="rect">
            <a:avLst/>
          </a:prstGeom>
          <a:noFill/>
        </p:spPr>
        <p:txBody>
          <a:bodyPr wrap="square" lIns="0" tIns="0" rIns="0" bIns="0" anchor="t">
            <a:spAutoFit/>
          </a:bodyPr>
          <a:lstStyle/>
          <a:p>
            <a:pPr algn="ctr" rtl="1"/>
            <a:r>
              <a:rPr lang="ar-SA" sz="1700" b="1">
                <a:solidFill>
                  <a:srgbClr val="12183F"/>
                </a:solidFill>
                <a:latin typeface="Alexandria"/>
                <a:ea typeface="Alexandria"/>
                <a:cs typeface="Alexandria"/>
              </a:rPr>
              <a:t>جناح ثبت</a:t>
            </a:r>
          </a:p>
        </p:txBody>
      </p:sp>
      <p:pic>
        <p:nvPicPr>
          <p:cNvPr id="919" name="Picture 918" descr="16.jpg"/>
          <p:cNvPicPr>
            <a:picLocks noChangeAspect="1"/>
          </p:cNvPicPr>
          <p:nvPr/>
        </p:nvPicPr>
        <p:blipFill>
          <a:blip r:embed="rId8"/>
          <a:stretch>
            <a:fillRect/>
          </a:stretch>
        </p:blipFill>
        <p:spPr>
          <a:xfrm>
            <a:off x="12682728" y="6812280"/>
            <a:ext cx="3200400" cy="1800225"/>
          </a:xfrm>
          <a:prstGeom prst="roundRect">
            <a:avLst>
              <a:gd name="adj" fmla="val 9142"/>
            </a:avLst>
          </a:prstGeom>
        </p:spPr>
      </p:pic>
      <p:sp>
        <p:nvSpPr>
          <p:cNvPr id="920" name="TextBox 919"/>
          <p:cNvSpPr txBox="1"/>
          <p:nvPr/>
        </p:nvSpPr>
        <p:spPr>
          <a:xfrm>
            <a:off x="11768328" y="8686800"/>
            <a:ext cx="5029200" cy="365760"/>
          </a:xfrm>
          <a:prstGeom prst="rect">
            <a:avLst/>
          </a:prstGeom>
          <a:noFill/>
        </p:spPr>
        <p:txBody>
          <a:bodyPr wrap="square" lIns="0" tIns="0" rIns="0" bIns="0" anchor="t">
            <a:spAutoFit/>
          </a:bodyPr>
          <a:lstStyle/>
          <a:p>
            <a:pPr algn="ctr" rtl="1"/>
            <a:r>
              <a:rPr lang="ar-SA" sz="1400" b="0">
                <a:solidFill>
                  <a:srgbClr val="4B5383"/>
                </a:solidFill>
                <a:latin typeface="Alexandria"/>
                <a:ea typeface="Alexandria"/>
                <a:cs typeface="Alexandria"/>
              </a:rPr>
              <a:t>لوحة الألوان</a:t>
            </a:r>
          </a:p>
        </p:txBody>
      </p:sp>
      <p:pic>
        <p:nvPicPr>
          <p:cNvPr id="921" name="Picture 920" descr="18.jpg"/>
          <p:cNvPicPr>
            <a:picLocks noChangeAspect="1"/>
          </p:cNvPicPr>
          <p:nvPr/>
        </p:nvPicPr>
        <p:blipFill>
          <a:blip r:embed="rId9"/>
          <a:stretch>
            <a:fillRect/>
          </a:stretch>
        </p:blipFill>
        <p:spPr>
          <a:xfrm>
            <a:off x="7516368" y="6812280"/>
            <a:ext cx="3200400" cy="1800225"/>
          </a:xfrm>
          <a:prstGeom prst="roundRect">
            <a:avLst>
              <a:gd name="adj" fmla="val 9142"/>
            </a:avLst>
          </a:prstGeom>
        </p:spPr>
      </p:pic>
      <p:sp>
        <p:nvSpPr>
          <p:cNvPr id="922" name="TextBox 921"/>
          <p:cNvSpPr txBox="1"/>
          <p:nvPr/>
        </p:nvSpPr>
        <p:spPr>
          <a:xfrm>
            <a:off x="6601968" y="8686800"/>
            <a:ext cx="5029200" cy="365760"/>
          </a:xfrm>
          <a:prstGeom prst="rect">
            <a:avLst/>
          </a:prstGeom>
          <a:noFill/>
        </p:spPr>
        <p:txBody>
          <a:bodyPr wrap="square" lIns="0" tIns="0" rIns="0" bIns="0" anchor="t">
            <a:spAutoFit/>
          </a:bodyPr>
          <a:lstStyle/>
          <a:p>
            <a:pPr algn="ctr" rtl="1"/>
            <a:r>
              <a:rPr lang="ar-SA" sz="1400" b="0">
                <a:solidFill>
                  <a:srgbClr val="4B5383"/>
                </a:solidFill>
                <a:latin typeface="Alexandria"/>
                <a:ea typeface="Alexandria"/>
                <a:cs typeface="Alexandria"/>
              </a:rPr>
              <a:t>الخطوط</a:t>
            </a:r>
          </a:p>
        </p:txBody>
      </p:sp>
      <p:pic>
        <p:nvPicPr>
          <p:cNvPr id="923" name="Picture 922" descr="20.jpg"/>
          <p:cNvPicPr>
            <a:picLocks noChangeAspect="1"/>
          </p:cNvPicPr>
          <p:nvPr/>
        </p:nvPicPr>
        <p:blipFill>
          <a:blip r:embed="rId10"/>
          <a:stretch>
            <a:fillRect/>
          </a:stretch>
        </p:blipFill>
        <p:spPr>
          <a:xfrm>
            <a:off x="2350007" y="6812280"/>
            <a:ext cx="3200400" cy="1800225"/>
          </a:xfrm>
          <a:prstGeom prst="roundRect">
            <a:avLst>
              <a:gd name="adj" fmla="val 9142"/>
            </a:avLst>
          </a:prstGeom>
        </p:spPr>
      </p:pic>
      <p:sp>
        <p:nvSpPr>
          <p:cNvPr id="924" name="TextBox 923"/>
          <p:cNvSpPr txBox="1"/>
          <p:nvPr/>
        </p:nvSpPr>
        <p:spPr>
          <a:xfrm>
            <a:off x="1435607" y="8686800"/>
            <a:ext cx="5029200" cy="365760"/>
          </a:xfrm>
          <a:prstGeom prst="rect">
            <a:avLst/>
          </a:prstGeom>
          <a:noFill/>
        </p:spPr>
        <p:txBody>
          <a:bodyPr wrap="square" lIns="0" tIns="0" rIns="0" bIns="0" anchor="t">
            <a:spAutoFit/>
          </a:bodyPr>
          <a:lstStyle/>
          <a:p>
            <a:pPr algn="ctr" rtl="1"/>
            <a:r>
              <a:rPr lang="ar-SA" sz="1400" b="0">
                <a:solidFill>
                  <a:srgbClr val="4B5383"/>
                </a:solidFill>
                <a:latin typeface="Alexandria"/>
                <a:ea typeface="Alexandria"/>
                <a:cs typeface="Alexandria"/>
              </a:rPr>
              <a:t>عناصر الواجهة</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29</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التجربة</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تجربة لطيفة… ومتاحة ومحترمة للخصوصية</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معيار تجربة المستفيد: أن يتم المهمة ويفهم النتيجة بخطاب واضح ومحترم</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pic>
        <p:nvPicPr>
          <p:cNvPr id="905" name="Picture 904" descr="app_0.png"/>
          <p:cNvPicPr>
            <a:picLocks noChangeAspect="1"/>
          </p:cNvPicPr>
          <p:nvPr/>
        </p:nvPicPr>
        <p:blipFill>
          <a:blip r:embed="rId5"/>
          <a:stretch>
            <a:fillRect/>
          </a:stretch>
        </p:blipFill>
        <p:spPr>
          <a:xfrm>
            <a:off x="1408176" y="3154680"/>
            <a:ext cx="2743200" cy="5897880"/>
          </a:xfrm>
          <a:prstGeom prst="roundRect">
            <a:avLst>
              <a:gd name="adj" fmla="val 10000"/>
            </a:avLst>
          </a:prstGeom>
          <a:effectLst>
            <a:outerShdw blurRad="380000" dist="120000" dir="5400000" algn="t" rotWithShape="0">
              <a:srgbClr val="000000">
                <a:alpha val="40000"/>
              </a:srgbClr>
            </a:outerShdw>
          </a:effectLst>
        </p:spPr>
      </p:pic>
      <p:pic>
        <p:nvPicPr>
          <p:cNvPr id="906" name="Picture 905" descr="appres_0.png"/>
          <p:cNvPicPr>
            <a:picLocks noChangeAspect="1"/>
          </p:cNvPicPr>
          <p:nvPr/>
        </p:nvPicPr>
        <p:blipFill>
          <a:blip r:embed="rId6"/>
          <a:stretch>
            <a:fillRect/>
          </a:stretch>
        </p:blipFill>
        <p:spPr>
          <a:xfrm>
            <a:off x="4434840" y="3154680"/>
            <a:ext cx="2743200" cy="5897880"/>
          </a:xfrm>
          <a:prstGeom prst="roundRect">
            <a:avLst>
              <a:gd name="adj" fmla="val 10000"/>
            </a:avLst>
          </a:prstGeom>
          <a:effectLst>
            <a:outerShdw blurRad="380000" dist="120000" dir="5400000" algn="t" rotWithShape="0">
              <a:srgbClr val="000000">
                <a:alpha val="40000"/>
              </a:srgbClr>
            </a:outerShdw>
          </a:effectLst>
        </p:spPr>
      </p:pic>
      <p:sp>
        <p:nvSpPr>
          <p:cNvPr id="907" name="Rounded Rectangle 906"/>
          <p:cNvSpPr/>
          <p:nvPr/>
        </p:nvSpPr>
        <p:spPr>
          <a:xfrm>
            <a:off x="7863840" y="3200400"/>
            <a:ext cx="8979408" cy="1051560"/>
          </a:xfrm>
          <a:prstGeom prst="roundRect">
            <a:avLst>
              <a:gd name="adj" fmla="val 26086"/>
            </a:avLst>
          </a:prstGeom>
          <a:solidFill>
            <a:srgbClr val="1C2558"/>
          </a:solidFill>
          <a:ln>
            <a:noFill/>
          </a:ln>
        </p:spPr>
        <p:txBody>
          <a:bodyPr rtlCol="0" anchor="ctr"/>
          <a:lstStyle/>
          <a:p>
            <a:pPr algn="ctr"/>
            <a:endParaRPr/>
          </a:p>
        </p:txBody>
      </p:sp>
      <p:sp>
        <p:nvSpPr>
          <p:cNvPr id="908" name="TextBox 907"/>
          <p:cNvSpPr txBox="1"/>
          <p:nvPr/>
        </p:nvSpPr>
        <p:spPr>
          <a:xfrm>
            <a:off x="8138160" y="3310128"/>
            <a:ext cx="8412480" cy="457200"/>
          </a:xfrm>
          <a:prstGeom prst="rect">
            <a:avLst/>
          </a:prstGeom>
          <a:noFill/>
        </p:spPr>
        <p:txBody>
          <a:bodyPr wrap="square" lIns="0" tIns="0" rIns="0" bIns="0" anchor="t">
            <a:spAutoFit/>
          </a:bodyPr>
          <a:lstStyle/>
          <a:p>
            <a:pPr algn="r" rtl="1"/>
            <a:r>
              <a:rPr lang="ar-SA" sz="1900" b="1">
                <a:solidFill>
                  <a:srgbClr val="2EF2C2"/>
                </a:solidFill>
                <a:latin typeface="Alexandria"/>
                <a:ea typeface="Alexandria"/>
                <a:cs typeface="Alexandria"/>
              </a:rPr>
              <a:t>عربي وإنجليزي بالكامل</a:t>
            </a:r>
          </a:p>
        </p:txBody>
      </p:sp>
      <p:sp>
        <p:nvSpPr>
          <p:cNvPr id="909" name="TextBox 908"/>
          <p:cNvSpPr txBox="1"/>
          <p:nvPr/>
        </p:nvSpPr>
        <p:spPr>
          <a:xfrm>
            <a:off x="8138160" y="3749039"/>
            <a:ext cx="8412480" cy="45720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واجهة من اليمين إلى اليسار، وردود بخمس لغات</a:t>
            </a:r>
          </a:p>
        </p:txBody>
      </p:sp>
      <p:sp>
        <p:nvSpPr>
          <p:cNvPr id="910" name="Rounded Rectangle 909"/>
          <p:cNvSpPr/>
          <p:nvPr/>
        </p:nvSpPr>
        <p:spPr>
          <a:xfrm>
            <a:off x="7863840" y="4389120"/>
            <a:ext cx="8979408" cy="1051560"/>
          </a:xfrm>
          <a:prstGeom prst="roundRect">
            <a:avLst>
              <a:gd name="adj" fmla="val 26086"/>
            </a:avLst>
          </a:prstGeom>
          <a:solidFill>
            <a:srgbClr val="1C2558"/>
          </a:solidFill>
          <a:ln>
            <a:noFill/>
          </a:ln>
        </p:spPr>
        <p:txBody>
          <a:bodyPr rtlCol="0" anchor="ctr"/>
          <a:lstStyle/>
          <a:p>
            <a:pPr algn="ctr"/>
            <a:endParaRPr/>
          </a:p>
        </p:txBody>
      </p:sp>
      <p:sp>
        <p:nvSpPr>
          <p:cNvPr id="911" name="TextBox 910"/>
          <p:cNvSpPr txBox="1"/>
          <p:nvPr/>
        </p:nvSpPr>
        <p:spPr>
          <a:xfrm>
            <a:off x="8138160" y="4498848"/>
            <a:ext cx="8412480" cy="457200"/>
          </a:xfrm>
          <a:prstGeom prst="rect">
            <a:avLst/>
          </a:prstGeom>
          <a:noFill/>
        </p:spPr>
        <p:txBody>
          <a:bodyPr wrap="square" lIns="0" tIns="0" rIns="0" bIns="0" anchor="t">
            <a:spAutoFit/>
          </a:bodyPr>
          <a:lstStyle/>
          <a:p>
            <a:pPr algn="r" rtl="1"/>
            <a:r>
              <a:rPr lang="ar-SA" sz="1900" b="1">
                <a:solidFill>
                  <a:srgbClr val="2EF2C2"/>
                </a:solidFill>
                <a:latin typeface="Alexandria"/>
                <a:ea typeface="Alexandria"/>
                <a:cs typeface="Alexandria"/>
              </a:rPr>
              <a:t>ألوان أحكام ثابتة وهادئة</a:t>
            </a:r>
          </a:p>
        </p:txBody>
      </p:sp>
      <p:sp>
        <p:nvSpPr>
          <p:cNvPr id="912" name="TextBox 911"/>
          <p:cNvSpPr txBox="1"/>
          <p:nvPr/>
        </p:nvSpPr>
        <p:spPr>
          <a:xfrm>
            <a:off x="8138160" y="4937759"/>
            <a:ext cx="8412480" cy="45720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سبع درجات، و«لم نجد» بإطار متقطع لا بلون الخطأ</a:t>
            </a:r>
          </a:p>
        </p:txBody>
      </p:sp>
      <p:sp>
        <p:nvSpPr>
          <p:cNvPr id="913" name="Rounded Rectangle 912"/>
          <p:cNvSpPr/>
          <p:nvPr/>
        </p:nvSpPr>
        <p:spPr>
          <a:xfrm>
            <a:off x="7863840" y="5577840"/>
            <a:ext cx="8979408" cy="1051560"/>
          </a:xfrm>
          <a:prstGeom prst="roundRect">
            <a:avLst>
              <a:gd name="adj" fmla="val 26086"/>
            </a:avLst>
          </a:prstGeom>
          <a:solidFill>
            <a:srgbClr val="1C2558"/>
          </a:solidFill>
          <a:ln>
            <a:noFill/>
          </a:ln>
        </p:spPr>
        <p:txBody>
          <a:bodyPr rtlCol="0" anchor="ctr"/>
          <a:lstStyle/>
          <a:p>
            <a:pPr algn="ctr"/>
            <a:endParaRPr/>
          </a:p>
        </p:txBody>
      </p:sp>
      <p:sp>
        <p:nvSpPr>
          <p:cNvPr id="914" name="TextBox 913"/>
          <p:cNvSpPr txBox="1"/>
          <p:nvPr/>
        </p:nvSpPr>
        <p:spPr>
          <a:xfrm>
            <a:off x="8138160" y="5687568"/>
            <a:ext cx="8412480" cy="457200"/>
          </a:xfrm>
          <a:prstGeom prst="rect">
            <a:avLst/>
          </a:prstGeom>
          <a:noFill/>
        </p:spPr>
        <p:txBody>
          <a:bodyPr wrap="square" lIns="0" tIns="0" rIns="0" bIns="0" anchor="t">
            <a:spAutoFit/>
          </a:bodyPr>
          <a:lstStyle/>
          <a:p>
            <a:pPr algn="r" rtl="1"/>
            <a:r>
              <a:rPr lang="ar-SA" sz="1900" b="1">
                <a:solidFill>
                  <a:srgbClr val="2EF2C2"/>
                </a:solidFill>
                <a:latin typeface="Alexandria"/>
                <a:ea typeface="Alexandria"/>
                <a:cs typeface="Alexandria"/>
              </a:rPr>
              <a:t>لا لوم ولا إحراج</a:t>
            </a:r>
          </a:p>
        </p:txBody>
      </p:sp>
      <p:sp>
        <p:nvSpPr>
          <p:cNvPr id="915" name="TextBox 914"/>
          <p:cNvSpPr txBox="1"/>
          <p:nvPr/>
        </p:nvSpPr>
        <p:spPr>
          <a:xfrm>
            <a:off x="8138160" y="6126479"/>
            <a:ext cx="8412480" cy="45720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«رد لطيف للمجموعة» و«بطاقة لا تحرج المرسل»</a:t>
            </a:r>
          </a:p>
        </p:txBody>
      </p:sp>
      <p:sp>
        <p:nvSpPr>
          <p:cNvPr id="916" name="Rounded Rectangle 915"/>
          <p:cNvSpPr/>
          <p:nvPr/>
        </p:nvSpPr>
        <p:spPr>
          <a:xfrm>
            <a:off x="7863840" y="6766560"/>
            <a:ext cx="8979408" cy="1051560"/>
          </a:xfrm>
          <a:prstGeom prst="roundRect">
            <a:avLst>
              <a:gd name="adj" fmla="val 26086"/>
            </a:avLst>
          </a:prstGeom>
          <a:solidFill>
            <a:srgbClr val="1C2558"/>
          </a:solidFill>
          <a:ln>
            <a:noFill/>
          </a:ln>
        </p:spPr>
        <p:txBody>
          <a:bodyPr rtlCol="0" anchor="ctr"/>
          <a:lstStyle/>
          <a:p>
            <a:pPr algn="ctr"/>
            <a:endParaRPr/>
          </a:p>
        </p:txBody>
      </p:sp>
      <p:sp>
        <p:nvSpPr>
          <p:cNvPr id="917" name="TextBox 916"/>
          <p:cNvSpPr txBox="1"/>
          <p:nvPr/>
        </p:nvSpPr>
        <p:spPr>
          <a:xfrm>
            <a:off x="8138160" y="6876288"/>
            <a:ext cx="8412480" cy="457200"/>
          </a:xfrm>
          <a:prstGeom prst="rect">
            <a:avLst/>
          </a:prstGeom>
          <a:noFill/>
        </p:spPr>
        <p:txBody>
          <a:bodyPr wrap="square" lIns="0" tIns="0" rIns="0" bIns="0" anchor="t">
            <a:spAutoFit/>
          </a:bodyPr>
          <a:lstStyle/>
          <a:p>
            <a:pPr algn="r" rtl="1"/>
            <a:r>
              <a:rPr lang="ar-SA" sz="1900" b="1">
                <a:solidFill>
                  <a:srgbClr val="2EF2C2"/>
                </a:solidFill>
                <a:latin typeface="Alexandria"/>
                <a:ea typeface="Alexandria"/>
                <a:cs typeface="Alexandria"/>
              </a:rPr>
              <a:t>الخصوصية أولا</a:t>
            </a:r>
          </a:p>
        </p:txBody>
      </p:sp>
      <p:sp>
        <p:nvSpPr>
          <p:cNvPr id="918" name="TextBox 917"/>
          <p:cNvSpPr txBox="1"/>
          <p:nvPr/>
        </p:nvSpPr>
        <p:spPr>
          <a:xfrm>
            <a:off x="8138160" y="7315200"/>
            <a:ext cx="8412480" cy="45720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الرسائل لا تخزن، والصورة تقرأ على الجهاز، والسجل لا يغادر الهاتف</a:t>
            </a:r>
          </a:p>
        </p:txBody>
      </p:sp>
      <p:sp>
        <p:nvSpPr>
          <p:cNvPr id="919" name="Rounded Rectangle 918"/>
          <p:cNvSpPr/>
          <p:nvPr/>
        </p:nvSpPr>
        <p:spPr>
          <a:xfrm>
            <a:off x="7863840" y="7955279"/>
            <a:ext cx="8979408" cy="1051560"/>
          </a:xfrm>
          <a:prstGeom prst="roundRect">
            <a:avLst>
              <a:gd name="adj" fmla="val 26086"/>
            </a:avLst>
          </a:prstGeom>
          <a:solidFill>
            <a:srgbClr val="1C2558"/>
          </a:solidFill>
          <a:ln>
            <a:noFill/>
          </a:ln>
        </p:spPr>
        <p:txBody>
          <a:bodyPr rtlCol="0" anchor="ctr"/>
          <a:lstStyle/>
          <a:p>
            <a:pPr algn="ctr"/>
            <a:endParaRPr/>
          </a:p>
        </p:txBody>
      </p:sp>
      <p:sp>
        <p:nvSpPr>
          <p:cNvPr id="920" name="TextBox 919"/>
          <p:cNvSpPr txBox="1"/>
          <p:nvPr/>
        </p:nvSpPr>
        <p:spPr>
          <a:xfrm>
            <a:off x="8138160" y="8065007"/>
            <a:ext cx="8412480" cy="457200"/>
          </a:xfrm>
          <a:prstGeom prst="rect">
            <a:avLst/>
          </a:prstGeom>
          <a:noFill/>
        </p:spPr>
        <p:txBody>
          <a:bodyPr wrap="square" lIns="0" tIns="0" rIns="0" bIns="0" anchor="t">
            <a:spAutoFit/>
          </a:bodyPr>
          <a:lstStyle/>
          <a:p>
            <a:pPr algn="r" rtl="1"/>
            <a:r>
              <a:rPr lang="ar-SA" sz="1900" b="1">
                <a:solidFill>
                  <a:srgbClr val="2EF2C2"/>
                </a:solidFill>
                <a:latin typeface="Alexandria"/>
                <a:ea typeface="Alexandria"/>
                <a:cs typeface="Alexandria"/>
              </a:rPr>
              <a:t>يعمل بلا تثبيت</a:t>
            </a:r>
          </a:p>
        </p:txBody>
      </p:sp>
      <p:sp>
        <p:nvSpPr>
          <p:cNvPr id="921" name="TextBox 920"/>
          <p:cNvSpPr txBox="1"/>
          <p:nvPr/>
        </p:nvSpPr>
        <p:spPr>
          <a:xfrm>
            <a:off x="8138160" y="8503919"/>
            <a:ext cx="8412480" cy="457200"/>
          </a:xfrm>
          <a:prstGeom prst="rect">
            <a:avLst/>
          </a:prstGeom>
          <a:noFill/>
        </p:spPr>
        <p:txBody>
          <a:bodyPr wrap="square" lIns="0" tIns="0" rIns="0" bIns="0" anchor="t">
            <a:spAutoFit/>
          </a:bodyPr>
          <a:lstStyle/>
          <a:p>
            <a:pPr algn="r" rtl="1"/>
            <a:r>
              <a:rPr lang="ar-SA" sz="1500" b="0">
                <a:solidFill>
                  <a:srgbClr val="F2F4FF"/>
                </a:solidFill>
                <a:latin typeface="Alexandria"/>
                <a:ea typeface="Alexandria"/>
                <a:cs typeface="Alexandria"/>
              </a:rPr>
              <a:t>على أي متصفح، ويثبت كتطبيق لمن أراد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2183F"/>
        </a:solidFill>
        <a:effectLst/>
      </p:bgPr>
    </p:bg>
    <p:spTree>
      <p:nvGrpSpPr>
        <p:cNvPr id="1"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a:spLocks noGrp="1"/>
          </p:cNvSpPr>
          <p:nvPr>
            <p:ph type="body" idx="1"/>
          </p:nvPr>
        </p:nvSpPr>
        <p:spPr>
          <a:xfrm>
            <a:off x="13125450" y="3143250"/>
            <a:ext cx="3619500" cy="12384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8400"/>
              <a:buNone/>
            </a:pPr>
            <a:r>
              <a:rPr lang="en-US" sz="8400" b="1">
                <a:solidFill>
                  <a:srgbClr val="2EF2C2"/>
                </a:solidFill>
                <a:latin typeface="Alexandria"/>
                <a:ea typeface="Alexandria"/>
                <a:cs typeface="Alexandria"/>
                <a:sym typeface="Readex Pro"/>
              </a:rPr>
              <a:t>06</a:t>
            </a:r>
            <a:endParaRPr/>
          </a:p>
        </p:txBody>
      </p:sp>
      <p:sp>
        <p:nvSpPr>
          <p:cNvPr id="528" name="Google Shape;528;p10"/>
          <p:cNvSpPr txBox="1">
            <a:spLocks noGrp="1"/>
          </p:cNvSpPr>
          <p:nvPr>
            <p:ph type="title"/>
          </p:nvPr>
        </p:nvSpPr>
        <p:spPr>
          <a:xfrm>
            <a:off x="9179000" y="4810125"/>
            <a:ext cx="7566000" cy="1238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000"/>
              <a:buNone/>
            </a:pPr>
            <a:r>
              <a:rPr lang="ar-SA" sz="6000" b="1">
                <a:solidFill>
                  <a:srgbClr val="F2F4FF"/>
                </a:solidFill>
                <a:latin typeface="Alexandria"/>
                <a:ea typeface="Alexandria"/>
                <a:cs typeface="Alexandria"/>
                <a:sym typeface="Readex Pro"/>
              </a:rPr>
              <a:t>التنفيذ والاستمرار</a:t>
            </a:r>
            <a:endParaRPr/>
          </a:p>
        </p:txBody>
      </p:sp>
      <p:sp>
        <p:nvSpPr>
          <p:cNvPr id="529" name="Google Shape;529;p10"/>
          <p:cNvSpPr txBox="1">
            <a:spLocks noGrp="1"/>
          </p:cNvSpPr>
          <p:nvPr>
            <p:ph type="body" idx="2"/>
          </p:nvPr>
        </p:nvSpPr>
        <p:spPr>
          <a:xfrm>
            <a:off x="9729275" y="6572250"/>
            <a:ext cx="7015500" cy="675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pPr>
            <a:r>
              <a:rPr lang="ar-SA" sz="2850" b="0">
                <a:solidFill>
                  <a:srgbClr val="CBCFE6"/>
                </a:solidFill>
                <a:latin typeface="Alexandria"/>
                <a:ea typeface="Alexandria"/>
                <a:cs typeface="Alexandria"/>
                <a:sym typeface="Readex Pro"/>
              </a:rPr>
              <a:t>ما بني في أيام التحدي… وما بعده</a:t>
            </a:r>
            <a:endParaRPr/>
          </a:p>
        </p:txBody>
      </p:sp>
      <p:pic>
        <p:nvPicPr>
          <p:cNvPr id="530" name="Google Shape;530;p10"/>
          <p:cNvPicPr preferRelativeResize="0"/>
          <p:nvPr/>
        </p:nvPicPr>
        <p:blipFill rotWithShape="1">
          <a:blip r:embed="rId4">
            <a:alphaModFix/>
          </a:blip>
          <a:srcRect/>
          <a:stretch/>
        </p:blipFill>
        <p:spPr>
          <a:xfrm>
            <a:off x="1066800" y="693967"/>
            <a:ext cx="3429002" cy="87901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31</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التنفيذ</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ما بني في أيام التحدي (4–6 أكتوبر)</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نقطة البداية موسومة في GitHub بـ baseline-pre-challenge، وكل يوم موثق في CHALLENGE_LOG.md</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sp>
        <p:nvSpPr>
          <p:cNvPr id="913" name="Rounded Rectangle 912"/>
          <p:cNvSpPr/>
          <p:nvPr/>
        </p:nvSpPr>
        <p:spPr>
          <a:xfrm>
            <a:off x="1408176" y="3200400"/>
            <a:ext cx="5120640" cy="5852160"/>
          </a:xfrm>
          <a:prstGeom prst="roundRect">
            <a:avLst>
              <a:gd name="adj" fmla="val 5357"/>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4" name="TextBox 913"/>
          <p:cNvSpPr txBox="1"/>
          <p:nvPr/>
        </p:nvSpPr>
        <p:spPr>
          <a:xfrm>
            <a:off x="1691640" y="3429000"/>
            <a:ext cx="4572000" cy="502920"/>
          </a:xfrm>
          <a:prstGeom prst="rect">
            <a:avLst/>
          </a:prstGeom>
          <a:noFill/>
        </p:spPr>
        <p:txBody>
          <a:bodyPr wrap="square" lIns="0" tIns="0" rIns="0" bIns="0" anchor="t">
            <a:spAutoFit/>
          </a:bodyPr>
          <a:lstStyle/>
          <a:p>
            <a:pPr algn="r" rtl="1"/>
            <a:r>
              <a:rPr lang="ar-SA" sz="2000" b="1">
                <a:solidFill>
                  <a:srgbClr val="4B5383"/>
                </a:solidFill>
                <a:latin typeface="Alexandria"/>
                <a:ea typeface="Alexandria"/>
                <a:cs typeface="Alexandria"/>
              </a:rPr>
              <a:t>قبل التحدي (معلن)</a:t>
            </a:r>
          </a:p>
        </p:txBody>
      </p:sp>
      <p:sp>
        <p:nvSpPr>
          <p:cNvPr id="915" name="TextBox 914"/>
          <p:cNvSpPr txBox="1"/>
          <p:nvPr/>
        </p:nvSpPr>
        <p:spPr>
          <a:xfrm>
            <a:off x="1691640" y="4023360"/>
            <a:ext cx="4572000" cy="4937760"/>
          </a:xfrm>
          <a:prstGeom prst="rect">
            <a:avLst/>
          </a:prstGeom>
          <a:noFill/>
        </p:spPr>
        <p:txBody>
          <a:bodyPr wrap="square" lIns="0" tIns="0" rIns="0" bIns="0" anchor="t">
            <a:spAutoFit/>
          </a:bodyPr>
          <a:lstStyle/>
          <a:p>
            <a:pPr algn="r" rtl="1">
              <a:spcAft>
                <a:spcPts val="1000"/>
              </a:spcAft>
            </a:pPr>
            <a:r>
              <a:rPr lang="ar-SA" sz="1600" b="0">
                <a:solidFill>
                  <a:srgbClr val="4B5383"/>
                </a:solidFill>
                <a:latin typeface="Alexandria"/>
                <a:ea typeface="Alexandria"/>
                <a:cs typeface="Alexandria"/>
              </a:rPr>
              <a:t>محرك المطابقة والبيانات</a:t>
            </a:r>
          </a:p>
          <a:p>
            <a:pPr algn="r" rtl="1">
              <a:spcAft>
                <a:spcPts val="1000"/>
              </a:spcAft>
            </a:pPr>
            <a:r>
              <a:rPr lang="ar-SA" sz="1600" b="0">
                <a:solidFill>
                  <a:srgbClr val="4B5383"/>
                </a:solidFill>
                <a:latin typeface="Alexandria"/>
                <a:ea typeface="Alexandria"/>
                <a:cs typeface="Alexandria"/>
              </a:rPr>
              <a:t>قواعد الحكم والمستويات</a:t>
            </a:r>
          </a:p>
          <a:p>
            <a:pPr algn="r" rtl="1">
              <a:spcAft>
                <a:spcPts val="1000"/>
              </a:spcAft>
            </a:pPr>
            <a:r>
              <a:rPr lang="ar-SA" sz="1600" b="0">
                <a:solidFill>
                  <a:srgbClr val="4B5383"/>
                </a:solidFill>
                <a:latin typeface="Alexandria"/>
                <a:ea typeface="Alexandria"/>
                <a:cs typeface="Alexandria"/>
              </a:rPr>
              <a:t>صفحات أولية وواجهة برمجية</a:t>
            </a:r>
          </a:p>
          <a:p>
            <a:pPr algn="r" rtl="1">
              <a:spcAft>
                <a:spcPts val="1000"/>
              </a:spcAft>
            </a:pPr>
            <a:r>
              <a:rPr lang="ar-SA" sz="1600" b="0">
                <a:solidFill>
                  <a:srgbClr val="4B5383"/>
                </a:solidFill>
                <a:latin typeface="Alexandria"/>
                <a:ea typeface="Alexandria"/>
                <a:cs typeface="Alexandria"/>
              </a:rPr>
              <a:t>73 حالة تقييم و18 اختبارا</a:t>
            </a:r>
          </a:p>
        </p:txBody>
      </p:sp>
      <p:sp>
        <p:nvSpPr>
          <p:cNvPr id="916" name="Rounded Rectangle 915"/>
          <p:cNvSpPr/>
          <p:nvPr/>
        </p:nvSpPr>
        <p:spPr>
          <a:xfrm>
            <a:off x="6812280" y="3200400"/>
            <a:ext cx="10030968" cy="5852160"/>
          </a:xfrm>
          <a:prstGeom prst="roundRect">
            <a:avLst>
              <a:gd name="adj" fmla="val 4687"/>
            </a:avLst>
          </a:prstGeom>
          <a:solidFill>
            <a:srgbClr val="E2FCF5"/>
          </a:solidFill>
          <a:ln>
            <a:noFill/>
          </a:ln>
        </p:spPr>
        <p:txBody>
          <a:bodyPr rtlCol="0" anchor="ctr"/>
          <a:lstStyle/>
          <a:p>
            <a:pPr algn="ctr"/>
            <a:endParaRPr/>
          </a:p>
        </p:txBody>
      </p:sp>
      <p:sp>
        <p:nvSpPr>
          <p:cNvPr id="917" name="TextBox 916"/>
          <p:cNvSpPr txBox="1"/>
          <p:nvPr/>
        </p:nvSpPr>
        <p:spPr>
          <a:xfrm>
            <a:off x="7132320" y="3429000"/>
            <a:ext cx="9418320" cy="502920"/>
          </a:xfrm>
          <a:prstGeom prst="rect">
            <a:avLst/>
          </a:prstGeom>
          <a:noFill/>
        </p:spPr>
        <p:txBody>
          <a:bodyPr wrap="square" lIns="0" tIns="0" rIns="0" bIns="0" anchor="t">
            <a:spAutoFit/>
          </a:bodyPr>
          <a:lstStyle/>
          <a:p>
            <a:pPr algn="r" rtl="1"/>
            <a:r>
              <a:rPr lang="ar-SA" sz="2000" b="1">
                <a:solidFill>
                  <a:srgbClr val="0E6B48"/>
                </a:solidFill>
                <a:latin typeface="Alexandria"/>
                <a:ea typeface="Alexandria"/>
                <a:cs typeface="Alexandria"/>
              </a:rPr>
              <a:t>خلال أيام التحدي</a:t>
            </a:r>
          </a:p>
        </p:txBody>
      </p:sp>
      <p:sp>
        <p:nvSpPr>
          <p:cNvPr id="918" name="Oval 917"/>
          <p:cNvSpPr/>
          <p:nvPr/>
        </p:nvSpPr>
        <p:spPr>
          <a:xfrm>
            <a:off x="16276320" y="4206240"/>
            <a:ext cx="274320" cy="274320"/>
          </a:xfrm>
          <a:prstGeom prst="ellipse">
            <a:avLst/>
          </a:prstGeom>
          <a:solidFill>
            <a:srgbClr val="22B07D"/>
          </a:solidFill>
          <a:ln>
            <a:noFill/>
          </a:ln>
        </p:spPr>
        <p:txBody>
          <a:bodyPr rtlCol="0" anchor="ctr"/>
          <a:lstStyle/>
          <a:p>
            <a:pPr algn="ctr"/>
            <a:endParaRPr/>
          </a:p>
        </p:txBody>
      </p:sp>
      <p:sp>
        <p:nvSpPr>
          <p:cNvPr id="919" name="TextBox 918"/>
          <p:cNvSpPr txBox="1"/>
          <p:nvPr/>
        </p:nvSpPr>
        <p:spPr>
          <a:xfrm>
            <a:off x="11932920" y="406908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الهوية البصرية كاملة (23 لوحة)</a:t>
            </a:r>
          </a:p>
        </p:txBody>
      </p:sp>
      <p:sp>
        <p:nvSpPr>
          <p:cNvPr id="920" name="Oval 919"/>
          <p:cNvSpPr/>
          <p:nvPr/>
        </p:nvSpPr>
        <p:spPr>
          <a:xfrm>
            <a:off x="16276320" y="5166360"/>
            <a:ext cx="274320" cy="274320"/>
          </a:xfrm>
          <a:prstGeom prst="ellipse">
            <a:avLst/>
          </a:prstGeom>
          <a:solidFill>
            <a:srgbClr val="22B07D"/>
          </a:solidFill>
          <a:ln>
            <a:noFill/>
          </a:ln>
        </p:spPr>
        <p:txBody>
          <a:bodyPr rtlCol="0" anchor="ctr"/>
          <a:lstStyle/>
          <a:p>
            <a:pPr algn="ctr"/>
            <a:endParaRPr/>
          </a:p>
        </p:txBody>
      </p:sp>
      <p:sp>
        <p:nvSpPr>
          <p:cNvPr id="921" name="TextBox 920"/>
          <p:cNvSpPr txBox="1"/>
          <p:nvPr/>
        </p:nvSpPr>
        <p:spPr>
          <a:xfrm>
            <a:off x="11932920" y="502920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الموقع الجديد وقسم «الذكاء الاصطناعي»</a:t>
            </a:r>
          </a:p>
        </p:txBody>
      </p:sp>
      <p:sp>
        <p:nvSpPr>
          <p:cNvPr id="922" name="Oval 921"/>
          <p:cNvSpPr/>
          <p:nvPr/>
        </p:nvSpPr>
        <p:spPr>
          <a:xfrm>
            <a:off x="16276320" y="6126480"/>
            <a:ext cx="274320" cy="274320"/>
          </a:xfrm>
          <a:prstGeom prst="ellipse">
            <a:avLst/>
          </a:prstGeom>
          <a:solidFill>
            <a:srgbClr val="22B07D"/>
          </a:solidFill>
          <a:ln>
            <a:noFill/>
          </a:ln>
        </p:spPr>
        <p:txBody>
          <a:bodyPr rtlCol="0" anchor="ctr"/>
          <a:lstStyle/>
          <a:p>
            <a:pPr algn="ctr"/>
            <a:endParaRPr/>
          </a:p>
        </p:txBody>
      </p:sp>
      <p:sp>
        <p:nvSpPr>
          <p:cNvPr id="923" name="TextBox 922"/>
          <p:cNvSpPr txBox="1"/>
          <p:nvPr/>
        </p:nvSpPr>
        <p:spPr>
          <a:xfrm>
            <a:off x="11932920" y="598932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أداة الحاسوب الكاملة</a:t>
            </a:r>
          </a:p>
        </p:txBody>
      </p:sp>
      <p:sp>
        <p:nvSpPr>
          <p:cNvPr id="924" name="Oval 923"/>
          <p:cNvSpPr/>
          <p:nvPr/>
        </p:nvSpPr>
        <p:spPr>
          <a:xfrm>
            <a:off x="16276320" y="7086600"/>
            <a:ext cx="274320" cy="274320"/>
          </a:xfrm>
          <a:prstGeom prst="ellipse">
            <a:avLst/>
          </a:prstGeom>
          <a:solidFill>
            <a:srgbClr val="22B07D"/>
          </a:solidFill>
          <a:ln>
            <a:noFill/>
          </a:ln>
        </p:spPr>
        <p:txBody>
          <a:bodyPr rtlCol="0" anchor="ctr"/>
          <a:lstStyle/>
          <a:p>
            <a:pPr algn="ctr"/>
            <a:endParaRPr/>
          </a:p>
        </p:txBody>
      </p:sp>
      <p:sp>
        <p:nvSpPr>
          <p:cNvPr id="925" name="TextBox 924"/>
          <p:cNvSpPr txBox="1"/>
          <p:nvPr/>
        </p:nvSpPr>
        <p:spPr>
          <a:xfrm>
            <a:off x="11932920" y="694944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تطبيق الجوال ومحاكي اللجنة</a:t>
            </a:r>
          </a:p>
        </p:txBody>
      </p:sp>
      <p:sp>
        <p:nvSpPr>
          <p:cNvPr id="926" name="Oval 925"/>
          <p:cNvSpPr/>
          <p:nvPr/>
        </p:nvSpPr>
        <p:spPr>
          <a:xfrm>
            <a:off x="16276320" y="8046720"/>
            <a:ext cx="274320" cy="274320"/>
          </a:xfrm>
          <a:prstGeom prst="ellipse">
            <a:avLst/>
          </a:prstGeom>
          <a:solidFill>
            <a:srgbClr val="22B07D"/>
          </a:solidFill>
          <a:ln>
            <a:noFill/>
          </a:ln>
        </p:spPr>
        <p:txBody>
          <a:bodyPr rtlCol="0" anchor="ctr"/>
          <a:lstStyle/>
          <a:p>
            <a:pPr algn="ctr"/>
            <a:endParaRPr/>
          </a:p>
        </p:txBody>
      </p:sp>
      <p:sp>
        <p:nvSpPr>
          <p:cNvPr id="927" name="TextBox 926"/>
          <p:cNvSpPr txBox="1"/>
          <p:nvPr/>
        </p:nvSpPr>
        <p:spPr>
          <a:xfrm>
            <a:off x="11932920" y="790956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Supabase وحسابات المراجعين الموثقين</a:t>
            </a:r>
          </a:p>
        </p:txBody>
      </p:sp>
      <p:sp>
        <p:nvSpPr>
          <p:cNvPr id="928" name="Oval 927"/>
          <p:cNvSpPr/>
          <p:nvPr/>
        </p:nvSpPr>
        <p:spPr>
          <a:xfrm>
            <a:off x="11567160" y="4206240"/>
            <a:ext cx="274320" cy="274320"/>
          </a:xfrm>
          <a:prstGeom prst="ellipse">
            <a:avLst/>
          </a:prstGeom>
          <a:solidFill>
            <a:srgbClr val="22B07D"/>
          </a:solidFill>
          <a:ln>
            <a:noFill/>
          </a:ln>
        </p:spPr>
        <p:txBody>
          <a:bodyPr rtlCol="0" anchor="ctr"/>
          <a:lstStyle/>
          <a:p>
            <a:pPr algn="ctr"/>
            <a:endParaRPr/>
          </a:p>
        </p:txBody>
      </p:sp>
      <p:sp>
        <p:nvSpPr>
          <p:cNvPr id="929" name="TextBox 928"/>
          <p:cNvSpPr txBox="1"/>
          <p:nvPr/>
        </p:nvSpPr>
        <p:spPr>
          <a:xfrm>
            <a:off x="7223760" y="406908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الآيات المتكررة والمتشابهة</a:t>
            </a:r>
          </a:p>
        </p:txBody>
      </p:sp>
      <p:sp>
        <p:nvSpPr>
          <p:cNvPr id="930" name="Oval 929"/>
          <p:cNvSpPr/>
          <p:nvPr/>
        </p:nvSpPr>
        <p:spPr>
          <a:xfrm>
            <a:off x="11567160" y="5166360"/>
            <a:ext cx="274320" cy="274320"/>
          </a:xfrm>
          <a:prstGeom prst="ellipse">
            <a:avLst/>
          </a:prstGeom>
          <a:solidFill>
            <a:srgbClr val="22B07D"/>
          </a:solidFill>
          <a:ln>
            <a:noFill/>
          </a:ln>
        </p:spPr>
        <p:txBody>
          <a:bodyPr rtlCol="0" anchor="ctr"/>
          <a:lstStyle/>
          <a:p>
            <a:pPr algn="ctr"/>
            <a:endParaRPr/>
          </a:p>
        </p:txBody>
      </p:sp>
      <p:sp>
        <p:nvSpPr>
          <p:cNvPr id="931" name="TextBox 930"/>
          <p:cNvSpPr txBox="1"/>
          <p:nvPr/>
        </p:nvSpPr>
        <p:spPr>
          <a:xfrm>
            <a:off x="7223760" y="502920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بطاقة الصورة والتلاوة وحديث اليوم</a:t>
            </a:r>
          </a:p>
        </p:txBody>
      </p:sp>
      <p:sp>
        <p:nvSpPr>
          <p:cNvPr id="932" name="Oval 931"/>
          <p:cNvSpPr/>
          <p:nvPr/>
        </p:nvSpPr>
        <p:spPr>
          <a:xfrm>
            <a:off x="11567160" y="6126480"/>
            <a:ext cx="274320" cy="274320"/>
          </a:xfrm>
          <a:prstGeom prst="ellipse">
            <a:avLst/>
          </a:prstGeom>
          <a:solidFill>
            <a:srgbClr val="22B07D"/>
          </a:solidFill>
          <a:ln>
            <a:noFill/>
          </a:ln>
        </p:spPr>
        <p:txBody>
          <a:bodyPr rtlCol="0" anchor="ctr"/>
          <a:lstStyle/>
          <a:p>
            <a:pPr algn="ctr"/>
            <a:endParaRPr/>
          </a:p>
        </p:txBody>
      </p:sp>
      <p:sp>
        <p:nvSpPr>
          <p:cNvPr id="933" name="TextBox 932"/>
          <p:cNvSpPr txBox="1"/>
          <p:nvPr/>
        </p:nvSpPr>
        <p:spPr>
          <a:xfrm>
            <a:off x="7223760" y="598932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صفحة «عن ثبت»</a:t>
            </a:r>
          </a:p>
        </p:txBody>
      </p:sp>
      <p:sp>
        <p:nvSpPr>
          <p:cNvPr id="934" name="Oval 933"/>
          <p:cNvSpPr/>
          <p:nvPr/>
        </p:nvSpPr>
        <p:spPr>
          <a:xfrm>
            <a:off x="11567160" y="7086600"/>
            <a:ext cx="274320" cy="274320"/>
          </a:xfrm>
          <a:prstGeom prst="ellipse">
            <a:avLst/>
          </a:prstGeom>
          <a:solidFill>
            <a:srgbClr val="22B07D"/>
          </a:solidFill>
          <a:ln>
            <a:noFill/>
          </a:ln>
        </p:spPr>
        <p:txBody>
          <a:bodyPr rtlCol="0" anchor="ctr"/>
          <a:lstStyle/>
          <a:p>
            <a:pPr algn="ctr"/>
            <a:endParaRPr/>
          </a:p>
        </p:txBody>
      </p:sp>
      <p:sp>
        <p:nvSpPr>
          <p:cNvPr id="935" name="TextBox 934"/>
          <p:cNvSpPr txBox="1"/>
          <p:nvPr/>
        </p:nvSpPr>
        <p:spPr>
          <a:xfrm>
            <a:off x="7223760" y="694944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الفيديو المتحرك بموسيقى أصلية</a:t>
            </a:r>
          </a:p>
        </p:txBody>
      </p:sp>
      <p:sp>
        <p:nvSpPr>
          <p:cNvPr id="936" name="Oval 935"/>
          <p:cNvSpPr/>
          <p:nvPr/>
        </p:nvSpPr>
        <p:spPr>
          <a:xfrm>
            <a:off x="11567160" y="8046720"/>
            <a:ext cx="274320" cy="274320"/>
          </a:xfrm>
          <a:prstGeom prst="ellipse">
            <a:avLst/>
          </a:prstGeom>
          <a:solidFill>
            <a:srgbClr val="22B07D"/>
          </a:solidFill>
          <a:ln>
            <a:noFill/>
          </a:ln>
        </p:spPr>
        <p:txBody>
          <a:bodyPr rtlCol="0" anchor="ctr"/>
          <a:lstStyle/>
          <a:p>
            <a:pPr algn="ctr"/>
            <a:endParaRPr/>
          </a:p>
        </p:txBody>
      </p:sp>
      <p:sp>
        <p:nvSpPr>
          <p:cNvPr id="937" name="TextBox 936"/>
          <p:cNvSpPr txBox="1"/>
          <p:nvPr/>
        </p:nvSpPr>
        <p:spPr>
          <a:xfrm>
            <a:off x="7223760" y="7909560"/>
            <a:ext cx="4206240" cy="822960"/>
          </a:xfrm>
          <a:prstGeom prst="rect">
            <a:avLst/>
          </a:prstGeom>
          <a:noFill/>
        </p:spPr>
        <p:txBody>
          <a:bodyPr wrap="square" lIns="0" tIns="0" rIns="0" bIns="0" anchor="t">
            <a:spAutoFit/>
          </a:bodyPr>
          <a:lstStyle/>
          <a:p>
            <a:pPr algn="r" rtl="1">
              <a:lnSpc>
                <a:spcPct val="105000"/>
              </a:lnSpc>
            </a:pPr>
            <a:r>
              <a:rPr lang="ar-SA" sz="1600" b="0">
                <a:solidFill>
                  <a:srgbClr val="12183F"/>
                </a:solidFill>
                <a:latin typeface="Alexandria"/>
                <a:ea typeface="Alexandria"/>
                <a:cs typeface="Alexandria"/>
              </a:rPr>
              <a:t>الاختبارات: 18 ← 28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32</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التنفيذ</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التقنيات والتشغيل والتكلفة</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خفيف بما يكفي ليعمل مجانا في المرحلة التجريبية</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sp>
        <p:nvSpPr>
          <p:cNvPr id="905" name="Rounded Rectangle 904"/>
          <p:cNvSpPr/>
          <p:nvPr/>
        </p:nvSpPr>
        <p:spPr>
          <a:xfrm>
            <a:off x="13075920" y="3200400"/>
            <a:ext cx="3721608" cy="685800"/>
          </a:xfrm>
          <a:prstGeom prst="roundRect">
            <a:avLst>
              <a:gd name="adj" fmla="val 49333"/>
            </a:avLst>
          </a:prstGeom>
          <a:solidFill>
            <a:srgbClr val="243070"/>
          </a:solidFill>
          <a:ln>
            <a:noFill/>
          </a:ln>
        </p:spPr>
        <p:txBody>
          <a:bodyPr rtlCol="0" anchor="ctr"/>
          <a:lstStyle/>
          <a:p>
            <a:pPr algn="ctr"/>
            <a:endParaRPr/>
          </a:p>
        </p:txBody>
      </p:sp>
      <p:sp>
        <p:nvSpPr>
          <p:cNvPr id="906" name="TextBox 905"/>
          <p:cNvSpPr txBox="1"/>
          <p:nvPr/>
        </p:nvSpPr>
        <p:spPr>
          <a:xfrm>
            <a:off x="13075920" y="3200400"/>
            <a:ext cx="3721608" cy="685800"/>
          </a:xfrm>
          <a:prstGeom prst="rect">
            <a:avLst/>
          </a:prstGeom>
          <a:noFill/>
        </p:spPr>
        <p:txBody>
          <a:bodyPr wrap="square" lIns="0" tIns="0" rIns="0" bIns="0" anchor="ctr">
            <a:spAutoFit/>
          </a:bodyPr>
          <a:lstStyle/>
          <a:p>
            <a:pPr algn="ctr" rtl="1"/>
            <a:r>
              <a:rPr lang="en-US" sz="1600" b="1">
                <a:solidFill>
                  <a:srgbClr val="F2F4FF"/>
                </a:solidFill>
                <a:latin typeface="Alexandria"/>
                <a:ea typeface="Alexandria"/>
                <a:cs typeface="Alexandria"/>
              </a:rPr>
              <a:t>Python · FastAPI</a:t>
            </a:r>
          </a:p>
        </p:txBody>
      </p:sp>
      <p:sp>
        <p:nvSpPr>
          <p:cNvPr id="907" name="Rounded Rectangle 906"/>
          <p:cNvSpPr/>
          <p:nvPr/>
        </p:nvSpPr>
        <p:spPr>
          <a:xfrm>
            <a:off x="9217152" y="3200400"/>
            <a:ext cx="3721608" cy="685800"/>
          </a:xfrm>
          <a:prstGeom prst="roundRect">
            <a:avLst>
              <a:gd name="adj" fmla="val 49333"/>
            </a:avLst>
          </a:prstGeom>
          <a:solidFill>
            <a:srgbClr val="243070"/>
          </a:solidFill>
          <a:ln>
            <a:noFill/>
          </a:ln>
        </p:spPr>
        <p:txBody>
          <a:bodyPr rtlCol="0" anchor="ctr"/>
          <a:lstStyle/>
          <a:p>
            <a:pPr algn="ctr"/>
            <a:endParaRPr/>
          </a:p>
        </p:txBody>
      </p:sp>
      <p:sp>
        <p:nvSpPr>
          <p:cNvPr id="908" name="TextBox 907"/>
          <p:cNvSpPr txBox="1"/>
          <p:nvPr/>
        </p:nvSpPr>
        <p:spPr>
          <a:xfrm>
            <a:off x="9217152" y="3200400"/>
            <a:ext cx="3721608" cy="685800"/>
          </a:xfrm>
          <a:prstGeom prst="rect">
            <a:avLst/>
          </a:prstGeom>
          <a:noFill/>
        </p:spPr>
        <p:txBody>
          <a:bodyPr wrap="square" lIns="0" tIns="0" rIns="0" bIns="0" anchor="ctr">
            <a:spAutoFit/>
          </a:bodyPr>
          <a:lstStyle/>
          <a:p>
            <a:pPr algn="ctr" rtl="1"/>
            <a:r>
              <a:rPr lang="ar-SA" sz="1600" b="1">
                <a:solidFill>
                  <a:srgbClr val="F2F4FF"/>
                </a:solidFill>
                <a:latin typeface="Alexandria"/>
                <a:ea typeface="Alexandria"/>
                <a:cs typeface="Alexandria"/>
              </a:rPr>
              <a:t>NumPy (فهرس TF-IDF)</a:t>
            </a:r>
          </a:p>
        </p:txBody>
      </p:sp>
      <p:sp>
        <p:nvSpPr>
          <p:cNvPr id="909" name="Rounded Rectangle 908"/>
          <p:cNvSpPr/>
          <p:nvPr/>
        </p:nvSpPr>
        <p:spPr>
          <a:xfrm>
            <a:off x="5358384" y="3200400"/>
            <a:ext cx="3721608" cy="685800"/>
          </a:xfrm>
          <a:prstGeom prst="roundRect">
            <a:avLst>
              <a:gd name="adj" fmla="val 49333"/>
            </a:avLst>
          </a:prstGeom>
          <a:solidFill>
            <a:srgbClr val="243070"/>
          </a:solidFill>
          <a:ln>
            <a:noFill/>
          </a:ln>
        </p:spPr>
        <p:txBody>
          <a:bodyPr rtlCol="0" anchor="ctr"/>
          <a:lstStyle/>
          <a:p>
            <a:pPr algn="ctr"/>
            <a:endParaRPr/>
          </a:p>
        </p:txBody>
      </p:sp>
      <p:sp>
        <p:nvSpPr>
          <p:cNvPr id="910" name="TextBox 909"/>
          <p:cNvSpPr txBox="1"/>
          <p:nvPr/>
        </p:nvSpPr>
        <p:spPr>
          <a:xfrm>
            <a:off x="5358384" y="3200400"/>
            <a:ext cx="3721608" cy="685800"/>
          </a:xfrm>
          <a:prstGeom prst="rect">
            <a:avLst/>
          </a:prstGeom>
          <a:noFill/>
        </p:spPr>
        <p:txBody>
          <a:bodyPr wrap="square" lIns="0" tIns="0" rIns="0" bIns="0" anchor="ctr">
            <a:spAutoFit/>
          </a:bodyPr>
          <a:lstStyle/>
          <a:p>
            <a:pPr algn="ctr" rtl="1"/>
            <a:r>
              <a:rPr lang="en-US" sz="1600" b="1">
                <a:solidFill>
                  <a:srgbClr val="F2F4FF"/>
                </a:solidFill>
                <a:latin typeface="Alexandria"/>
                <a:ea typeface="Alexandria"/>
                <a:cs typeface="Alexandria"/>
              </a:rPr>
              <a:t>RapidFuzz</a:t>
            </a:r>
          </a:p>
        </p:txBody>
      </p:sp>
      <p:sp>
        <p:nvSpPr>
          <p:cNvPr id="911" name="Rounded Rectangle 910"/>
          <p:cNvSpPr/>
          <p:nvPr/>
        </p:nvSpPr>
        <p:spPr>
          <a:xfrm>
            <a:off x="1499616" y="3200400"/>
            <a:ext cx="3721608" cy="685800"/>
          </a:xfrm>
          <a:prstGeom prst="roundRect">
            <a:avLst>
              <a:gd name="adj" fmla="val 49333"/>
            </a:avLst>
          </a:prstGeom>
          <a:solidFill>
            <a:srgbClr val="243070"/>
          </a:solidFill>
          <a:ln>
            <a:noFill/>
          </a:ln>
        </p:spPr>
        <p:txBody>
          <a:bodyPr rtlCol="0" anchor="ctr"/>
          <a:lstStyle/>
          <a:p>
            <a:pPr algn="ctr"/>
            <a:endParaRPr/>
          </a:p>
        </p:txBody>
      </p:sp>
      <p:sp>
        <p:nvSpPr>
          <p:cNvPr id="912" name="TextBox 911"/>
          <p:cNvSpPr txBox="1"/>
          <p:nvPr/>
        </p:nvSpPr>
        <p:spPr>
          <a:xfrm>
            <a:off x="1499616" y="3200400"/>
            <a:ext cx="3721608" cy="685800"/>
          </a:xfrm>
          <a:prstGeom prst="rect">
            <a:avLst/>
          </a:prstGeom>
          <a:noFill/>
        </p:spPr>
        <p:txBody>
          <a:bodyPr wrap="square" lIns="0" tIns="0" rIns="0" bIns="0" anchor="ctr">
            <a:spAutoFit/>
          </a:bodyPr>
          <a:lstStyle/>
          <a:p>
            <a:pPr algn="ctr" rtl="1"/>
            <a:r>
              <a:rPr lang="en-US" sz="1600" b="1">
                <a:solidFill>
                  <a:srgbClr val="F2F4FF"/>
                </a:solidFill>
                <a:latin typeface="Alexandria"/>
                <a:ea typeface="Alexandria"/>
                <a:cs typeface="Alexandria"/>
              </a:rPr>
              <a:t>tesseract.js</a:t>
            </a:r>
          </a:p>
        </p:txBody>
      </p:sp>
      <p:sp>
        <p:nvSpPr>
          <p:cNvPr id="913" name="Rounded Rectangle 912"/>
          <p:cNvSpPr/>
          <p:nvPr/>
        </p:nvSpPr>
        <p:spPr>
          <a:xfrm>
            <a:off x="13075920" y="4069080"/>
            <a:ext cx="3721608" cy="685800"/>
          </a:xfrm>
          <a:prstGeom prst="roundRect">
            <a:avLst>
              <a:gd name="adj" fmla="val 49333"/>
            </a:avLst>
          </a:prstGeom>
          <a:solidFill>
            <a:srgbClr val="243070"/>
          </a:solidFill>
          <a:ln>
            <a:noFill/>
          </a:ln>
        </p:spPr>
        <p:txBody>
          <a:bodyPr rtlCol="0" anchor="ctr"/>
          <a:lstStyle/>
          <a:p>
            <a:pPr algn="ctr"/>
            <a:endParaRPr/>
          </a:p>
        </p:txBody>
      </p:sp>
      <p:sp>
        <p:nvSpPr>
          <p:cNvPr id="914" name="TextBox 913"/>
          <p:cNvSpPr txBox="1"/>
          <p:nvPr/>
        </p:nvSpPr>
        <p:spPr>
          <a:xfrm>
            <a:off x="13075920" y="4069080"/>
            <a:ext cx="3721608" cy="685800"/>
          </a:xfrm>
          <a:prstGeom prst="rect">
            <a:avLst/>
          </a:prstGeom>
          <a:noFill/>
        </p:spPr>
        <p:txBody>
          <a:bodyPr wrap="square" lIns="0" tIns="0" rIns="0" bIns="0" anchor="ctr">
            <a:spAutoFit/>
          </a:bodyPr>
          <a:lstStyle/>
          <a:p>
            <a:pPr algn="ctr" rtl="1"/>
            <a:r>
              <a:rPr lang="en-US" sz="1600" b="1">
                <a:solidFill>
                  <a:srgbClr val="F2F4FF"/>
                </a:solidFill>
                <a:latin typeface="Alexandria"/>
                <a:ea typeface="Alexandria"/>
                <a:cs typeface="Alexandria"/>
              </a:rPr>
              <a:t>PWA · Service Worker</a:t>
            </a:r>
          </a:p>
        </p:txBody>
      </p:sp>
      <p:sp>
        <p:nvSpPr>
          <p:cNvPr id="915" name="Rounded Rectangle 914"/>
          <p:cNvSpPr/>
          <p:nvPr/>
        </p:nvSpPr>
        <p:spPr>
          <a:xfrm>
            <a:off x="9217152" y="4069080"/>
            <a:ext cx="3721608" cy="685800"/>
          </a:xfrm>
          <a:prstGeom prst="roundRect">
            <a:avLst>
              <a:gd name="adj" fmla="val 49333"/>
            </a:avLst>
          </a:prstGeom>
          <a:solidFill>
            <a:srgbClr val="243070"/>
          </a:solidFill>
          <a:ln>
            <a:noFill/>
          </a:ln>
        </p:spPr>
        <p:txBody>
          <a:bodyPr rtlCol="0" anchor="ctr"/>
          <a:lstStyle/>
          <a:p>
            <a:pPr algn="ctr"/>
            <a:endParaRPr/>
          </a:p>
        </p:txBody>
      </p:sp>
      <p:sp>
        <p:nvSpPr>
          <p:cNvPr id="916" name="TextBox 915"/>
          <p:cNvSpPr txBox="1"/>
          <p:nvPr/>
        </p:nvSpPr>
        <p:spPr>
          <a:xfrm>
            <a:off x="9217152" y="4069080"/>
            <a:ext cx="3721608" cy="685800"/>
          </a:xfrm>
          <a:prstGeom prst="rect">
            <a:avLst/>
          </a:prstGeom>
          <a:noFill/>
        </p:spPr>
        <p:txBody>
          <a:bodyPr wrap="square" lIns="0" tIns="0" rIns="0" bIns="0" anchor="ctr">
            <a:spAutoFit/>
          </a:bodyPr>
          <a:lstStyle/>
          <a:p>
            <a:pPr algn="ctr" rtl="1"/>
            <a:r>
              <a:rPr lang="en-US" sz="1600" b="1">
                <a:solidFill>
                  <a:srgbClr val="F2F4FF"/>
                </a:solidFill>
                <a:latin typeface="Alexandria"/>
                <a:ea typeface="Alexandria"/>
                <a:cs typeface="Alexandria"/>
              </a:rPr>
              <a:t>Supabase (PostgreSQL)</a:t>
            </a:r>
          </a:p>
        </p:txBody>
      </p:sp>
      <p:sp>
        <p:nvSpPr>
          <p:cNvPr id="917" name="Rounded Rectangle 916"/>
          <p:cNvSpPr/>
          <p:nvPr/>
        </p:nvSpPr>
        <p:spPr>
          <a:xfrm>
            <a:off x="5358384" y="4069080"/>
            <a:ext cx="3721608" cy="685800"/>
          </a:xfrm>
          <a:prstGeom prst="roundRect">
            <a:avLst>
              <a:gd name="adj" fmla="val 49333"/>
            </a:avLst>
          </a:prstGeom>
          <a:solidFill>
            <a:srgbClr val="243070"/>
          </a:solidFill>
          <a:ln>
            <a:noFill/>
          </a:ln>
        </p:spPr>
        <p:txBody>
          <a:bodyPr rtlCol="0" anchor="ctr"/>
          <a:lstStyle/>
          <a:p>
            <a:pPr algn="ctr"/>
            <a:endParaRPr/>
          </a:p>
        </p:txBody>
      </p:sp>
      <p:sp>
        <p:nvSpPr>
          <p:cNvPr id="918" name="TextBox 917"/>
          <p:cNvSpPr txBox="1"/>
          <p:nvPr/>
        </p:nvSpPr>
        <p:spPr>
          <a:xfrm>
            <a:off x="5358384" y="4069080"/>
            <a:ext cx="3721608" cy="685800"/>
          </a:xfrm>
          <a:prstGeom prst="rect">
            <a:avLst/>
          </a:prstGeom>
          <a:noFill/>
        </p:spPr>
        <p:txBody>
          <a:bodyPr wrap="square" lIns="0" tIns="0" rIns="0" bIns="0" anchor="ctr">
            <a:spAutoFit/>
          </a:bodyPr>
          <a:lstStyle/>
          <a:p>
            <a:pPr algn="ctr" rtl="1"/>
            <a:r>
              <a:rPr lang="en-US" sz="1600" b="1">
                <a:solidFill>
                  <a:srgbClr val="F2F4FF"/>
                </a:solidFill>
                <a:latin typeface="Alexandria"/>
                <a:ea typeface="Alexandria"/>
                <a:cs typeface="Alexandria"/>
              </a:rPr>
              <a:t>Vercel</a:t>
            </a:r>
          </a:p>
        </p:txBody>
      </p:sp>
      <p:sp>
        <p:nvSpPr>
          <p:cNvPr id="919" name="Rounded Rectangle 918"/>
          <p:cNvSpPr/>
          <p:nvPr/>
        </p:nvSpPr>
        <p:spPr>
          <a:xfrm>
            <a:off x="1499616" y="4069080"/>
            <a:ext cx="3721608" cy="685800"/>
          </a:xfrm>
          <a:prstGeom prst="roundRect">
            <a:avLst>
              <a:gd name="adj" fmla="val 49333"/>
            </a:avLst>
          </a:prstGeom>
          <a:solidFill>
            <a:srgbClr val="243070"/>
          </a:solidFill>
          <a:ln>
            <a:noFill/>
          </a:ln>
        </p:spPr>
        <p:txBody>
          <a:bodyPr rtlCol="0" anchor="ctr"/>
          <a:lstStyle/>
          <a:p>
            <a:pPr algn="ctr"/>
            <a:endParaRPr/>
          </a:p>
        </p:txBody>
      </p:sp>
      <p:sp>
        <p:nvSpPr>
          <p:cNvPr id="920" name="TextBox 919"/>
          <p:cNvSpPr txBox="1"/>
          <p:nvPr/>
        </p:nvSpPr>
        <p:spPr>
          <a:xfrm>
            <a:off x="1499616" y="4069080"/>
            <a:ext cx="3721608" cy="685800"/>
          </a:xfrm>
          <a:prstGeom prst="rect">
            <a:avLst/>
          </a:prstGeom>
          <a:noFill/>
        </p:spPr>
        <p:txBody>
          <a:bodyPr wrap="square" lIns="0" tIns="0" rIns="0" bIns="0" anchor="ctr">
            <a:spAutoFit/>
          </a:bodyPr>
          <a:lstStyle/>
          <a:p>
            <a:pPr algn="ctr" rtl="1"/>
            <a:r>
              <a:rPr lang="ar-SA" sz="1600" b="1">
                <a:solidFill>
                  <a:srgbClr val="F2F4FF"/>
                </a:solidFill>
                <a:latin typeface="Alexandria"/>
                <a:ea typeface="Alexandria"/>
                <a:cs typeface="Alexandria"/>
              </a:rPr>
              <a:t>Claude (اختياري)</a:t>
            </a:r>
          </a:p>
        </p:txBody>
      </p:sp>
      <p:sp>
        <p:nvSpPr>
          <p:cNvPr id="921" name="Rounded Rectangle 920"/>
          <p:cNvSpPr/>
          <p:nvPr/>
        </p:nvSpPr>
        <p:spPr>
          <a:xfrm>
            <a:off x="14328648" y="5166360"/>
            <a:ext cx="2468880" cy="1737360"/>
          </a:xfrm>
          <a:prstGeom prst="roundRect">
            <a:avLst>
              <a:gd name="adj" fmla="val 15789"/>
            </a:avLst>
          </a:prstGeom>
          <a:solidFill>
            <a:srgbClr val="1C2558"/>
          </a:solidFill>
          <a:ln>
            <a:noFill/>
          </a:ln>
        </p:spPr>
        <p:txBody>
          <a:bodyPr rtlCol="0" anchor="ctr"/>
          <a:lstStyle/>
          <a:p>
            <a:pPr algn="ctr"/>
            <a:endParaRPr/>
          </a:p>
        </p:txBody>
      </p:sp>
      <p:sp>
        <p:nvSpPr>
          <p:cNvPr id="922" name="TextBox 921"/>
          <p:cNvSpPr txBox="1"/>
          <p:nvPr/>
        </p:nvSpPr>
        <p:spPr>
          <a:xfrm>
            <a:off x="14511528" y="5303520"/>
            <a:ext cx="2103120" cy="731520"/>
          </a:xfrm>
          <a:prstGeom prst="rect">
            <a:avLst/>
          </a:prstGeom>
          <a:noFill/>
        </p:spPr>
        <p:txBody>
          <a:bodyPr wrap="square" lIns="0" tIns="0" rIns="0" bIns="0" anchor="t">
            <a:spAutoFit/>
          </a:bodyPr>
          <a:lstStyle/>
          <a:p>
            <a:pPr algn="r" rtl="0"/>
            <a:r>
              <a:rPr lang="en-US" sz="2600" b="1">
                <a:solidFill>
                  <a:srgbClr val="2EF2C2"/>
                </a:solidFill>
                <a:latin typeface="Alexandria"/>
                <a:ea typeface="Alexandria"/>
                <a:cs typeface="Alexandria"/>
              </a:rPr>
              <a:t>120 MB</a:t>
            </a:r>
          </a:p>
        </p:txBody>
      </p:sp>
      <p:sp>
        <p:nvSpPr>
          <p:cNvPr id="923" name="TextBox 922"/>
          <p:cNvSpPr txBox="1"/>
          <p:nvPr/>
        </p:nvSpPr>
        <p:spPr>
          <a:xfrm>
            <a:off x="14511528" y="6080760"/>
            <a:ext cx="2103120" cy="731520"/>
          </a:xfrm>
          <a:prstGeom prst="rect">
            <a:avLst/>
          </a:prstGeom>
          <a:noFill/>
        </p:spPr>
        <p:txBody>
          <a:bodyPr wrap="square" lIns="0" tIns="0" rIns="0" bIns="0" anchor="t">
            <a:spAutoFit/>
          </a:bodyPr>
          <a:lstStyle/>
          <a:p>
            <a:pPr algn="r" rtl="1"/>
            <a:r>
              <a:rPr lang="ar-SA" sz="1400" b="0">
                <a:solidFill>
                  <a:srgbClr val="AEB4DA"/>
                </a:solidFill>
                <a:latin typeface="Alexandria"/>
                <a:ea typeface="Alexandria"/>
                <a:cs typeface="Alexandria"/>
              </a:rPr>
              <a:t>ذاكرة التشغيل</a:t>
            </a:r>
          </a:p>
        </p:txBody>
      </p:sp>
      <p:sp>
        <p:nvSpPr>
          <p:cNvPr id="924" name="Rounded Rectangle 923"/>
          <p:cNvSpPr/>
          <p:nvPr/>
        </p:nvSpPr>
        <p:spPr>
          <a:xfrm>
            <a:off x="11722608" y="5166360"/>
            <a:ext cx="2468880" cy="1737360"/>
          </a:xfrm>
          <a:prstGeom prst="roundRect">
            <a:avLst>
              <a:gd name="adj" fmla="val 15789"/>
            </a:avLst>
          </a:prstGeom>
          <a:solidFill>
            <a:srgbClr val="1C2558"/>
          </a:solidFill>
          <a:ln>
            <a:noFill/>
          </a:ln>
        </p:spPr>
        <p:txBody>
          <a:bodyPr rtlCol="0" anchor="ctr"/>
          <a:lstStyle/>
          <a:p>
            <a:pPr algn="ctr"/>
            <a:endParaRPr/>
          </a:p>
        </p:txBody>
      </p:sp>
      <p:sp>
        <p:nvSpPr>
          <p:cNvPr id="925" name="TextBox 924"/>
          <p:cNvSpPr txBox="1"/>
          <p:nvPr/>
        </p:nvSpPr>
        <p:spPr>
          <a:xfrm>
            <a:off x="11905488" y="5303520"/>
            <a:ext cx="2103120" cy="731520"/>
          </a:xfrm>
          <a:prstGeom prst="rect">
            <a:avLst/>
          </a:prstGeom>
          <a:noFill/>
        </p:spPr>
        <p:txBody>
          <a:bodyPr wrap="square" lIns="0" tIns="0" rIns="0" bIns="0" anchor="t">
            <a:spAutoFit/>
          </a:bodyPr>
          <a:lstStyle/>
          <a:p>
            <a:pPr algn="r" rtl="0"/>
            <a:r>
              <a:rPr lang="en-US" sz="2600" b="1">
                <a:solidFill>
                  <a:srgbClr val="2EF2C2"/>
                </a:solidFill>
                <a:latin typeface="Alexandria"/>
                <a:ea typeface="Alexandria"/>
                <a:cs typeface="Alexandria"/>
              </a:rPr>
              <a:t>0.3 s</a:t>
            </a:r>
          </a:p>
        </p:txBody>
      </p:sp>
      <p:sp>
        <p:nvSpPr>
          <p:cNvPr id="926" name="TextBox 925"/>
          <p:cNvSpPr txBox="1"/>
          <p:nvPr/>
        </p:nvSpPr>
        <p:spPr>
          <a:xfrm>
            <a:off x="11905488" y="6080760"/>
            <a:ext cx="2103120" cy="731520"/>
          </a:xfrm>
          <a:prstGeom prst="rect">
            <a:avLst/>
          </a:prstGeom>
          <a:noFill/>
        </p:spPr>
        <p:txBody>
          <a:bodyPr wrap="square" lIns="0" tIns="0" rIns="0" bIns="0" anchor="t">
            <a:spAutoFit/>
          </a:bodyPr>
          <a:lstStyle/>
          <a:p>
            <a:pPr algn="r" rtl="1"/>
            <a:r>
              <a:rPr lang="ar-SA" sz="1400" b="0">
                <a:solidFill>
                  <a:srgbClr val="AEB4DA"/>
                </a:solidFill>
                <a:latin typeface="Alexandria"/>
                <a:ea typeface="Alexandria"/>
                <a:cs typeface="Alexandria"/>
              </a:rPr>
              <a:t>بدء التشغيل البارد</a:t>
            </a:r>
          </a:p>
        </p:txBody>
      </p:sp>
      <p:sp>
        <p:nvSpPr>
          <p:cNvPr id="927" name="Rounded Rectangle 926"/>
          <p:cNvSpPr/>
          <p:nvPr/>
        </p:nvSpPr>
        <p:spPr>
          <a:xfrm>
            <a:off x="9116568" y="5166360"/>
            <a:ext cx="2468880" cy="1737360"/>
          </a:xfrm>
          <a:prstGeom prst="roundRect">
            <a:avLst>
              <a:gd name="adj" fmla="val 15789"/>
            </a:avLst>
          </a:prstGeom>
          <a:solidFill>
            <a:srgbClr val="1C2558"/>
          </a:solidFill>
          <a:ln>
            <a:noFill/>
          </a:ln>
        </p:spPr>
        <p:txBody>
          <a:bodyPr rtlCol="0" anchor="ctr"/>
          <a:lstStyle/>
          <a:p>
            <a:pPr algn="ctr"/>
            <a:endParaRPr/>
          </a:p>
        </p:txBody>
      </p:sp>
      <p:sp>
        <p:nvSpPr>
          <p:cNvPr id="928" name="TextBox 927"/>
          <p:cNvSpPr txBox="1"/>
          <p:nvPr/>
        </p:nvSpPr>
        <p:spPr>
          <a:xfrm>
            <a:off x="9299448" y="5303520"/>
            <a:ext cx="2103120" cy="731520"/>
          </a:xfrm>
          <a:prstGeom prst="rect">
            <a:avLst/>
          </a:prstGeom>
          <a:noFill/>
        </p:spPr>
        <p:txBody>
          <a:bodyPr wrap="square" lIns="0" tIns="0" rIns="0" bIns="0" anchor="t">
            <a:spAutoFit/>
          </a:bodyPr>
          <a:lstStyle/>
          <a:p>
            <a:pPr algn="r" rtl="0"/>
            <a:r>
              <a:rPr lang="en-US" sz="2600" b="1">
                <a:solidFill>
                  <a:srgbClr val="2EF2C2"/>
                </a:solidFill>
                <a:latin typeface="Alexandria"/>
                <a:ea typeface="Alexandria"/>
                <a:cs typeface="Alexandria"/>
              </a:rPr>
              <a:t>28 ms</a:t>
            </a:r>
          </a:p>
        </p:txBody>
      </p:sp>
      <p:sp>
        <p:nvSpPr>
          <p:cNvPr id="929" name="TextBox 928"/>
          <p:cNvSpPr txBox="1"/>
          <p:nvPr/>
        </p:nvSpPr>
        <p:spPr>
          <a:xfrm>
            <a:off x="9299448" y="6080760"/>
            <a:ext cx="2103120" cy="731520"/>
          </a:xfrm>
          <a:prstGeom prst="rect">
            <a:avLst/>
          </a:prstGeom>
          <a:noFill/>
        </p:spPr>
        <p:txBody>
          <a:bodyPr wrap="square" lIns="0" tIns="0" rIns="0" bIns="0" anchor="t">
            <a:spAutoFit/>
          </a:bodyPr>
          <a:lstStyle/>
          <a:p>
            <a:pPr algn="r" rtl="1"/>
            <a:r>
              <a:rPr lang="ar-SA" sz="1400" b="0">
                <a:solidFill>
                  <a:srgbClr val="AEB4DA"/>
                </a:solidFill>
                <a:latin typeface="Alexandria"/>
                <a:ea typeface="Alexandria"/>
                <a:cs typeface="Alexandria"/>
              </a:rPr>
              <a:t>لكل رسالة</a:t>
            </a:r>
          </a:p>
        </p:txBody>
      </p:sp>
      <p:sp>
        <p:nvSpPr>
          <p:cNvPr id="930" name="Rounded Rectangle 929"/>
          <p:cNvSpPr/>
          <p:nvPr/>
        </p:nvSpPr>
        <p:spPr>
          <a:xfrm>
            <a:off x="1408176" y="5166360"/>
            <a:ext cx="7315200" cy="3886200"/>
          </a:xfrm>
          <a:prstGeom prst="roundRect">
            <a:avLst>
              <a:gd name="adj" fmla="val 7058"/>
            </a:avLst>
          </a:prstGeom>
          <a:solidFill>
            <a:srgbClr val="1C2558"/>
          </a:solidFill>
          <a:ln>
            <a:noFill/>
          </a:ln>
        </p:spPr>
        <p:txBody>
          <a:bodyPr rtlCol="0" anchor="ctr"/>
          <a:lstStyle/>
          <a:p>
            <a:pPr algn="ctr"/>
            <a:endParaRPr/>
          </a:p>
        </p:txBody>
      </p:sp>
      <p:sp>
        <p:nvSpPr>
          <p:cNvPr id="931" name="TextBox 930"/>
          <p:cNvSpPr txBox="1"/>
          <p:nvPr/>
        </p:nvSpPr>
        <p:spPr>
          <a:xfrm>
            <a:off x="1691640" y="5349240"/>
            <a:ext cx="6766560" cy="457200"/>
          </a:xfrm>
          <a:prstGeom prst="rect">
            <a:avLst/>
          </a:prstGeom>
          <a:noFill/>
        </p:spPr>
        <p:txBody>
          <a:bodyPr wrap="square" lIns="0" tIns="0" rIns="0" bIns="0" anchor="t">
            <a:spAutoFit/>
          </a:bodyPr>
          <a:lstStyle/>
          <a:p>
            <a:pPr algn="r" rtl="1"/>
            <a:r>
              <a:rPr lang="ar-SA" sz="1900" b="1">
                <a:solidFill>
                  <a:srgbClr val="2EF2C2"/>
                </a:solidFill>
                <a:latin typeface="Alexandria"/>
                <a:ea typeface="Alexandria"/>
                <a:cs typeface="Alexandria"/>
              </a:rPr>
              <a:t>التكلفة الشهرية (تقديرية)</a:t>
            </a:r>
          </a:p>
        </p:txBody>
      </p:sp>
      <p:sp>
        <p:nvSpPr>
          <p:cNvPr id="932" name="TextBox 931"/>
          <p:cNvSpPr txBox="1"/>
          <p:nvPr/>
        </p:nvSpPr>
        <p:spPr>
          <a:xfrm>
            <a:off x="4023360" y="5989320"/>
            <a:ext cx="4434840" cy="731520"/>
          </a:xfrm>
          <a:prstGeom prst="rect">
            <a:avLst/>
          </a:prstGeom>
          <a:noFill/>
        </p:spPr>
        <p:txBody>
          <a:bodyPr wrap="square" lIns="0" tIns="0" rIns="0" bIns="0" anchor="ctr">
            <a:spAutoFit/>
          </a:bodyPr>
          <a:lstStyle/>
          <a:p>
            <a:pPr algn="r" rtl="1"/>
            <a:r>
              <a:rPr lang="ar-SA" sz="1500" b="0">
                <a:solidFill>
                  <a:srgbClr val="F2F4FF"/>
                </a:solidFill>
                <a:latin typeface="Alexandria"/>
                <a:ea typeface="Alexandria"/>
                <a:cs typeface="Alexandria"/>
              </a:rPr>
              <a:t>تجريبي (حتى 10 آلاف تحقق شهريا)</a:t>
            </a:r>
          </a:p>
        </p:txBody>
      </p:sp>
      <p:sp>
        <p:nvSpPr>
          <p:cNvPr id="933" name="TextBox 932"/>
          <p:cNvSpPr txBox="1"/>
          <p:nvPr/>
        </p:nvSpPr>
        <p:spPr>
          <a:xfrm>
            <a:off x="1691640" y="5989320"/>
            <a:ext cx="2286000" cy="73152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$0</a:t>
            </a:r>
          </a:p>
        </p:txBody>
      </p:sp>
      <p:sp>
        <p:nvSpPr>
          <p:cNvPr id="934" name="TextBox 933"/>
          <p:cNvSpPr txBox="1"/>
          <p:nvPr/>
        </p:nvSpPr>
        <p:spPr>
          <a:xfrm>
            <a:off x="4023360" y="6949440"/>
            <a:ext cx="4434840" cy="731520"/>
          </a:xfrm>
          <a:prstGeom prst="rect">
            <a:avLst/>
          </a:prstGeom>
          <a:noFill/>
        </p:spPr>
        <p:txBody>
          <a:bodyPr wrap="square" lIns="0" tIns="0" rIns="0" bIns="0" anchor="ctr">
            <a:spAutoFit/>
          </a:bodyPr>
          <a:lstStyle/>
          <a:p>
            <a:pPr algn="r" rtl="1"/>
            <a:r>
              <a:rPr lang="ar-SA" sz="1500" b="0">
                <a:solidFill>
                  <a:srgbClr val="F2F4FF"/>
                </a:solidFill>
                <a:latin typeface="Alexandria"/>
                <a:ea typeface="Alexandria"/>
                <a:cs typeface="Alexandria"/>
              </a:rPr>
              <a:t>تجريبي مع النموذج اللغوي</a:t>
            </a:r>
          </a:p>
        </p:txBody>
      </p:sp>
      <p:sp>
        <p:nvSpPr>
          <p:cNvPr id="935" name="TextBox 934"/>
          <p:cNvSpPr txBox="1"/>
          <p:nvPr/>
        </p:nvSpPr>
        <p:spPr>
          <a:xfrm>
            <a:off x="1691640" y="6949440"/>
            <a:ext cx="2286000" cy="73152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 $15</a:t>
            </a:r>
          </a:p>
        </p:txBody>
      </p:sp>
      <p:sp>
        <p:nvSpPr>
          <p:cNvPr id="936" name="TextBox 935"/>
          <p:cNvSpPr txBox="1"/>
          <p:nvPr/>
        </p:nvSpPr>
        <p:spPr>
          <a:xfrm>
            <a:off x="4023360" y="7909560"/>
            <a:ext cx="4434840" cy="731520"/>
          </a:xfrm>
          <a:prstGeom prst="rect">
            <a:avLst/>
          </a:prstGeom>
          <a:noFill/>
        </p:spPr>
        <p:txBody>
          <a:bodyPr wrap="square" lIns="0" tIns="0" rIns="0" bIns="0" anchor="ctr">
            <a:spAutoFit/>
          </a:bodyPr>
          <a:lstStyle/>
          <a:p>
            <a:pPr algn="r" rtl="1"/>
            <a:r>
              <a:rPr lang="ar-SA" sz="1500" b="0">
                <a:solidFill>
                  <a:srgbClr val="F2F4FF"/>
                </a:solidFill>
                <a:latin typeface="Alexandria"/>
                <a:ea typeface="Alexandria"/>
                <a:cs typeface="Alexandria"/>
              </a:rPr>
              <a:t>إنتاج (حتى 300 ألف شهريا)</a:t>
            </a:r>
          </a:p>
        </p:txBody>
      </p:sp>
      <p:sp>
        <p:nvSpPr>
          <p:cNvPr id="937" name="TextBox 936"/>
          <p:cNvSpPr txBox="1"/>
          <p:nvPr/>
        </p:nvSpPr>
        <p:spPr>
          <a:xfrm>
            <a:off x="1691640" y="7909560"/>
            <a:ext cx="2286000" cy="731520"/>
          </a:xfrm>
          <a:prstGeom prst="rect">
            <a:avLst/>
          </a:prstGeom>
          <a:noFill/>
        </p:spPr>
        <p:txBody>
          <a:bodyPr wrap="square" lIns="0" tIns="0" rIns="0" bIns="0" anchor="ctr">
            <a:spAutoFit/>
          </a:bodyPr>
          <a:lstStyle/>
          <a:p>
            <a:pPr algn="l" rtl="0"/>
            <a:r>
              <a:rPr lang="en-US" sz="2200" b="1">
                <a:solidFill>
                  <a:srgbClr val="2EF2C2"/>
                </a:solidFill>
                <a:latin typeface="Alexandria"/>
                <a:ea typeface="Alexandria"/>
                <a:cs typeface="Alexandria"/>
              </a:rPr>
              <a:t>≈ $80–110</a:t>
            </a:r>
          </a:p>
        </p:txBody>
      </p:sp>
      <p:sp>
        <p:nvSpPr>
          <p:cNvPr id="938" name="TextBox 937"/>
          <p:cNvSpPr txBox="1"/>
          <p:nvPr/>
        </p:nvSpPr>
        <p:spPr>
          <a:xfrm>
            <a:off x="9235440" y="7223760"/>
            <a:ext cx="7607808" cy="1828800"/>
          </a:xfrm>
          <a:prstGeom prst="rect">
            <a:avLst/>
          </a:prstGeom>
          <a:noFill/>
        </p:spPr>
        <p:txBody>
          <a:bodyPr wrap="square" lIns="0" tIns="0" rIns="0" bIns="0" anchor="t">
            <a:spAutoFit/>
          </a:bodyPr>
          <a:lstStyle/>
          <a:p>
            <a:pPr algn="r" rtl="1">
              <a:lnSpc>
                <a:spcPct val="112000"/>
              </a:lnSpc>
            </a:pPr>
            <a:r>
              <a:rPr lang="ar-SA" sz="1500" b="0">
                <a:solidFill>
                  <a:srgbClr val="AEB4DA"/>
                </a:solidFill>
                <a:latin typeface="Alexandria"/>
                <a:ea typeface="Alexandria"/>
                <a:cs typeface="Alexandria"/>
              </a:rPr>
              <a:t>بدائل الاعتمادات الحرجة: إن تعطلت قاعدة البيانات تحفظ البلاغات محليا، والنموذج اللغوي اختياري، والكود يعمل من Dockerfile على أي خادم.</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33</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الاستمرار</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خطة الاستمرار</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خطة مقترحة للأشهر الستة بعد التحدي</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sp>
        <p:nvSpPr>
          <p:cNvPr id="913" name="Rectangle 912"/>
          <p:cNvSpPr/>
          <p:nvPr/>
        </p:nvSpPr>
        <p:spPr>
          <a:xfrm>
            <a:off x="2011680" y="4224528"/>
            <a:ext cx="14264640" cy="54864"/>
          </a:xfrm>
          <a:prstGeom prst="rect">
            <a:avLst/>
          </a:prstGeom>
          <a:solidFill>
            <a:srgbClr val="C9CCE6"/>
          </a:solidFill>
          <a:ln>
            <a:noFill/>
          </a:ln>
        </p:spPr>
        <p:txBody>
          <a:bodyPr rtlCol="0" anchor="ctr"/>
          <a:lstStyle/>
          <a:p>
            <a:pPr algn="ctr"/>
            <a:endParaRPr/>
          </a:p>
        </p:txBody>
      </p:sp>
      <p:sp>
        <p:nvSpPr>
          <p:cNvPr id="914" name="Oval 913"/>
          <p:cNvSpPr/>
          <p:nvPr/>
        </p:nvSpPr>
        <p:spPr>
          <a:xfrm>
            <a:off x="14900148" y="3886200"/>
            <a:ext cx="731520" cy="731520"/>
          </a:xfrm>
          <a:prstGeom prst="ellipse">
            <a:avLst/>
          </a:prstGeom>
          <a:solidFill>
            <a:srgbClr val="6150EA"/>
          </a:solidFill>
          <a:ln>
            <a:noFill/>
          </a:ln>
        </p:spPr>
        <p:txBody>
          <a:bodyPr rtlCol="0" anchor="ctr"/>
          <a:lstStyle/>
          <a:p>
            <a:pPr algn="ctr"/>
            <a:endParaRPr/>
          </a:p>
        </p:txBody>
      </p:sp>
      <p:sp>
        <p:nvSpPr>
          <p:cNvPr id="915" name="TextBox 914"/>
          <p:cNvSpPr txBox="1"/>
          <p:nvPr/>
        </p:nvSpPr>
        <p:spPr>
          <a:xfrm>
            <a:off x="14900148" y="3886200"/>
            <a:ext cx="731520" cy="731520"/>
          </a:xfrm>
          <a:prstGeom prst="rect">
            <a:avLst/>
          </a:prstGeom>
          <a:noFill/>
        </p:spPr>
        <p:txBody>
          <a:bodyPr wrap="square" lIns="0" tIns="0" rIns="0" bIns="0" anchor="ctr">
            <a:spAutoFit/>
          </a:bodyPr>
          <a:lstStyle/>
          <a:p>
            <a:pPr algn="ctr" rtl="0"/>
            <a:r>
              <a:rPr lang="en-US" sz="1800" b="1">
                <a:solidFill>
                  <a:srgbClr val="FFFFFF"/>
                </a:solidFill>
                <a:latin typeface="Alexandria"/>
                <a:ea typeface="Alexandria"/>
                <a:cs typeface="Alexandria"/>
              </a:rPr>
              <a:t>01</a:t>
            </a:r>
          </a:p>
        </p:txBody>
      </p:sp>
      <p:sp>
        <p:nvSpPr>
          <p:cNvPr id="916" name="Rounded Rectangle 915"/>
          <p:cNvSpPr/>
          <p:nvPr/>
        </p:nvSpPr>
        <p:spPr>
          <a:xfrm>
            <a:off x="13825728" y="4937760"/>
            <a:ext cx="2880360" cy="4114800"/>
          </a:xfrm>
          <a:prstGeom prst="roundRect">
            <a:avLst>
              <a:gd name="adj" fmla="val 9523"/>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7" name="TextBox 916"/>
          <p:cNvSpPr txBox="1"/>
          <p:nvPr/>
        </p:nvSpPr>
        <p:spPr>
          <a:xfrm>
            <a:off x="14054328" y="5166360"/>
            <a:ext cx="2423160" cy="411480"/>
          </a:xfrm>
          <a:prstGeom prst="rect">
            <a:avLst/>
          </a:prstGeom>
          <a:noFill/>
        </p:spPr>
        <p:txBody>
          <a:bodyPr wrap="square" lIns="0" tIns="0" rIns="0" bIns="0" anchor="t">
            <a:spAutoFit/>
          </a:bodyPr>
          <a:lstStyle/>
          <a:p>
            <a:pPr algn="r" rtl="1"/>
            <a:r>
              <a:rPr lang="ar-SA" sz="1500" b="1">
                <a:solidFill>
                  <a:srgbClr val="6150EA"/>
                </a:solidFill>
                <a:latin typeface="Alexandria"/>
                <a:ea typeface="Alexandria"/>
                <a:cs typeface="Alexandria"/>
              </a:rPr>
              <a:t>الشهر 1</a:t>
            </a:r>
          </a:p>
        </p:txBody>
      </p:sp>
      <p:sp>
        <p:nvSpPr>
          <p:cNvPr id="918" name="TextBox 917"/>
          <p:cNvSpPr txBox="1"/>
          <p:nvPr/>
        </p:nvSpPr>
        <p:spPr>
          <a:xfrm>
            <a:off x="14054328" y="5623560"/>
            <a:ext cx="2423160" cy="1005840"/>
          </a:xfrm>
          <a:prstGeom prst="rect">
            <a:avLst/>
          </a:prstGeom>
          <a:noFill/>
        </p:spPr>
        <p:txBody>
          <a:bodyPr wrap="square" lIns="0" tIns="0" rIns="0" bIns="0" anchor="t">
            <a:spAutoFit/>
          </a:bodyPr>
          <a:lstStyle/>
          <a:p>
            <a:pPr algn="r" rtl="1">
              <a:lnSpc>
                <a:spcPct val="105000"/>
              </a:lnSpc>
            </a:pPr>
            <a:r>
              <a:rPr lang="ar-SA" sz="1900" b="1">
                <a:solidFill>
                  <a:srgbClr val="12183F"/>
                </a:solidFill>
                <a:latin typeface="Alexandria"/>
                <a:ea typeface="Alexandria"/>
                <a:cs typeface="Alexandria"/>
              </a:rPr>
              <a:t>اختبار مستقل</a:t>
            </a:r>
          </a:p>
        </p:txBody>
      </p:sp>
      <p:sp>
        <p:nvSpPr>
          <p:cNvPr id="919" name="TextBox 918"/>
          <p:cNvSpPr txBox="1"/>
          <p:nvPr/>
        </p:nvSpPr>
        <p:spPr>
          <a:xfrm>
            <a:off x="14054328" y="6720840"/>
            <a:ext cx="2423160" cy="219456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مجموعة اختبار يكتبها مختص، واعتماد السجل كاملا</a:t>
            </a:r>
          </a:p>
        </p:txBody>
      </p:sp>
      <p:sp>
        <p:nvSpPr>
          <p:cNvPr id="920" name="Oval 919"/>
          <p:cNvSpPr/>
          <p:nvPr/>
        </p:nvSpPr>
        <p:spPr>
          <a:xfrm>
            <a:off x="11791188" y="3886200"/>
            <a:ext cx="731520" cy="731520"/>
          </a:xfrm>
          <a:prstGeom prst="ellipse">
            <a:avLst/>
          </a:prstGeom>
          <a:solidFill>
            <a:srgbClr val="6150EA"/>
          </a:solidFill>
          <a:ln>
            <a:noFill/>
          </a:ln>
        </p:spPr>
        <p:txBody>
          <a:bodyPr rtlCol="0" anchor="ctr"/>
          <a:lstStyle/>
          <a:p>
            <a:pPr algn="ctr"/>
            <a:endParaRPr/>
          </a:p>
        </p:txBody>
      </p:sp>
      <p:sp>
        <p:nvSpPr>
          <p:cNvPr id="921" name="TextBox 920"/>
          <p:cNvSpPr txBox="1"/>
          <p:nvPr/>
        </p:nvSpPr>
        <p:spPr>
          <a:xfrm>
            <a:off x="11791188" y="3886200"/>
            <a:ext cx="731520" cy="731520"/>
          </a:xfrm>
          <a:prstGeom prst="rect">
            <a:avLst/>
          </a:prstGeom>
          <a:noFill/>
        </p:spPr>
        <p:txBody>
          <a:bodyPr wrap="square" lIns="0" tIns="0" rIns="0" bIns="0" anchor="ctr">
            <a:spAutoFit/>
          </a:bodyPr>
          <a:lstStyle/>
          <a:p>
            <a:pPr algn="ctr" rtl="0"/>
            <a:r>
              <a:rPr lang="en-US" sz="1800" b="1">
                <a:solidFill>
                  <a:srgbClr val="FFFFFF"/>
                </a:solidFill>
                <a:latin typeface="Alexandria"/>
                <a:ea typeface="Alexandria"/>
                <a:cs typeface="Alexandria"/>
              </a:rPr>
              <a:t>02</a:t>
            </a:r>
          </a:p>
        </p:txBody>
      </p:sp>
      <p:sp>
        <p:nvSpPr>
          <p:cNvPr id="922" name="Rounded Rectangle 921"/>
          <p:cNvSpPr/>
          <p:nvPr/>
        </p:nvSpPr>
        <p:spPr>
          <a:xfrm>
            <a:off x="10716768" y="4937760"/>
            <a:ext cx="2880360" cy="4114800"/>
          </a:xfrm>
          <a:prstGeom prst="roundRect">
            <a:avLst>
              <a:gd name="adj" fmla="val 9523"/>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3" name="TextBox 922"/>
          <p:cNvSpPr txBox="1"/>
          <p:nvPr/>
        </p:nvSpPr>
        <p:spPr>
          <a:xfrm>
            <a:off x="10945368" y="5166360"/>
            <a:ext cx="2423160" cy="411480"/>
          </a:xfrm>
          <a:prstGeom prst="rect">
            <a:avLst/>
          </a:prstGeom>
          <a:noFill/>
        </p:spPr>
        <p:txBody>
          <a:bodyPr wrap="square" lIns="0" tIns="0" rIns="0" bIns="0" anchor="t">
            <a:spAutoFit/>
          </a:bodyPr>
          <a:lstStyle/>
          <a:p>
            <a:pPr algn="r" rtl="1"/>
            <a:r>
              <a:rPr lang="ar-SA" sz="1500" b="1">
                <a:solidFill>
                  <a:srgbClr val="6150EA"/>
                </a:solidFill>
                <a:latin typeface="Alexandria"/>
                <a:ea typeface="Alexandria"/>
                <a:cs typeface="Alexandria"/>
              </a:rPr>
              <a:t>الشهر 2</a:t>
            </a:r>
          </a:p>
        </p:txBody>
      </p:sp>
      <p:sp>
        <p:nvSpPr>
          <p:cNvPr id="924" name="TextBox 923"/>
          <p:cNvSpPr txBox="1"/>
          <p:nvPr/>
        </p:nvSpPr>
        <p:spPr>
          <a:xfrm>
            <a:off x="10945368" y="5623560"/>
            <a:ext cx="2423160" cy="1005840"/>
          </a:xfrm>
          <a:prstGeom prst="rect">
            <a:avLst/>
          </a:prstGeom>
          <a:noFill/>
        </p:spPr>
        <p:txBody>
          <a:bodyPr wrap="square" lIns="0" tIns="0" rIns="0" bIns="0" anchor="t">
            <a:spAutoFit/>
          </a:bodyPr>
          <a:lstStyle/>
          <a:p>
            <a:pPr algn="r" rtl="1">
              <a:lnSpc>
                <a:spcPct val="105000"/>
              </a:lnSpc>
            </a:pPr>
            <a:r>
              <a:rPr lang="ar-SA" sz="1900" b="1">
                <a:solidFill>
                  <a:srgbClr val="12183F"/>
                </a:solidFill>
                <a:latin typeface="Alexandria"/>
                <a:ea typeface="Alexandria"/>
                <a:cs typeface="Alexandria"/>
              </a:rPr>
              <a:t>بوت واتساب وتيليجرام</a:t>
            </a:r>
          </a:p>
        </p:txBody>
      </p:sp>
      <p:sp>
        <p:nvSpPr>
          <p:cNvPr id="925" name="TextBox 924"/>
          <p:cNvSpPr txBox="1"/>
          <p:nvPr/>
        </p:nvSpPr>
        <p:spPr>
          <a:xfrm>
            <a:off x="10945368" y="6720840"/>
            <a:ext cx="2423160" cy="219456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وجه الرسالة واستلم الحكم</a:t>
            </a:r>
          </a:p>
        </p:txBody>
      </p:sp>
      <p:sp>
        <p:nvSpPr>
          <p:cNvPr id="926" name="Oval 925"/>
          <p:cNvSpPr/>
          <p:nvPr/>
        </p:nvSpPr>
        <p:spPr>
          <a:xfrm>
            <a:off x="8682228" y="3886200"/>
            <a:ext cx="731520" cy="731520"/>
          </a:xfrm>
          <a:prstGeom prst="ellipse">
            <a:avLst/>
          </a:prstGeom>
          <a:solidFill>
            <a:srgbClr val="6150EA"/>
          </a:solidFill>
          <a:ln>
            <a:noFill/>
          </a:ln>
        </p:spPr>
        <p:txBody>
          <a:bodyPr rtlCol="0" anchor="ctr"/>
          <a:lstStyle/>
          <a:p>
            <a:pPr algn="ctr"/>
            <a:endParaRPr/>
          </a:p>
        </p:txBody>
      </p:sp>
      <p:sp>
        <p:nvSpPr>
          <p:cNvPr id="927" name="TextBox 926"/>
          <p:cNvSpPr txBox="1"/>
          <p:nvPr/>
        </p:nvSpPr>
        <p:spPr>
          <a:xfrm>
            <a:off x="8682228" y="3886200"/>
            <a:ext cx="731520" cy="731520"/>
          </a:xfrm>
          <a:prstGeom prst="rect">
            <a:avLst/>
          </a:prstGeom>
          <a:noFill/>
        </p:spPr>
        <p:txBody>
          <a:bodyPr wrap="square" lIns="0" tIns="0" rIns="0" bIns="0" anchor="ctr">
            <a:spAutoFit/>
          </a:bodyPr>
          <a:lstStyle/>
          <a:p>
            <a:pPr algn="ctr" rtl="0"/>
            <a:r>
              <a:rPr lang="en-US" sz="1800" b="1">
                <a:solidFill>
                  <a:srgbClr val="FFFFFF"/>
                </a:solidFill>
                <a:latin typeface="Alexandria"/>
                <a:ea typeface="Alexandria"/>
                <a:cs typeface="Alexandria"/>
              </a:rPr>
              <a:t>03</a:t>
            </a:r>
          </a:p>
        </p:txBody>
      </p:sp>
      <p:sp>
        <p:nvSpPr>
          <p:cNvPr id="928" name="Rounded Rectangle 927"/>
          <p:cNvSpPr/>
          <p:nvPr/>
        </p:nvSpPr>
        <p:spPr>
          <a:xfrm>
            <a:off x="7607808" y="4937760"/>
            <a:ext cx="2880360" cy="4114800"/>
          </a:xfrm>
          <a:prstGeom prst="roundRect">
            <a:avLst>
              <a:gd name="adj" fmla="val 9523"/>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9" name="TextBox 928"/>
          <p:cNvSpPr txBox="1"/>
          <p:nvPr/>
        </p:nvSpPr>
        <p:spPr>
          <a:xfrm>
            <a:off x="7836408" y="5166360"/>
            <a:ext cx="2423160" cy="411480"/>
          </a:xfrm>
          <a:prstGeom prst="rect">
            <a:avLst/>
          </a:prstGeom>
          <a:noFill/>
        </p:spPr>
        <p:txBody>
          <a:bodyPr wrap="square" lIns="0" tIns="0" rIns="0" bIns="0" anchor="t">
            <a:spAutoFit/>
          </a:bodyPr>
          <a:lstStyle/>
          <a:p>
            <a:pPr algn="r" rtl="1"/>
            <a:r>
              <a:rPr lang="ar-SA" sz="1500" b="1">
                <a:solidFill>
                  <a:srgbClr val="6150EA"/>
                </a:solidFill>
                <a:latin typeface="Alexandria"/>
                <a:ea typeface="Alexandria"/>
                <a:cs typeface="Alexandria"/>
              </a:rPr>
              <a:t>الشهر 3</a:t>
            </a:r>
          </a:p>
        </p:txBody>
      </p:sp>
      <p:sp>
        <p:nvSpPr>
          <p:cNvPr id="930" name="TextBox 929"/>
          <p:cNvSpPr txBox="1"/>
          <p:nvPr/>
        </p:nvSpPr>
        <p:spPr>
          <a:xfrm>
            <a:off x="7836408" y="5623560"/>
            <a:ext cx="2423160" cy="1005840"/>
          </a:xfrm>
          <a:prstGeom prst="rect">
            <a:avLst/>
          </a:prstGeom>
          <a:noFill/>
        </p:spPr>
        <p:txBody>
          <a:bodyPr wrap="square" lIns="0" tIns="0" rIns="0" bIns="0" anchor="t">
            <a:spAutoFit/>
          </a:bodyPr>
          <a:lstStyle/>
          <a:p>
            <a:pPr algn="r" rtl="1">
              <a:lnSpc>
                <a:spcPct val="105000"/>
              </a:lnSpc>
            </a:pPr>
            <a:r>
              <a:rPr lang="ar-SA" sz="1900" b="1">
                <a:solidFill>
                  <a:srgbClr val="12183F"/>
                </a:solidFill>
                <a:latin typeface="Alexandria"/>
                <a:ea typeface="Alexandria"/>
                <a:cs typeface="Alexandria"/>
              </a:rPr>
              <a:t>التطبيقات الأصلية</a:t>
            </a:r>
          </a:p>
        </p:txBody>
      </p:sp>
      <p:sp>
        <p:nvSpPr>
          <p:cNvPr id="931" name="TextBox 930"/>
          <p:cNvSpPr txBox="1"/>
          <p:nvPr/>
        </p:nvSpPr>
        <p:spPr>
          <a:xfrm>
            <a:off x="7836408" y="6720840"/>
            <a:ext cx="2423160" cy="219456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App Store و Google Play — الفقاعة والودجت الحقيقية</a:t>
            </a:r>
          </a:p>
        </p:txBody>
      </p:sp>
      <p:sp>
        <p:nvSpPr>
          <p:cNvPr id="932" name="Oval 931"/>
          <p:cNvSpPr/>
          <p:nvPr/>
        </p:nvSpPr>
        <p:spPr>
          <a:xfrm>
            <a:off x="5573268" y="3886200"/>
            <a:ext cx="731520" cy="731520"/>
          </a:xfrm>
          <a:prstGeom prst="ellipse">
            <a:avLst/>
          </a:prstGeom>
          <a:solidFill>
            <a:srgbClr val="6150EA"/>
          </a:solidFill>
          <a:ln>
            <a:noFill/>
          </a:ln>
        </p:spPr>
        <p:txBody>
          <a:bodyPr rtlCol="0" anchor="ctr"/>
          <a:lstStyle/>
          <a:p>
            <a:pPr algn="ctr"/>
            <a:endParaRPr/>
          </a:p>
        </p:txBody>
      </p:sp>
      <p:sp>
        <p:nvSpPr>
          <p:cNvPr id="933" name="TextBox 932"/>
          <p:cNvSpPr txBox="1"/>
          <p:nvPr/>
        </p:nvSpPr>
        <p:spPr>
          <a:xfrm>
            <a:off x="5573268" y="3886200"/>
            <a:ext cx="731520" cy="731520"/>
          </a:xfrm>
          <a:prstGeom prst="rect">
            <a:avLst/>
          </a:prstGeom>
          <a:noFill/>
        </p:spPr>
        <p:txBody>
          <a:bodyPr wrap="square" lIns="0" tIns="0" rIns="0" bIns="0" anchor="ctr">
            <a:spAutoFit/>
          </a:bodyPr>
          <a:lstStyle/>
          <a:p>
            <a:pPr algn="ctr" rtl="0"/>
            <a:r>
              <a:rPr lang="en-US" sz="1800" b="1">
                <a:solidFill>
                  <a:srgbClr val="FFFFFF"/>
                </a:solidFill>
                <a:latin typeface="Alexandria"/>
                <a:ea typeface="Alexandria"/>
                <a:cs typeface="Alexandria"/>
              </a:rPr>
              <a:t>04</a:t>
            </a:r>
          </a:p>
        </p:txBody>
      </p:sp>
      <p:sp>
        <p:nvSpPr>
          <p:cNvPr id="934" name="Rounded Rectangle 933"/>
          <p:cNvSpPr/>
          <p:nvPr/>
        </p:nvSpPr>
        <p:spPr>
          <a:xfrm>
            <a:off x="4498848" y="4937760"/>
            <a:ext cx="2880360" cy="4114800"/>
          </a:xfrm>
          <a:prstGeom prst="roundRect">
            <a:avLst>
              <a:gd name="adj" fmla="val 9523"/>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35" name="TextBox 934"/>
          <p:cNvSpPr txBox="1"/>
          <p:nvPr/>
        </p:nvSpPr>
        <p:spPr>
          <a:xfrm>
            <a:off x="4727448" y="5166360"/>
            <a:ext cx="2423160" cy="411480"/>
          </a:xfrm>
          <a:prstGeom prst="rect">
            <a:avLst/>
          </a:prstGeom>
          <a:noFill/>
        </p:spPr>
        <p:txBody>
          <a:bodyPr wrap="square" lIns="0" tIns="0" rIns="0" bIns="0" anchor="t">
            <a:spAutoFit/>
          </a:bodyPr>
          <a:lstStyle/>
          <a:p>
            <a:pPr algn="r" rtl="1"/>
            <a:r>
              <a:rPr lang="ar-SA" sz="1500" b="1">
                <a:solidFill>
                  <a:srgbClr val="6150EA"/>
                </a:solidFill>
                <a:latin typeface="Alexandria"/>
                <a:ea typeface="Alexandria"/>
                <a:cs typeface="Alexandria"/>
              </a:rPr>
              <a:t>الشهر 4–5</a:t>
            </a:r>
          </a:p>
        </p:txBody>
      </p:sp>
      <p:sp>
        <p:nvSpPr>
          <p:cNvPr id="936" name="TextBox 935"/>
          <p:cNvSpPr txBox="1"/>
          <p:nvPr/>
        </p:nvSpPr>
        <p:spPr>
          <a:xfrm>
            <a:off x="4727448" y="5623560"/>
            <a:ext cx="2423160" cy="1005840"/>
          </a:xfrm>
          <a:prstGeom prst="rect">
            <a:avLst/>
          </a:prstGeom>
          <a:noFill/>
        </p:spPr>
        <p:txBody>
          <a:bodyPr wrap="square" lIns="0" tIns="0" rIns="0" bIns="0" anchor="t">
            <a:spAutoFit/>
          </a:bodyPr>
          <a:lstStyle/>
          <a:p>
            <a:pPr algn="r" rtl="1">
              <a:lnSpc>
                <a:spcPct val="105000"/>
              </a:lnSpc>
            </a:pPr>
            <a:r>
              <a:rPr lang="ar-SA" sz="1900" b="1">
                <a:solidFill>
                  <a:srgbClr val="12183F"/>
                </a:solidFill>
                <a:latin typeface="Alexandria"/>
                <a:ea typeface="Alexandria"/>
                <a:cs typeface="Alexandria"/>
              </a:rPr>
              <a:t>كتب ولغات أكثر</a:t>
            </a:r>
          </a:p>
        </p:txBody>
      </p:sp>
      <p:sp>
        <p:nvSpPr>
          <p:cNvPr id="937" name="TextBox 936"/>
          <p:cNvSpPr txBox="1"/>
          <p:nvPr/>
        </p:nvSpPr>
        <p:spPr>
          <a:xfrm>
            <a:off x="4727448" y="6720840"/>
            <a:ext cx="2423160" cy="219456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مسند أحمد والمستدرك والبيهقي؛ الأردية والملايوية والبنغالية</a:t>
            </a:r>
          </a:p>
        </p:txBody>
      </p:sp>
      <p:sp>
        <p:nvSpPr>
          <p:cNvPr id="938" name="Oval 937"/>
          <p:cNvSpPr/>
          <p:nvPr/>
        </p:nvSpPr>
        <p:spPr>
          <a:xfrm>
            <a:off x="2464308" y="3886200"/>
            <a:ext cx="731520" cy="731520"/>
          </a:xfrm>
          <a:prstGeom prst="ellipse">
            <a:avLst/>
          </a:prstGeom>
          <a:solidFill>
            <a:srgbClr val="6150EA"/>
          </a:solidFill>
          <a:ln>
            <a:noFill/>
          </a:ln>
        </p:spPr>
        <p:txBody>
          <a:bodyPr rtlCol="0" anchor="ctr"/>
          <a:lstStyle/>
          <a:p>
            <a:pPr algn="ctr"/>
            <a:endParaRPr/>
          </a:p>
        </p:txBody>
      </p:sp>
      <p:sp>
        <p:nvSpPr>
          <p:cNvPr id="939" name="TextBox 938"/>
          <p:cNvSpPr txBox="1"/>
          <p:nvPr/>
        </p:nvSpPr>
        <p:spPr>
          <a:xfrm>
            <a:off x="2464308" y="3886200"/>
            <a:ext cx="731520" cy="731520"/>
          </a:xfrm>
          <a:prstGeom prst="rect">
            <a:avLst/>
          </a:prstGeom>
          <a:noFill/>
        </p:spPr>
        <p:txBody>
          <a:bodyPr wrap="square" lIns="0" tIns="0" rIns="0" bIns="0" anchor="ctr">
            <a:spAutoFit/>
          </a:bodyPr>
          <a:lstStyle/>
          <a:p>
            <a:pPr algn="ctr" rtl="0"/>
            <a:r>
              <a:rPr lang="en-US" sz="1800" b="1">
                <a:solidFill>
                  <a:srgbClr val="FFFFFF"/>
                </a:solidFill>
                <a:latin typeface="Alexandria"/>
                <a:ea typeface="Alexandria"/>
                <a:cs typeface="Alexandria"/>
              </a:rPr>
              <a:t>05</a:t>
            </a:r>
          </a:p>
        </p:txBody>
      </p:sp>
      <p:sp>
        <p:nvSpPr>
          <p:cNvPr id="940" name="Rounded Rectangle 939"/>
          <p:cNvSpPr/>
          <p:nvPr/>
        </p:nvSpPr>
        <p:spPr>
          <a:xfrm>
            <a:off x="1389888" y="4937760"/>
            <a:ext cx="2880360" cy="4114800"/>
          </a:xfrm>
          <a:prstGeom prst="roundRect">
            <a:avLst>
              <a:gd name="adj" fmla="val 9523"/>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41" name="TextBox 940"/>
          <p:cNvSpPr txBox="1"/>
          <p:nvPr/>
        </p:nvSpPr>
        <p:spPr>
          <a:xfrm>
            <a:off x="1618488" y="5166360"/>
            <a:ext cx="2423160" cy="411480"/>
          </a:xfrm>
          <a:prstGeom prst="rect">
            <a:avLst/>
          </a:prstGeom>
          <a:noFill/>
        </p:spPr>
        <p:txBody>
          <a:bodyPr wrap="square" lIns="0" tIns="0" rIns="0" bIns="0" anchor="t">
            <a:spAutoFit/>
          </a:bodyPr>
          <a:lstStyle/>
          <a:p>
            <a:pPr algn="r" rtl="1"/>
            <a:r>
              <a:rPr lang="ar-SA" sz="1500" b="1">
                <a:solidFill>
                  <a:srgbClr val="6150EA"/>
                </a:solidFill>
                <a:latin typeface="Alexandria"/>
                <a:ea typeface="Alexandria"/>
                <a:cs typeface="Alexandria"/>
              </a:rPr>
              <a:t>الشهر 6</a:t>
            </a:r>
          </a:p>
        </p:txBody>
      </p:sp>
      <p:sp>
        <p:nvSpPr>
          <p:cNvPr id="942" name="TextBox 941"/>
          <p:cNvSpPr txBox="1"/>
          <p:nvPr/>
        </p:nvSpPr>
        <p:spPr>
          <a:xfrm>
            <a:off x="1618488" y="5623560"/>
            <a:ext cx="2423160" cy="1005840"/>
          </a:xfrm>
          <a:prstGeom prst="rect">
            <a:avLst/>
          </a:prstGeom>
          <a:noFill/>
        </p:spPr>
        <p:txBody>
          <a:bodyPr wrap="square" lIns="0" tIns="0" rIns="0" bIns="0" anchor="t">
            <a:spAutoFit/>
          </a:bodyPr>
          <a:lstStyle/>
          <a:p>
            <a:pPr algn="r" rtl="1">
              <a:lnSpc>
                <a:spcPct val="105000"/>
              </a:lnSpc>
            </a:pPr>
            <a:r>
              <a:rPr lang="ar-SA" sz="1900" b="1">
                <a:solidFill>
                  <a:srgbClr val="12183F"/>
                </a:solidFill>
                <a:latin typeface="Alexandria"/>
                <a:ea typeface="Alexandria"/>
                <a:cs typeface="Alexandria"/>
              </a:rPr>
              <a:t>واجهة برمجية وإضافة متصفح</a:t>
            </a:r>
          </a:p>
        </p:txBody>
      </p:sp>
      <p:sp>
        <p:nvSpPr>
          <p:cNvPr id="943" name="TextBox 942"/>
          <p:cNvSpPr txBox="1"/>
          <p:nvPr/>
        </p:nvSpPr>
        <p:spPr>
          <a:xfrm>
            <a:off x="1618488" y="6720840"/>
            <a:ext cx="2423160" cy="2194560"/>
          </a:xfrm>
          <a:prstGeom prst="rect">
            <a:avLst/>
          </a:prstGeom>
          <a:noFill/>
        </p:spPr>
        <p:txBody>
          <a:bodyPr wrap="square" lIns="0" tIns="0" rIns="0" bIns="0" anchor="t">
            <a:spAutoFit/>
          </a:bodyPr>
          <a:lstStyle/>
          <a:p>
            <a:pPr algn="r" rtl="1">
              <a:lnSpc>
                <a:spcPct val="110000"/>
              </a:lnSpc>
            </a:pPr>
            <a:r>
              <a:rPr lang="ar-SA" sz="1500" b="0">
                <a:solidFill>
                  <a:srgbClr val="4B5383"/>
                </a:solidFill>
                <a:latin typeface="Alexandria"/>
                <a:ea typeface="Alexandria"/>
                <a:cs typeface="Alexandria"/>
              </a:rPr>
              <a:t>للمنصات والمشرفين لفحص المحتوى قبل نشره</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29"/>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34</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a:stretch/>
        </p:blipFill>
        <p:spPr>
          <a:xfrm>
            <a:off x="1066800" y="693967"/>
            <a:ext cx="3429002" cy="879015"/>
          </a:xfrm>
          <a:prstGeom prst="rect">
            <a:avLst/>
          </a:prstGeom>
          <a:noFill/>
          <a:ln>
            <a:noFill/>
          </a:ln>
        </p:spPr>
      </p:pic>
      <p:sp>
        <p:nvSpPr>
          <p:cNvPr id="901" name="TextBox 900"/>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2EF2C2"/>
                </a:solidFill>
                <a:latin typeface="Alexandria"/>
                <a:ea typeface="Alexandria"/>
                <a:cs typeface="Alexandria"/>
              </a:rPr>
              <a:t>جربه</a:t>
            </a:r>
          </a:p>
        </p:txBody>
      </p:sp>
      <p:sp>
        <p:nvSpPr>
          <p:cNvPr id="902" name="TextBox 901"/>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F2F4FF"/>
                </a:solidFill>
                <a:latin typeface="Alexandria"/>
                <a:ea typeface="Alexandria"/>
                <a:cs typeface="Alexandria"/>
              </a:rPr>
              <a:t>جربه الآن</a:t>
            </a:r>
          </a:p>
        </p:txBody>
      </p:sp>
      <p:sp>
        <p:nvSpPr>
          <p:cNvPr id="903" name="TextBox 902"/>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AEB4DA"/>
                </a:solidFill>
                <a:latin typeface="Alexandria"/>
                <a:ea typeface="Alexandria"/>
                <a:cs typeface="Alexandria"/>
              </a:rPr>
              <a:t>رابط حي، ومستودع عام، وتشغيل محلي في دقيقتين</a:t>
            </a:r>
          </a:p>
        </p:txBody>
      </p:sp>
      <p:sp>
        <p:nvSpPr>
          <p:cNvPr id="904" name="TextBox 903"/>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AEB4DA"/>
                </a:solidFill>
                <a:latin typeface="Alexandria"/>
                <a:ea typeface="Alexandria"/>
                <a:cs typeface="Alexandria"/>
              </a:rPr>
              <a:t>تحدي الذكاء الاصطناعي في خدمة المحتوى الإسلامي · ثبت</a:t>
            </a:r>
          </a:p>
        </p:txBody>
      </p:sp>
      <p:pic>
        <p:nvPicPr>
          <p:cNvPr id="905" name="Picture 904" descr="qr.png"/>
          <p:cNvPicPr>
            <a:picLocks noChangeAspect="1"/>
          </p:cNvPicPr>
          <p:nvPr/>
        </p:nvPicPr>
        <p:blipFill>
          <a:blip r:embed="rId5"/>
          <a:stretch>
            <a:fillRect/>
          </a:stretch>
        </p:blipFill>
        <p:spPr>
          <a:xfrm>
            <a:off x="1408176" y="3200400"/>
            <a:ext cx="3291840" cy="3291840"/>
          </a:xfrm>
          <a:prstGeom prst="roundRect">
            <a:avLst>
              <a:gd name="adj" fmla="val 6944"/>
            </a:avLst>
          </a:prstGeom>
        </p:spPr>
      </p:pic>
      <p:sp>
        <p:nvSpPr>
          <p:cNvPr id="906" name="TextBox 905"/>
          <p:cNvSpPr txBox="1"/>
          <p:nvPr/>
        </p:nvSpPr>
        <p:spPr>
          <a:xfrm>
            <a:off x="1408176" y="6629400"/>
            <a:ext cx="3291840" cy="457200"/>
          </a:xfrm>
          <a:prstGeom prst="rect">
            <a:avLst/>
          </a:prstGeom>
          <a:noFill/>
        </p:spPr>
        <p:txBody>
          <a:bodyPr wrap="square" lIns="0" tIns="0" rIns="0" bIns="0" anchor="t">
            <a:spAutoFit/>
          </a:bodyPr>
          <a:lstStyle/>
          <a:p>
            <a:pPr algn="ctr" rtl="1"/>
            <a:r>
              <a:rPr lang="ar-SA" sz="1600" b="0">
                <a:solidFill>
                  <a:srgbClr val="AEB4DA"/>
                </a:solidFill>
                <a:latin typeface="Alexandria"/>
                <a:ea typeface="Alexandria"/>
                <a:cs typeface="Alexandria"/>
              </a:rPr>
              <a:t>امسح لتفتح ثبت</a:t>
            </a:r>
          </a:p>
        </p:txBody>
      </p:sp>
      <p:sp>
        <p:nvSpPr>
          <p:cNvPr id="907" name="Rounded Rectangle 906"/>
          <p:cNvSpPr/>
          <p:nvPr/>
        </p:nvSpPr>
        <p:spPr>
          <a:xfrm>
            <a:off x="5120640" y="3200400"/>
            <a:ext cx="11722608" cy="777240"/>
          </a:xfrm>
          <a:prstGeom prst="roundRect">
            <a:avLst>
              <a:gd name="adj" fmla="val 35294"/>
            </a:avLst>
          </a:prstGeom>
          <a:solidFill>
            <a:srgbClr val="1C2558"/>
          </a:solidFill>
          <a:ln>
            <a:noFill/>
          </a:ln>
        </p:spPr>
        <p:txBody>
          <a:bodyPr rtlCol="0" anchor="ctr"/>
          <a:lstStyle/>
          <a:p>
            <a:pPr algn="ctr"/>
            <a:endParaRPr/>
          </a:p>
        </p:txBody>
      </p:sp>
      <p:sp>
        <p:nvSpPr>
          <p:cNvPr id="908" name="TextBox 907"/>
          <p:cNvSpPr txBox="1"/>
          <p:nvPr/>
        </p:nvSpPr>
        <p:spPr>
          <a:xfrm>
            <a:off x="13716000" y="3200400"/>
            <a:ext cx="2880360" cy="777240"/>
          </a:xfrm>
          <a:prstGeom prst="rect">
            <a:avLst/>
          </a:prstGeom>
          <a:noFill/>
        </p:spPr>
        <p:txBody>
          <a:bodyPr wrap="square" lIns="0" tIns="0" rIns="0" bIns="0" anchor="ctr">
            <a:spAutoFit/>
          </a:bodyPr>
          <a:lstStyle/>
          <a:p>
            <a:pPr algn="r" rtl="1"/>
            <a:r>
              <a:rPr lang="ar-SA" sz="1700" b="1">
                <a:solidFill>
                  <a:srgbClr val="2EF2C2"/>
                </a:solidFill>
                <a:latin typeface="Alexandria"/>
                <a:ea typeface="Alexandria"/>
                <a:cs typeface="Alexandria"/>
              </a:rPr>
              <a:t>الموقع</a:t>
            </a:r>
          </a:p>
        </p:txBody>
      </p:sp>
      <p:sp>
        <p:nvSpPr>
          <p:cNvPr id="909" name="TextBox 908"/>
          <p:cNvSpPr txBox="1"/>
          <p:nvPr/>
        </p:nvSpPr>
        <p:spPr>
          <a:xfrm>
            <a:off x="5394960" y="3200400"/>
            <a:ext cx="8229600" cy="777240"/>
          </a:xfrm>
          <a:prstGeom prst="rect">
            <a:avLst/>
          </a:prstGeom>
          <a:noFill/>
        </p:spPr>
        <p:txBody>
          <a:bodyPr wrap="square" lIns="0" tIns="0" rIns="0" bIns="0" anchor="ctr">
            <a:spAutoFit/>
          </a:bodyPr>
          <a:lstStyle/>
          <a:p>
            <a:pPr algn="l" rtl="0"/>
            <a:r>
              <a:rPr lang="en-US" sz="1900" b="1">
                <a:solidFill>
                  <a:srgbClr val="F2F4FF"/>
                </a:solidFill>
                <a:latin typeface="Alexandria"/>
                <a:ea typeface="Alexandria"/>
                <a:cs typeface="Alexandria"/>
              </a:rPr>
              <a:t>islamicaich.vercel.app</a:t>
            </a:r>
          </a:p>
        </p:txBody>
      </p:sp>
      <p:sp>
        <p:nvSpPr>
          <p:cNvPr id="910" name="Rounded Rectangle 909"/>
          <p:cNvSpPr/>
          <p:nvPr/>
        </p:nvSpPr>
        <p:spPr>
          <a:xfrm>
            <a:off x="5120640" y="4114800"/>
            <a:ext cx="11722608" cy="777240"/>
          </a:xfrm>
          <a:prstGeom prst="roundRect">
            <a:avLst>
              <a:gd name="adj" fmla="val 35294"/>
            </a:avLst>
          </a:prstGeom>
          <a:solidFill>
            <a:srgbClr val="1C2558"/>
          </a:solidFill>
          <a:ln>
            <a:noFill/>
          </a:ln>
        </p:spPr>
        <p:txBody>
          <a:bodyPr rtlCol="0" anchor="ctr"/>
          <a:lstStyle/>
          <a:p>
            <a:pPr algn="ctr"/>
            <a:endParaRPr/>
          </a:p>
        </p:txBody>
      </p:sp>
      <p:sp>
        <p:nvSpPr>
          <p:cNvPr id="911" name="TextBox 910"/>
          <p:cNvSpPr txBox="1"/>
          <p:nvPr/>
        </p:nvSpPr>
        <p:spPr>
          <a:xfrm>
            <a:off x="13716000" y="4114800"/>
            <a:ext cx="2880360" cy="777240"/>
          </a:xfrm>
          <a:prstGeom prst="rect">
            <a:avLst/>
          </a:prstGeom>
          <a:noFill/>
        </p:spPr>
        <p:txBody>
          <a:bodyPr wrap="square" lIns="0" tIns="0" rIns="0" bIns="0" anchor="ctr">
            <a:spAutoFit/>
          </a:bodyPr>
          <a:lstStyle/>
          <a:p>
            <a:pPr algn="r" rtl="1"/>
            <a:r>
              <a:rPr lang="ar-SA" sz="1700" b="1">
                <a:solidFill>
                  <a:srgbClr val="2EF2C2"/>
                </a:solidFill>
                <a:latin typeface="Alexandria"/>
                <a:ea typeface="Alexandria"/>
                <a:cs typeface="Alexandria"/>
              </a:rPr>
              <a:t>أداة الحاسوب</a:t>
            </a:r>
          </a:p>
        </p:txBody>
      </p:sp>
      <p:sp>
        <p:nvSpPr>
          <p:cNvPr id="912" name="TextBox 911"/>
          <p:cNvSpPr txBox="1"/>
          <p:nvPr/>
        </p:nvSpPr>
        <p:spPr>
          <a:xfrm>
            <a:off x="5394960" y="4114800"/>
            <a:ext cx="8229600" cy="777240"/>
          </a:xfrm>
          <a:prstGeom prst="rect">
            <a:avLst/>
          </a:prstGeom>
          <a:noFill/>
        </p:spPr>
        <p:txBody>
          <a:bodyPr wrap="square" lIns="0" tIns="0" rIns="0" bIns="0" anchor="ctr">
            <a:spAutoFit/>
          </a:bodyPr>
          <a:lstStyle/>
          <a:p>
            <a:pPr algn="l" rtl="0"/>
            <a:r>
              <a:rPr lang="en-US" sz="1900" b="1">
                <a:solidFill>
                  <a:srgbClr val="F2F4FF"/>
                </a:solidFill>
                <a:latin typeface="Alexandria"/>
                <a:ea typeface="Alexandria"/>
                <a:cs typeface="Alexandria"/>
              </a:rPr>
              <a:t>islamicaich.vercel.app/verify</a:t>
            </a:r>
          </a:p>
        </p:txBody>
      </p:sp>
      <p:sp>
        <p:nvSpPr>
          <p:cNvPr id="913" name="Rounded Rectangle 912"/>
          <p:cNvSpPr/>
          <p:nvPr/>
        </p:nvSpPr>
        <p:spPr>
          <a:xfrm>
            <a:off x="5120640" y="5029200"/>
            <a:ext cx="11722608" cy="777240"/>
          </a:xfrm>
          <a:prstGeom prst="roundRect">
            <a:avLst>
              <a:gd name="adj" fmla="val 35294"/>
            </a:avLst>
          </a:prstGeom>
          <a:solidFill>
            <a:srgbClr val="1C2558"/>
          </a:solidFill>
          <a:ln>
            <a:noFill/>
          </a:ln>
        </p:spPr>
        <p:txBody>
          <a:bodyPr rtlCol="0" anchor="ctr"/>
          <a:lstStyle/>
          <a:p>
            <a:pPr algn="ctr"/>
            <a:endParaRPr/>
          </a:p>
        </p:txBody>
      </p:sp>
      <p:sp>
        <p:nvSpPr>
          <p:cNvPr id="914" name="TextBox 913"/>
          <p:cNvSpPr txBox="1"/>
          <p:nvPr/>
        </p:nvSpPr>
        <p:spPr>
          <a:xfrm>
            <a:off x="13716000" y="5029200"/>
            <a:ext cx="2880360" cy="777240"/>
          </a:xfrm>
          <a:prstGeom prst="rect">
            <a:avLst/>
          </a:prstGeom>
          <a:noFill/>
        </p:spPr>
        <p:txBody>
          <a:bodyPr wrap="square" lIns="0" tIns="0" rIns="0" bIns="0" anchor="ctr">
            <a:spAutoFit/>
          </a:bodyPr>
          <a:lstStyle/>
          <a:p>
            <a:pPr algn="r" rtl="1"/>
            <a:r>
              <a:rPr lang="ar-SA" sz="1700" b="1">
                <a:solidFill>
                  <a:srgbClr val="2EF2C2"/>
                </a:solidFill>
                <a:latin typeface="Alexandria"/>
                <a:ea typeface="Alexandria"/>
                <a:cs typeface="Alexandria"/>
              </a:rPr>
              <a:t>التطبيق للجنة</a:t>
            </a:r>
          </a:p>
        </p:txBody>
      </p:sp>
      <p:sp>
        <p:nvSpPr>
          <p:cNvPr id="915" name="TextBox 914"/>
          <p:cNvSpPr txBox="1"/>
          <p:nvPr/>
        </p:nvSpPr>
        <p:spPr>
          <a:xfrm>
            <a:off x="5394960" y="5029200"/>
            <a:ext cx="8229600" cy="777240"/>
          </a:xfrm>
          <a:prstGeom prst="rect">
            <a:avLst/>
          </a:prstGeom>
          <a:noFill/>
        </p:spPr>
        <p:txBody>
          <a:bodyPr wrap="square" lIns="0" tIns="0" rIns="0" bIns="0" anchor="ctr">
            <a:spAutoFit/>
          </a:bodyPr>
          <a:lstStyle/>
          <a:p>
            <a:pPr algn="l" rtl="0"/>
            <a:r>
              <a:rPr lang="en-US" sz="1900" b="1">
                <a:solidFill>
                  <a:srgbClr val="F2F4FF"/>
                </a:solidFill>
                <a:latin typeface="Alexandria"/>
                <a:ea typeface="Alexandria"/>
                <a:cs typeface="Alexandria"/>
              </a:rPr>
              <a:t>islamicaich.vercel.app/mobile</a:t>
            </a:r>
          </a:p>
        </p:txBody>
      </p:sp>
      <p:sp>
        <p:nvSpPr>
          <p:cNvPr id="916" name="Rounded Rectangle 915"/>
          <p:cNvSpPr/>
          <p:nvPr/>
        </p:nvSpPr>
        <p:spPr>
          <a:xfrm>
            <a:off x="5120640" y="5943600"/>
            <a:ext cx="11722608" cy="777240"/>
          </a:xfrm>
          <a:prstGeom prst="roundRect">
            <a:avLst>
              <a:gd name="adj" fmla="val 35294"/>
            </a:avLst>
          </a:prstGeom>
          <a:solidFill>
            <a:srgbClr val="1C2558"/>
          </a:solidFill>
          <a:ln>
            <a:noFill/>
          </a:ln>
        </p:spPr>
        <p:txBody>
          <a:bodyPr rtlCol="0" anchor="ctr"/>
          <a:lstStyle/>
          <a:p>
            <a:pPr algn="ctr"/>
            <a:endParaRPr/>
          </a:p>
        </p:txBody>
      </p:sp>
      <p:sp>
        <p:nvSpPr>
          <p:cNvPr id="917" name="TextBox 916"/>
          <p:cNvSpPr txBox="1"/>
          <p:nvPr/>
        </p:nvSpPr>
        <p:spPr>
          <a:xfrm>
            <a:off x="13716000" y="5943600"/>
            <a:ext cx="2880360" cy="777240"/>
          </a:xfrm>
          <a:prstGeom prst="rect">
            <a:avLst/>
          </a:prstGeom>
          <a:noFill/>
        </p:spPr>
        <p:txBody>
          <a:bodyPr wrap="square" lIns="0" tIns="0" rIns="0" bIns="0" anchor="ctr">
            <a:spAutoFit/>
          </a:bodyPr>
          <a:lstStyle/>
          <a:p>
            <a:pPr algn="r" rtl="1"/>
            <a:r>
              <a:rPr lang="ar-SA" sz="1700" b="1">
                <a:solidFill>
                  <a:srgbClr val="2EF2C2"/>
                </a:solidFill>
                <a:latin typeface="Alexandria"/>
                <a:ea typeface="Alexandria"/>
                <a:cs typeface="Alexandria"/>
              </a:rPr>
              <a:t>الكود والتوثيق</a:t>
            </a:r>
          </a:p>
        </p:txBody>
      </p:sp>
      <p:sp>
        <p:nvSpPr>
          <p:cNvPr id="918" name="TextBox 917"/>
          <p:cNvSpPr txBox="1"/>
          <p:nvPr/>
        </p:nvSpPr>
        <p:spPr>
          <a:xfrm>
            <a:off x="5394960" y="5943600"/>
            <a:ext cx="8229600" cy="777240"/>
          </a:xfrm>
          <a:prstGeom prst="rect">
            <a:avLst/>
          </a:prstGeom>
          <a:noFill/>
        </p:spPr>
        <p:txBody>
          <a:bodyPr wrap="square" lIns="0" tIns="0" rIns="0" bIns="0" anchor="ctr">
            <a:spAutoFit/>
          </a:bodyPr>
          <a:lstStyle/>
          <a:p>
            <a:pPr algn="l" rtl="0"/>
            <a:r>
              <a:rPr lang="en-US" sz="1900" b="1">
                <a:solidFill>
                  <a:srgbClr val="F2F4FF"/>
                </a:solidFill>
                <a:latin typeface="Alexandria"/>
                <a:ea typeface="Alexandria"/>
                <a:cs typeface="Alexandria"/>
              </a:rPr>
              <a:t>github.com/youmrx3/islamicaich</a:t>
            </a:r>
          </a:p>
        </p:txBody>
      </p:sp>
      <p:sp>
        <p:nvSpPr>
          <p:cNvPr id="919" name="Rounded Rectangle 918"/>
          <p:cNvSpPr/>
          <p:nvPr/>
        </p:nvSpPr>
        <p:spPr>
          <a:xfrm>
            <a:off x="5120640" y="6949440"/>
            <a:ext cx="11722608" cy="2103120"/>
          </a:xfrm>
          <a:prstGeom prst="roundRect">
            <a:avLst>
              <a:gd name="adj" fmla="val 13043"/>
            </a:avLst>
          </a:prstGeom>
          <a:solidFill>
            <a:srgbClr val="0B1030"/>
          </a:solidFill>
          <a:ln>
            <a:noFill/>
          </a:ln>
        </p:spPr>
        <p:txBody>
          <a:bodyPr rtlCol="0" anchor="ctr"/>
          <a:lstStyle/>
          <a:p>
            <a:pPr algn="ctr"/>
            <a:endParaRPr/>
          </a:p>
        </p:txBody>
      </p:sp>
      <p:sp>
        <p:nvSpPr>
          <p:cNvPr id="920" name="TextBox 919"/>
          <p:cNvSpPr txBox="1"/>
          <p:nvPr/>
        </p:nvSpPr>
        <p:spPr>
          <a:xfrm>
            <a:off x="5394960" y="7086600"/>
            <a:ext cx="11155680" cy="411480"/>
          </a:xfrm>
          <a:prstGeom prst="rect">
            <a:avLst/>
          </a:prstGeom>
          <a:noFill/>
        </p:spPr>
        <p:txBody>
          <a:bodyPr wrap="square" lIns="0" tIns="0" rIns="0" bIns="0" anchor="t">
            <a:spAutoFit/>
          </a:bodyPr>
          <a:lstStyle/>
          <a:p>
            <a:pPr algn="r" rtl="1"/>
            <a:r>
              <a:rPr lang="ar-SA" sz="1600" b="1">
                <a:solidFill>
                  <a:srgbClr val="2EF2C2"/>
                </a:solidFill>
                <a:latin typeface="Alexandria"/>
                <a:ea typeface="Alexandria"/>
                <a:cs typeface="Alexandria"/>
              </a:rPr>
              <a:t>التشغيل محليا (Python 3.11+)</a:t>
            </a:r>
          </a:p>
        </p:txBody>
      </p:sp>
      <p:sp>
        <p:nvSpPr>
          <p:cNvPr id="921" name="TextBox 920"/>
          <p:cNvSpPr txBox="1"/>
          <p:nvPr/>
        </p:nvSpPr>
        <p:spPr>
          <a:xfrm>
            <a:off x="5394960" y="7543800"/>
            <a:ext cx="11155680" cy="1417320"/>
          </a:xfrm>
          <a:prstGeom prst="rect">
            <a:avLst/>
          </a:prstGeom>
          <a:noFill/>
        </p:spPr>
        <p:txBody>
          <a:bodyPr wrap="square" lIns="0" tIns="0" rIns="0" bIns="0" anchor="t">
            <a:spAutoFit/>
          </a:bodyPr>
          <a:lstStyle/>
          <a:p>
            <a:pPr algn="l" rtl="0">
              <a:spcAft>
                <a:spcPts val="400"/>
              </a:spcAft>
            </a:pPr>
            <a:r>
              <a:rPr lang="en-US" sz="1500" b="0">
                <a:solidFill>
                  <a:srgbClr val="F2F4FF"/>
                </a:solidFill>
                <a:latin typeface="Alexandria"/>
                <a:ea typeface="Alexandria"/>
                <a:cs typeface="Alexandria"/>
              </a:rPr>
              <a:t>git clone https://github.com/youmrx3/islamicaich &amp;&amp; cd islamicaich</a:t>
            </a:r>
          </a:p>
          <a:p>
            <a:pPr algn="l" rtl="0">
              <a:spcAft>
                <a:spcPts val="400"/>
              </a:spcAft>
            </a:pPr>
            <a:r>
              <a:rPr lang="en-US" sz="1500" b="0">
                <a:solidFill>
                  <a:srgbClr val="F2F4FF"/>
                </a:solidFill>
                <a:latin typeface="Alexandria"/>
                <a:ea typeface="Alexandria"/>
                <a:cs typeface="Alexandria"/>
              </a:rPr>
              <a:t>pip install -r requirements-dev.txt</a:t>
            </a:r>
          </a:p>
          <a:p>
            <a:pPr algn="l" rtl="0">
              <a:spcAft>
                <a:spcPts val="400"/>
              </a:spcAft>
            </a:pPr>
            <a:r>
              <a:rPr lang="en-US" sz="1500" b="0">
                <a:solidFill>
                  <a:srgbClr val="F2F4FF"/>
                </a:solidFill>
                <a:latin typeface="Alexandria"/>
                <a:ea typeface="Alexandria"/>
                <a:cs typeface="Alexandria"/>
              </a:rPr>
              <a:t>python -m uvicorn index:app --port 8000   →   http://localhost:8000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a:spLocks noGrp="1"/>
          </p:cNvSpPr>
          <p:nvPr>
            <p:ph type="sldNum" idx="12"/>
          </p:nvPr>
        </p:nvSpPr>
        <p:spPr>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35</a:t>
            </a:fld>
            <a:endParaRPr/>
          </a:p>
        </p:txBody>
      </p:sp>
      <p:sp>
        <p:nvSpPr>
          <p:cNvPr id="909" name="TextBox 908"/>
          <p:cNvSpPr txBox="1"/>
          <p:nvPr/>
        </p:nvSpPr>
        <p:spPr>
          <a:xfrm>
            <a:off x="9692640" y="914400"/>
            <a:ext cx="7150608" cy="45720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فريق العمل</a:t>
            </a:r>
          </a:p>
        </p:txBody>
      </p:sp>
      <p:sp>
        <p:nvSpPr>
          <p:cNvPr id="910" name="TextBox 909"/>
          <p:cNvSpPr txBox="1"/>
          <p:nvPr/>
        </p:nvSpPr>
        <p:spPr>
          <a:xfrm>
            <a:off x="1408176" y="1371600"/>
            <a:ext cx="15435072" cy="1005840"/>
          </a:xfrm>
          <a:prstGeom prst="rect">
            <a:avLst/>
          </a:prstGeom>
          <a:noFill/>
        </p:spPr>
        <p:txBody>
          <a:bodyPr wrap="square" lIns="0" tIns="0" rIns="0" bIns="0" anchor="ctr">
            <a:spAutoFit/>
          </a:bodyPr>
          <a:lstStyle/>
          <a:p>
            <a:pPr algn="r" rtl="1"/>
            <a:r>
              <a:rPr lang="ar-SA" sz="4000" b="1">
                <a:solidFill>
                  <a:srgbClr val="12183F"/>
                </a:solidFill>
                <a:latin typeface="Alexandria"/>
                <a:ea typeface="Alexandria"/>
                <a:cs typeface="Alexandria"/>
              </a:rPr>
              <a:t>فريق العمل</a:t>
            </a:r>
          </a:p>
        </p:txBody>
      </p:sp>
      <p:sp>
        <p:nvSpPr>
          <p:cNvPr id="911" name="TextBox 910"/>
          <p:cNvSpPr txBox="1"/>
          <p:nvPr/>
        </p:nvSpPr>
        <p:spPr>
          <a:xfrm>
            <a:off x="1408176" y="2395728"/>
            <a:ext cx="15435072" cy="548640"/>
          </a:xfrm>
          <a:prstGeom prst="rect">
            <a:avLst/>
          </a:prstGeom>
          <a:noFill/>
        </p:spPr>
        <p:txBody>
          <a:bodyPr wrap="square" lIns="0" tIns="0" rIns="0" bIns="0" anchor="t">
            <a:spAutoFit/>
          </a:bodyPr>
          <a:lstStyle/>
          <a:p>
            <a:pPr algn="r" rtl="1"/>
            <a:r>
              <a:rPr lang="ar-SA" sz="2100" b="0">
                <a:solidFill>
                  <a:srgbClr val="4B5383"/>
                </a:solidFill>
                <a:latin typeface="Alexandria"/>
                <a:ea typeface="Alexandria"/>
                <a:cs typeface="Alexandria"/>
              </a:rPr>
              <a:t>مشارك فردي غطى التصميم والهندسة والبحث</a:t>
            </a:r>
          </a:p>
        </p:txBody>
      </p:sp>
      <p:sp>
        <p:nvSpPr>
          <p:cNvPr id="912" name="TextBox 911"/>
          <p:cNvSpPr txBox="1"/>
          <p:nvPr/>
        </p:nvSpPr>
        <p:spPr>
          <a:xfrm>
            <a:off x="5943600" y="9491472"/>
            <a:ext cx="10899648" cy="365760"/>
          </a:xfrm>
          <a:prstGeom prst="rect">
            <a:avLst/>
          </a:prstGeom>
          <a:noFill/>
        </p:spPr>
        <p:txBody>
          <a:bodyPr wrap="square" lIns="0" tIns="0" rIns="0" bIns="0" anchor="t">
            <a:spAutoFit/>
          </a:bodyPr>
          <a:lstStyle/>
          <a:p>
            <a:pPr algn="r" rtl="1"/>
            <a:r>
              <a:rPr lang="ar-SA" sz="1300" b="0">
                <a:solidFill>
                  <a:srgbClr val="4B5383"/>
                </a:solidFill>
                <a:latin typeface="Alexandria"/>
                <a:ea typeface="Alexandria"/>
                <a:cs typeface="Alexandria"/>
              </a:rPr>
              <a:t>تحدي الذكاء الاصطناعي في خدمة المحتوى الإسلامي · ثبت</a:t>
            </a:r>
          </a:p>
        </p:txBody>
      </p:sp>
      <p:pic>
        <p:nvPicPr>
          <p:cNvPr id="913" name="Picture 912" descr="youcef-kouadria.jpg"/>
          <p:cNvPicPr>
            <a:picLocks noChangeAspect="1"/>
          </p:cNvPicPr>
          <p:nvPr/>
        </p:nvPicPr>
        <p:blipFill>
          <a:blip r:embed="rId5"/>
          <a:stretch>
            <a:fillRect/>
          </a:stretch>
        </p:blipFill>
        <p:spPr>
          <a:xfrm>
            <a:off x="12252960" y="3200400"/>
            <a:ext cx="4590288" cy="4590288"/>
          </a:xfrm>
          <a:prstGeom prst="roundRect">
            <a:avLst>
              <a:gd name="adj" fmla="val 7968"/>
            </a:avLst>
          </a:prstGeom>
          <a:effectLst>
            <a:outerShdw blurRad="380000" dist="120000" dir="5400000" algn="t" rotWithShape="0">
              <a:srgbClr val="000000">
                <a:alpha val="40000"/>
              </a:srgbClr>
            </a:outerShdw>
          </a:effectLst>
        </p:spPr>
      </p:pic>
      <p:sp>
        <p:nvSpPr>
          <p:cNvPr id="914" name="TextBox 913"/>
          <p:cNvSpPr txBox="1"/>
          <p:nvPr/>
        </p:nvSpPr>
        <p:spPr>
          <a:xfrm>
            <a:off x="1408176" y="3246120"/>
            <a:ext cx="10424160" cy="731520"/>
          </a:xfrm>
          <a:prstGeom prst="rect">
            <a:avLst/>
          </a:prstGeom>
          <a:noFill/>
        </p:spPr>
        <p:txBody>
          <a:bodyPr wrap="square" lIns="0" tIns="0" rIns="0" bIns="0" anchor="t">
            <a:spAutoFit/>
          </a:bodyPr>
          <a:lstStyle/>
          <a:p>
            <a:pPr algn="r" rtl="1"/>
            <a:r>
              <a:rPr lang="ar-SA" sz="3600" b="1">
                <a:solidFill>
                  <a:srgbClr val="12183F"/>
                </a:solidFill>
                <a:latin typeface="Alexandria"/>
                <a:ea typeface="Alexandria"/>
                <a:cs typeface="Alexandria"/>
              </a:rPr>
              <a:t>يوسف قوادرية</a:t>
            </a:r>
          </a:p>
        </p:txBody>
      </p:sp>
      <p:sp>
        <p:nvSpPr>
          <p:cNvPr id="915" name="TextBox 914"/>
          <p:cNvSpPr txBox="1"/>
          <p:nvPr/>
        </p:nvSpPr>
        <p:spPr>
          <a:xfrm>
            <a:off x="1408176" y="4069080"/>
            <a:ext cx="10424160" cy="502920"/>
          </a:xfrm>
          <a:prstGeom prst="rect">
            <a:avLst/>
          </a:prstGeom>
          <a:noFill/>
        </p:spPr>
        <p:txBody>
          <a:bodyPr wrap="square" lIns="0" tIns="0" rIns="0" bIns="0" anchor="t">
            <a:spAutoFit/>
          </a:bodyPr>
          <a:lstStyle/>
          <a:p>
            <a:pPr algn="r" rtl="1"/>
            <a:r>
              <a:rPr lang="ar-SA" sz="1800" b="1">
                <a:solidFill>
                  <a:srgbClr val="6150EA"/>
                </a:solidFill>
                <a:latin typeface="Alexandria"/>
                <a:ea typeface="Alexandria"/>
                <a:cs typeface="Alexandria"/>
              </a:rPr>
              <a:t>مصمم جرافيك أول · مهندس في علوم الحاسوب · طالب دكتوراه في معالجة اللغات الطبيعية</a:t>
            </a:r>
          </a:p>
        </p:txBody>
      </p:sp>
      <p:sp>
        <p:nvSpPr>
          <p:cNvPr id="916" name="TextBox 915"/>
          <p:cNvSpPr txBox="1"/>
          <p:nvPr/>
        </p:nvSpPr>
        <p:spPr>
          <a:xfrm>
            <a:off x="1408176" y="4754880"/>
            <a:ext cx="10424160" cy="1371600"/>
          </a:xfrm>
          <a:prstGeom prst="rect">
            <a:avLst/>
          </a:prstGeom>
          <a:noFill/>
        </p:spPr>
        <p:txBody>
          <a:bodyPr wrap="square" lIns="0" tIns="0" rIns="0" bIns="0" anchor="t">
            <a:spAutoFit/>
          </a:bodyPr>
          <a:lstStyle/>
          <a:p>
            <a:pPr algn="r" rtl="1">
              <a:lnSpc>
                <a:spcPct val="115000"/>
              </a:lnSpc>
            </a:pPr>
            <a:r>
              <a:rPr lang="ar-SA" sz="1700" b="0">
                <a:solidFill>
                  <a:srgbClr val="4B5383"/>
                </a:solidFill>
                <a:latin typeface="Alexandria"/>
                <a:ea typeface="Alexandria"/>
                <a:cs typeface="Alexandria"/>
              </a:rPr>
              <a:t>«حين يلتقي التصميم بفهم اللغة، يصبح التحقق في متناول الجميع.» صمم الهوية كاملة، ثم بنى الموقع والتطبيق ومحرك التحقق.</a:t>
            </a:r>
          </a:p>
        </p:txBody>
      </p:sp>
      <p:sp>
        <p:nvSpPr>
          <p:cNvPr id="917" name="Rounded Rectangle 916"/>
          <p:cNvSpPr/>
          <p:nvPr/>
        </p:nvSpPr>
        <p:spPr>
          <a:xfrm>
            <a:off x="8449056" y="6355080"/>
            <a:ext cx="3337560" cy="1828800"/>
          </a:xfrm>
          <a:prstGeom prst="roundRect">
            <a:avLst>
              <a:gd name="adj" fmla="val 15000"/>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18" name="TextBox 917"/>
          <p:cNvSpPr txBox="1"/>
          <p:nvPr/>
        </p:nvSpPr>
        <p:spPr>
          <a:xfrm>
            <a:off x="8677656" y="6537960"/>
            <a:ext cx="2880360" cy="457200"/>
          </a:xfrm>
          <a:prstGeom prst="rect">
            <a:avLst/>
          </a:prstGeom>
          <a:noFill/>
        </p:spPr>
        <p:txBody>
          <a:bodyPr wrap="square" lIns="0" tIns="0" rIns="0" bIns="0" anchor="t">
            <a:spAutoFit/>
          </a:bodyPr>
          <a:lstStyle/>
          <a:p>
            <a:pPr algn="r" rtl="1"/>
            <a:r>
              <a:rPr lang="ar-SA" sz="1900" b="1">
                <a:solidFill>
                  <a:srgbClr val="6150EA"/>
                </a:solidFill>
                <a:latin typeface="Alexandria"/>
                <a:ea typeface="Alexandria"/>
                <a:cs typeface="Alexandria"/>
              </a:rPr>
              <a:t>التصميم</a:t>
            </a:r>
          </a:p>
        </p:txBody>
      </p:sp>
      <p:sp>
        <p:nvSpPr>
          <p:cNvPr id="919" name="TextBox 918"/>
          <p:cNvSpPr txBox="1"/>
          <p:nvPr/>
        </p:nvSpPr>
        <p:spPr>
          <a:xfrm>
            <a:off x="8677656" y="7040880"/>
            <a:ext cx="2880360" cy="1097280"/>
          </a:xfrm>
          <a:prstGeom prst="rect">
            <a:avLst/>
          </a:prstGeom>
          <a:noFill/>
        </p:spPr>
        <p:txBody>
          <a:bodyPr wrap="square" lIns="0" tIns="0" rIns="0" bIns="0" anchor="t">
            <a:spAutoFit/>
          </a:bodyPr>
          <a:lstStyle/>
          <a:p>
            <a:pPr algn="r" rtl="1">
              <a:lnSpc>
                <a:spcPct val="110000"/>
              </a:lnSpc>
            </a:pPr>
            <a:r>
              <a:rPr lang="ar-SA" sz="1400" b="0">
                <a:solidFill>
                  <a:srgbClr val="12183F"/>
                </a:solidFill>
                <a:latin typeface="Alexandria"/>
                <a:ea typeface="Alexandria"/>
                <a:cs typeface="Alexandria"/>
              </a:rPr>
              <a:t>الهوية البصرية، والواجهات، والفيديو</a:t>
            </a:r>
          </a:p>
        </p:txBody>
      </p:sp>
      <p:sp>
        <p:nvSpPr>
          <p:cNvPr id="920" name="Rounded Rectangle 919"/>
          <p:cNvSpPr/>
          <p:nvPr/>
        </p:nvSpPr>
        <p:spPr>
          <a:xfrm>
            <a:off x="4974336" y="6355080"/>
            <a:ext cx="3337560" cy="1828800"/>
          </a:xfrm>
          <a:prstGeom prst="roundRect">
            <a:avLst>
              <a:gd name="adj" fmla="val 15000"/>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1" name="TextBox 920"/>
          <p:cNvSpPr txBox="1"/>
          <p:nvPr/>
        </p:nvSpPr>
        <p:spPr>
          <a:xfrm>
            <a:off x="5202936" y="6537960"/>
            <a:ext cx="2880360" cy="457200"/>
          </a:xfrm>
          <a:prstGeom prst="rect">
            <a:avLst/>
          </a:prstGeom>
          <a:noFill/>
        </p:spPr>
        <p:txBody>
          <a:bodyPr wrap="square" lIns="0" tIns="0" rIns="0" bIns="0" anchor="t">
            <a:spAutoFit/>
          </a:bodyPr>
          <a:lstStyle/>
          <a:p>
            <a:pPr algn="r" rtl="1"/>
            <a:r>
              <a:rPr lang="ar-SA" sz="1900" b="1">
                <a:solidFill>
                  <a:srgbClr val="6150EA"/>
                </a:solidFill>
                <a:latin typeface="Alexandria"/>
                <a:ea typeface="Alexandria"/>
                <a:cs typeface="Alexandria"/>
              </a:rPr>
              <a:t>الهندسة</a:t>
            </a:r>
          </a:p>
        </p:txBody>
      </p:sp>
      <p:sp>
        <p:nvSpPr>
          <p:cNvPr id="922" name="TextBox 921"/>
          <p:cNvSpPr txBox="1"/>
          <p:nvPr/>
        </p:nvSpPr>
        <p:spPr>
          <a:xfrm>
            <a:off x="5202936" y="7040880"/>
            <a:ext cx="2880360" cy="1097280"/>
          </a:xfrm>
          <a:prstGeom prst="rect">
            <a:avLst/>
          </a:prstGeom>
          <a:noFill/>
        </p:spPr>
        <p:txBody>
          <a:bodyPr wrap="square" lIns="0" tIns="0" rIns="0" bIns="0" anchor="t">
            <a:spAutoFit/>
          </a:bodyPr>
          <a:lstStyle/>
          <a:p>
            <a:pPr algn="r" rtl="1">
              <a:lnSpc>
                <a:spcPct val="110000"/>
              </a:lnSpc>
            </a:pPr>
            <a:r>
              <a:rPr lang="ar-SA" sz="1400" b="0">
                <a:solidFill>
                  <a:srgbClr val="12183F"/>
                </a:solidFill>
                <a:latin typeface="Alexandria"/>
                <a:ea typeface="Alexandria"/>
                <a:cs typeface="Alexandria"/>
              </a:rPr>
              <a:t>المحرك، والواجهة البرمجية، والتطبيق، والنشر</a:t>
            </a:r>
          </a:p>
        </p:txBody>
      </p:sp>
      <p:sp>
        <p:nvSpPr>
          <p:cNvPr id="923" name="Rounded Rectangle 922"/>
          <p:cNvSpPr/>
          <p:nvPr/>
        </p:nvSpPr>
        <p:spPr>
          <a:xfrm>
            <a:off x="1499616" y="6355080"/>
            <a:ext cx="3337560" cy="1828800"/>
          </a:xfrm>
          <a:prstGeom prst="roundRect">
            <a:avLst>
              <a:gd name="adj" fmla="val 15000"/>
            </a:avLst>
          </a:prstGeom>
          <a:solidFill>
            <a:srgbClr val="FFFFFF"/>
          </a:solidFill>
          <a:ln>
            <a:noFill/>
          </a:ln>
          <a:effectLst>
            <a:outerShdw blurRad="380000" dist="120000" dir="5400000" algn="t" rotWithShape="0">
              <a:srgbClr val="000000">
                <a:alpha val="40000"/>
              </a:srgbClr>
            </a:outerShdw>
          </a:effectLst>
        </p:spPr>
        <p:txBody>
          <a:bodyPr rtlCol="0" anchor="ctr"/>
          <a:lstStyle/>
          <a:p>
            <a:pPr algn="ctr"/>
            <a:endParaRPr/>
          </a:p>
        </p:txBody>
      </p:sp>
      <p:sp>
        <p:nvSpPr>
          <p:cNvPr id="924" name="TextBox 923"/>
          <p:cNvSpPr txBox="1"/>
          <p:nvPr/>
        </p:nvSpPr>
        <p:spPr>
          <a:xfrm>
            <a:off x="1728216" y="6537960"/>
            <a:ext cx="2880360" cy="457200"/>
          </a:xfrm>
          <a:prstGeom prst="rect">
            <a:avLst/>
          </a:prstGeom>
          <a:noFill/>
        </p:spPr>
        <p:txBody>
          <a:bodyPr wrap="square" lIns="0" tIns="0" rIns="0" bIns="0" anchor="t">
            <a:spAutoFit/>
          </a:bodyPr>
          <a:lstStyle/>
          <a:p>
            <a:pPr algn="r" rtl="1"/>
            <a:r>
              <a:rPr lang="ar-SA" sz="1900" b="1">
                <a:solidFill>
                  <a:srgbClr val="6150EA"/>
                </a:solidFill>
                <a:latin typeface="Alexandria"/>
                <a:ea typeface="Alexandria"/>
                <a:cs typeface="Alexandria"/>
              </a:rPr>
              <a:t>البحث</a:t>
            </a:r>
          </a:p>
        </p:txBody>
      </p:sp>
      <p:sp>
        <p:nvSpPr>
          <p:cNvPr id="925" name="TextBox 924"/>
          <p:cNvSpPr txBox="1"/>
          <p:nvPr/>
        </p:nvSpPr>
        <p:spPr>
          <a:xfrm>
            <a:off x="1728216" y="7040880"/>
            <a:ext cx="2880360" cy="1097280"/>
          </a:xfrm>
          <a:prstGeom prst="rect">
            <a:avLst/>
          </a:prstGeom>
          <a:noFill/>
        </p:spPr>
        <p:txBody>
          <a:bodyPr wrap="square" lIns="0" tIns="0" rIns="0" bIns="0" anchor="t">
            <a:spAutoFit/>
          </a:bodyPr>
          <a:lstStyle/>
          <a:p>
            <a:pPr algn="r" rtl="1">
              <a:lnSpc>
                <a:spcPct val="110000"/>
              </a:lnSpc>
            </a:pPr>
            <a:r>
              <a:rPr lang="ar-SA" sz="1400" b="0">
                <a:solidFill>
                  <a:srgbClr val="12183F"/>
                </a:solidFill>
                <a:latin typeface="Alexandria"/>
                <a:ea typeface="Alexandria"/>
                <a:cs typeface="Alexandria"/>
              </a:rPr>
              <a:t>معالجة اللغة العربية، والتقييم، والسلامة العلمية</a:t>
            </a:r>
          </a:p>
        </p:txBody>
      </p:sp>
      <p:sp>
        <p:nvSpPr>
          <p:cNvPr id="926" name="TextBox 925"/>
          <p:cNvSpPr txBox="1"/>
          <p:nvPr/>
        </p:nvSpPr>
        <p:spPr>
          <a:xfrm>
            <a:off x="1408176" y="8458200"/>
            <a:ext cx="10424160" cy="548640"/>
          </a:xfrm>
          <a:prstGeom prst="rect">
            <a:avLst/>
          </a:prstGeom>
          <a:noFill/>
        </p:spPr>
        <p:txBody>
          <a:bodyPr wrap="square" lIns="0" tIns="0" rIns="0" bIns="0" anchor="t">
            <a:spAutoFit/>
          </a:bodyPr>
          <a:lstStyle/>
          <a:p>
            <a:pPr algn="r" rtl="1"/>
            <a:r>
              <a:rPr lang="ar-SA" sz="1400" b="0">
                <a:solidFill>
                  <a:srgbClr val="4B5383"/>
                </a:solidFill>
                <a:latin typeface="Alexandria"/>
                <a:ea typeface="Alexandria"/>
                <a:cs typeface="Alexandria"/>
              </a:rPr>
              <a:t>بإرشاد مرشد شرعي من فريق التحدي، وبمساعدة أدوات ذكاء اصطناعي مفصح عنها في docs/AI_USAGE.md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a:spLocks noGrp="1"/>
          </p:cNvSpPr>
          <p:nvPr>
            <p:ph type="body" idx="1"/>
          </p:nvPr>
        </p:nvSpPr>
        <p:spPr>
          <a:xfrm>
            <a:off x="3810000" y="5676900"/>
            <a:ext cx="106680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pPr>
            <a:r>
              <a:rPr lang="ar-SA" sz="2700" b="0">
                <a:solidFill>
                  <a:srgbClr val="F2F4FF"/>
                </a:solidFill>
                <a:latin typeface="Alexandria"/>
                <a:ea typeface="Alexandria"/>
                <a:cs typeface="Alexandria"/>
                <a:sym typeface="Readex Pro"/>
              </a:rPr>
              <a:t>ثبت — وصلتك رسالة؟ ثبتها.</a:t>
            </a:r>
            <a:endParaRPr/>
          </a:p>
        </p:txBody>
      </p:sp>
      <p:sp>
        <p:nvSpPr>
          <p:cNvPr id="916" name="Google Shape;916;p31"/>
          <p:cNvSpPr txBox="1">
            <a:spLocks noGrp="1"/>
          </p:cNvSpPr>
          <p:nvPr>
            <p:ph type="body" idx="2"/>
          </p:nvPr>
        </p:nvSpPr>
        <p:spPr>
          <a:xfrm>
            <a:off x="3810000" y="6653200"/>
            <a:ext cx="10668000" cy="6669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2100"/>
              <a:buNone/>
            </a:pPr>
            <a:r>
              <a:rPr lang="en-US" sz="2100" b="0">
                <a:solidFill>
                  <a:srgbClr val="CBCFE6"/>
                </a:solidFill>
                <a:latin typeface="Alexandria"/>
                <a:ea typeface="Alexandria"/>
                <a:cs typeface="Alexandria"/>
                <a:sym typeface="Readex Pro"/>
              </a:rPr>
              <a:t>islamicaich.vercel.app   |   github.com/youmrx3/islamicaich</a:t>
            </a:r>
            <a:endParaRPr/>
          </a:p>
        </p:txBody>
      </p:sp>
      <p:sp>
        <p:nvSpPr>
          <p:cNvPr id="917" name="Google Shape;917;p31"/>
          <p:cNvSpPr txBox="1">
            <a:spLocks noGrp="1"/>
          </p:cNvSpPr>
          <p:nvPr>
            <p:ph type="title"/>
          </p:nvPr>
        </p:nvSpPr>
        <p:spPr>
          <a:xfrm>
            <a:off x="3810000" y="3819525"/>
            <a:ext cx="10668000" cy="14289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200"/>
              <a:buNone/>
            </a:pPr>
            <a:r>
              <a:rPr lang="ar-SA" sz="7200" b="1">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spcFirstLastPara="1" wrap="square" lIns="0" tIns="0" rIns="0" bIns="0" anchor="t" anchorCtr="0">
            <a:noAutofit/>
          </a:bodyPr>
          <a:lstStyle/>
          <a:p>
            <a:pPr marL="0" lvl="0" indent="0" algn="r" rtl="1">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w="9525" cap="flat" cmpd="sng">
            <a:solidFill>
              <a:srgbClr val="2EF2C2"/>
            </a:solidFill>
            <a:prstDash val="solid"/>
            <a:round/>
            <a:headEnd type="none" w="med" len="med"/>
            <a:tailEnd type="none" w="med" len="med"/>
          </a:ln>
        </p:spPr>
      </p:cxnSp>
      <p:cxnSp>
        <p:nvCxnSpPr>
          <p:cNvPr id="926" name="Google Shape;926;p31"/>
          <p:cNvCxnSpPr/>
          <p:nvPr/>
        </p:nvCxnSpPr>
        <p:spPr>
          <a:xfrm>
            <a:off x="5075007" y="8142400"/>
            <a:ext cx="0" cy="453600"/>
          </a:xfrm>
          <a:prstGeom prst="straightConnector1">
            <a:avLst/>
          </a:prstGeom>
          <a:noFill/>
          <a:ln w="9525" cap="flat" cmpd="sng">
            <a:solidFill>
              <a:srgbClr val="2EF2C2"/>
            </a:solidFill>
            <a:prstDash val="solid"/>
            <a:round/>
            <a:headEnd type="none" w="med" len="med"/>
            <a:tailEnd type="none" w="med" len="med"/>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w="9525" cap="flat" cmpd="sng">
            <a:solidFill>
              <a:srgbClr val="2EF2C2"/>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3736</Words>
  <Application>Microsoft Office PowerPoint</Application>
  <PresentationFormat>Custom</PresentationFormat>
  <Paragraphs>612</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Readex Pro</vt:lpstr>
      <vt:lpstr>Alexandria</vt:lpstr>
      <vt:lpstr>Readex Pro Light</vt:lpstr>
      <vt:lpstr>Office Theme</vt:lpstr>
      <vt:lpstr>ثبت</vt:lpstr>
      <vt:lpstr>PowerPoint Presentation</vt:lpstr>
      <vt:lpstr>المشكلة</vt:lpstr>
      <vt:lpstr>PowerPoint Presentation</vt:lpstr>
      <vt:lpstr>PowerPoint Presentation</vt:lpstr>
      <vt:lpstr>PowerPoint Presentation</vt:lpstr>
      <vt:lpstr>الحل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الذكاء الاصطناعي</vt:lpstr>
      <vt:lpstr>PowerPoint Presentation</vt:lpstr>
      <vt:lpstr>PowerPoint Presentation</vt:lpstr>
      <vt:lpstr>PowerPoint Presentation</vt:lpstr>
      <vt:lpstr>PowerPoint Presentation</vt:lpstr>
      <vt:lpstr>PowerPoint Presentation</vt:lpstr>
      <vt:lpstr>النتائج</vt:lpstr>
      <vt:lpstr>PowerPoint Presentation</vt:lpstr>
      <vt:lpstr>PowerPoint Presentation</vt:lpstr>
      <vt:lpstr>PowerPoint Presentation</vt:lpstr>
      <vt:lpstr>الهوية والتجربة</vt:lpstr>
      <vt:lpstr>PowerPoint Presentation</vt:lpstr>
      <vt:lpstr>PowerPoint Presentation</vt:lpstr>
      <vt:lpstr>PowerPoint Presentation</vt:lpstr>
      <vt:lpstr>التنفيذ والاستمرار</vt:lpstr>
      <vt:lpstr>PowerPoint Presentation</vt:lpstr>
      <vt:lpstr>PowerPoint Presentation</vt:lpstr>
      <vt:lpstr>PowerPoint Presentation</vt:lpstr>
      <vt:lpstr>PowerPoint Presentation</vt:lpstr>
      <vt:lpstr>PowerPoint Presentation</vt:lpstr>
      <vt:lpstr>شكراً لكم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ثبت</dc:title>
  <cp:lastModifiedBy>kouadria youcef</cp:lastModifiedBy>
  <cp:revision>1</cp:revision>
  <dcterms:modified xsi:type="dcterms:W3CDTF">2026-10-06T13:32:45Z</dcterms:modified>
</cp:coreProperties>
</file>